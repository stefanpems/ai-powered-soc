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47" r:id="rId4"/>
  </p:sldMasterIdLst>
  <p:notesMasterIdLst>
    <p:notesMasterId r:id="rId7"/>
  </p:notesMasterIdLst>
  <p:handoutMasterIdLst>
    <p:handoutMasterId r:id="rId8"/>
  </p:handoutMasterIdLst>
  <p:sldIdLst>
    <p:sldId id="296" r:id="rId5"/>
    <p:sldId id="311" r:id="rId6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0E91866-61C1-2DFE-6E96-C185B418BC44}" name="Zoe Nelson" initials="ZN" userId="S::zoe.nelson@zumcom.com::26906bc3-ec75-49a6-b535-4e5e2d6e563a" providerId="AD"/>
  <p188:author id="{A5924ECA-9D88-7163-DB9E-80CF0AECF57C}" name="Zoe Ha" initials="ZH" userId="Zoe Ha" providerId="None"/>
  <p188:author id="{6AFA61D8-796F-555E-A395-B33F90AAF99E}" name="Monica Lueder" initials="ML" userId="S::monical@microsoft.com::75969e72-ba9c-4e32-a4ac-c8f3aeff9ba2" providerId="AD"/>
  <p188:author id="{FB2220EC-6E9D-66CF-528C-A1FDAC2F85AA}" name="Ben Hermel" initials="" userId="S::bhermel@microsoft.com::bf02db1c-aaaa-44a0-870c-3c953b9e4a6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88C2"/>
    <a:srgbClr val="463668"/>
    <a:srgbClr val="FFF1CC"/>
    <a:srgbClr val="FFFAEF"/>
    <a:srgbClr val="FFB3BB"/>
    <a:srgbClr val="E8F4FA"/>
    <a:srgbClr val="DCD8DF"/>
    <a:srgbClr val="FFB900"/>
    <a:srgbClr val="0078D4"/>
    <a:srgbClr val="C1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56" y="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o Pescosolido" userId="4ced12cb-2d76-4f8d-8849-4bc2e23ab23e" providerId="ADAL" clId="{1928E13E-97AB-47E0-98E2-37F402E4C332}"/>
    <pc:docChg chg="undo custSel addSld delSld modSld delSection modSection">
      <pc:chgData name="Stefano Pescosolido" userId="4ced12cb-2d76-4f8d-8849-4bc2e23ab23e" providerId="ADAL" clId="{1928E13E-97AB-47E0-98E2-37F402E4C332}" dt="2026-01-17T12:35:20.144" v="7" actId="6549"/>
      <pc:docMkLst>
        <pc:docMk/>
      </pc:docMkLst>
      <pc:sldChg chg="add del">
        <pc:chgData name="Stefano Pescosolido" userId="4ced12cb-2d76-4f8d-8849-4bc2e23ab23e" providerId="ADAL" clId="{1928E13E-97AB-47E0-98E2-37F402E4C332}" dt="2026-01-17T12:35:05.475" v="4" actId="47"/>
        <pc:sldMkLst>
          <pc:docMk/>
          <pc:sldMk cId="3480598592" sldId="256"/>
        </pc:sldMkLst>
      </pc:sldChg>
      <pc:sldChg chg="add del">
        <pc:chgData name="Stefano Pescosolido" userId="4ced12cb-2d76-4f8d-8849-4bc2e23ab23e" providerId="ADAL" clId="{1928E13E-97AB-47E0-98E2-37F402E4C332}" dt="2026-01-17T12:35:05.475" v="4" actId="47"/>
        <pc:sldMkLst>
          <pc:docMk/>
          <pc:sldMk cId="3606270541" sldId="257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4125576354" sldId="262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3410597211" sldId="263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2992579593" sldId="265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291242050" sldId="266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2225894832" sldId="267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2196123970" sldId="269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4054302326" sldId="275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1448280514" sldId="281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3916380792" sldId="282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1562898071" sldId="286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1462637066" sldId="291"/>
        </pc:sldMkLst>
      </pc:sldChg>
      <pc:sldChg chg="add del">
        <pc:chgData name="Stefano Pescosolido" userId="4ced12cb-2d76-4f8d-8849-4bc2e23ab23e" providerId="ADAL" clId="{1928E13E-97AB-47E0-98E2-37F402E4C332}" dt="2026-01-17T12:35:05.475" v="4" actId="47"/>
        <pc:sldMkLst>
          <pc:docMk/>
          <pc:sldMk cId="2987695584" sldId="292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24774758" sldId="293"/>
        </pc:sldMkLst>
      </pc:sldChg>
      <pc:sldChg chg="add del modNotesTx">
        <pc:chgData name="Stefano Pescosolido" userId="4ced12cb-2d76-4f8d-8849-4bc2e23ab23e" providerId="ADAL" clId="{1928E13E-97AB-47E0-98E2-37F402E4C332}" dt="2026-01-17T12:35:20.144" v="7" actId="6549"/>
        <pc:sldMkLst>
          <pc:docMk/>
          <pc:sldMk cId="3097438861" sldId="295"/>
        </pc:sldMkLst>
      </pc:sldChg>
      <pc:sldChg chg="del">
        <pc:chgData name="Stefano Pescosolido" userId="4ced12cb-2d76-4f8d-8849-4bc2e23ab23e" providerId="ADAL" clId="{1928E13E-97AB-47E0-98E2-37F402E4C332}" dt="2026-01-17T12:35:10.177" v="5" actId="47"/>
        <pc:sldMkLst>
          <pc:docMk/>
          <pc:sldMk cId="1257346799" sldId="29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Sans Display" pitchFamily="2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Sans Display" pitchFamily="2" charset="0"/>
              </a:rPr>
              <a:t>2/16/2026 3:43 PM</a:t>
            </a:fld>
            <a:endParaRPr lang="en-US">
              <a:latin typeface="Segoe Sans Display" pitchFamily="2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Sans Display" pitchFamily="2" charset="0"/>
                <a:ea typeface="Segoe UI" pitchFamily="34" charset="0"/>
                <a:cs typeface="Segoe Sans Display" pitchFamily="2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Sans Display" pitchFamily="2" charset="0"/>
              </a:rPr>
              <a:t>‹#›</a:t>
            </a:fld>
            <a:endParaRPr lang="en-US">
              <a:latin typeface="Segoe Sans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Sans Display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>
                <a:latin typeface="Segoe Sans Display" pitchFamily="2" charset="0"/>
                <a:cs typeface="Segoe Sans Display" pitchFamily="2" charset="0"/>
              </a:defRPr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Sans Display" pitchFamily="2" charset="0"/>
              </a:defRPr>
            </a:lvl1pPr>
          </a:lstStyle>
          <a:p>
            <a:fld id="{386CE63F-9E7F-4C04-9D0D-FCA25A8E9E86}" type="datetime8">
              <a:rPr lang="en-US" smtClean="0"/>
              <a:pPr/>
              <a:t>2/16/2026 3:43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Sans Display" pitchFamily="2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Sans Display" pitchFamily="2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Sans Display" pitchFamily="2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Sans Display" pitchFamily="2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Sans Display" pitchFamily="2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Sans Display" pitchFamily="2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237C7-2B38-11EB-AF00-2E3FB0682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1CBA9-5C0E-E12B-5139-260FB54A7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57A39-1091-C9F1-EA00-DC591AE7A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411740F-5EF5-6A05-0850-D4717E8133A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B9CDD-E1A6-D393-8077-E7088B6A5A6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2E7688C-718C-CD5B-AA74-9E6FA35C3F5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2/16/2026 3:43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19261-233B-2F8A-FD5F-30779C1E1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0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A42E3-0F58-F825-2086-C6F145D8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BF840-B2E0-6546-AFED-C8F1CDBCC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BC7D7-69DA-2A1B-E302-BA7AD337C2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4597E60-A373-99B1-7ECF-641B2655315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9EA2E-06FA-9C18-485D-C1E916C170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10B9963-FA21-AD59-11D6-010B2401E38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2/16/2026 3:43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4D445-878B-CE1D-624A-DEFFB41F3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42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e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0.jpe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9.jpe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8.jpeg"/><Relationship Id="rId5" Type="http://schemas.openxmlformats.org/officeDocument/2006/relationships/image" Target="../media/image47.jpeg"/><Relationship Id="rId4" Type="http://schemas.openxmlformats.org/officeDocument/2006/relationships/image" Target="../media/image46.jpe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1.jpe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7.jpeg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Full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0946579-D753-EB82-9EBE-711F5D663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145"/>
            <a:ext cx="12192000" cy="68622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DFD4B58-CDF6-72D9-EA78-42606F615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0"/>
            <a:ext cx="5334001" cy="6858000"/>
          </a:xfrm>
          <a:prstGeom prst="rect">
            <a:avLst/>
          </a:prstGeom>
          <a:gradFill flip="none" rotWithShape="1">
            <a:gsLst>
              <a:gs pos="0">
                <a:srgbClr val="FFE399"/>
              </a:gs>
              <a:gs pos="100000">
                <a:srgbClr val="FFE399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7" name="Graphic 6" descr="Microsoft Security">
            <a:extLst>
              <a:ext uri="{FF2B5EF4-FFF2-40B4-BE49-F238E27FC236}">
                <a16:creationId xmlns:a16="http://schemas.microsoft.com/office/drawing/2014/main" id="{97DF7797-AB60-E151-D2B8-6D0976D7E4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61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3000" userDrawn="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Full Photo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4829336-D518-B358-7303-8178BC20A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0" y="1382"/>
            <a:ext cx="12192000" cy="68552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37097AE-CB80-8F48-F10A-6DD048C0C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59724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10" name="Picture 9" descr="Microsoft Security">
            <a:extLst>
              <a:ext uri="{FF2B5EF4-FFF2-40B4-BE49-F238E27FC236}">
                <a16:creationId xmlns:a16="http://schemas.microsoft.com/office/drawing/2014/main" id="{D6A0ADE4-A89A-522A-4B0C-2B211CA4B7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289702" y="296820"/>
            <a:ext cx="2876596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2621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Full Photo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18B7FA5-5F12-7CD7-6D40-01EB073E5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ltGray">
          <a:xfrm>
            <a:off x="0" y="1566"/>
            <a:ext cx="12192000" cy="685486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5659676-01B7-3FED-8149-6F194C468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5867400" cy="6858000"/>
          </a:xfrm>
          <a:prstGeom prst="rect">
            <a:avLst/>
          </a:prstGeom>
          <a:gradFill flip="none" rotWithShape="1">
            <a:gsLst>
              <a:gs pos="0">
                <a:srgbClr val="5C4738">
                  <a:alpha val="80000"/>
                </a:srgbClr>
              </a:gs>
              <a:gs pos="100000">
                <a:srgbClr val="BF9474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898137" cy="1231106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89425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6" name="Picture 5" descr="Microsoft Security">
            <a:extLst>
              <a:ext uri="{FF2B5EF4-FFF2-40B4-BE49-F238E27FC236}">
                <a16:creationId xmlns:a16="http://schemas.microsoft.com/office/drawing/2014/main" id="{12A012A5-4EF7-CE94-0AFD-ACB048744F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289702" y="296820"/>
            <a:ext cx="2876596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25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456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08" userDrawn="1">
          <p15:clr>
            <a:srgbClr val="5ACBF0"/>
          </p15:clr>
        </p15:guide>
        <p15:guide id="7" pos="3840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Half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898137" cy="1231106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89425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789B8347-537A-9576-6AAD-31AC0822D1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0680A9-E1CB-5B53-219D-F848CCF70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4448" y="0"/>
            <a:ext cx="60875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1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840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3456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Half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898137" cy="1231106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89425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A33859C1-D178-8DAF-88A5-45B3F42E6C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CA5EAB-92AF-CBDC-3913-B7A5E08A6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4448" y="0"/>
            <a:ext cx="60875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17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840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3456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Half Tech Sca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898137" cy="1231106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89425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BE3000C1-801E-43EF-158B-C6778F6B6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CEF103-1FB7-7E05-B436-1B39BEED9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6094923" y="0"/>
            <a:ext cx="60970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90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456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3840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Half Tech Sca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898137" cy="1231106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89425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AC8B23DF-C49A-493B-74A8-359F40BD33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E80BAE-D63C-356D-256B-A4DA18F44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0"/>
            <a:ext cx="60936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716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456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3840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Half Tech Sc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898137" cy="1231106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89425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54A1308D-EAAB-930A-D016-3C236169E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96BEBD-F376-AC3C-6FAF-856A71D22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2376" y="0"/>
            <a:ext cx="60996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0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456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3840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Half Tech Sc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898137" cy="1231106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89425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51B21C3F-0ACB-1D54-3978-4C15EB6DEF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F7A637-33BF-289F-AA74-069C187A1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573" y="0"/>
            <a:ext cx="60954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92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456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3840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Half Tech Sc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898137" cy="1231106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89425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CD178E6C-344F-91D9-35BD-CD8D9458FD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C8923B-7A7F-A404-F664-261AEFD56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547" y="0"/>
            <a:ext cx="60954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0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456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3840" userDrawn="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Half Tech Sc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8738" y="1295489"/>
            <a:ext cx="4898137" cy="492443"/>
          </a:xfrm>
        </p:spPr>
        <p:txBody>
          <a:bodyPr wrap="square" anchor="b" anchorCtr="0">
            <a:sp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Agenda: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CD178E6C-344F-91D9-35BD-CD8D9458FD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C8923B-7A7F-A404-F664-261AEFD56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547" y="0"/>
            <a:ext cx="6095453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F145D7-FE3F-7745-8FFE-0ABEAF6A22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7850" y="2108200"/>
            <a:ext cx="4899025" cy="4065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633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456" userDrawn="1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3840" userDrawn="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ch Sca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8A38B7E-C277-EC82-55D7-6481C181A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>
            <a:off x="2" y="1"/>
            <a:ext cx="12191998" cy="685799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A38D12B-EC7B-EA1B-4057-AF9DA412C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58674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3AACD-E573-9F14-634A-1D5A1A0EAE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AEC04C3-05AF-D886-BA04-C2B92AE1C1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7D107A7B-CDA6-22BC-0F0F-6907FBBCCE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420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4" orient="horz" pos="2160">
          <p15:clr>
            <a:srgbClr val="FBAE40"/>
          </p15:clr>
        </p15:guide>
        <p15:guide id="5" pos="3000" userDrawn="1">
          <p15:clr>
            <a:srgbClr val="5ACBF0"/>
          </p15:clr>
        </p15:guide>
        <p15:guide id="6" pos="3360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ch Sca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19B9D8-B411-3BC6-C1C8-1D6D45719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19200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90BD01-3D97-785B-8320-C14AF7E1EF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9FFEAA53-3411-D917-E9C0-67CC058065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1BE3155B-A4DB-435E-6E23-55C31BDA96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99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3000" userDrawn="1">
          <p15:clr>
            <a:srgbClr val="5ACBF0"/>
          </p15:clr>
        </p15:guide>
        <p15:guide id="4" orient="horz" pos="2160">
          <p15:clr>
            <a:srgbClr val="FBAE40"/>
          </p15:clr>
        </p15:guide>
        <p15:guide id="5" pos="3360" userDrawn="1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ch Sc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F47B18-3C9F-3945-4382-2ECB20DEB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43777E1-4699-B986-EC57-1B6944F17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0"/>
            <a:ext cx="5334001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2FB5-E859-F6AA-DD14-D4083B87EC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D837864-D70E-678B-2209-B7AE9D3C55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6BA899B3-8491-96A9-FF00-284B3D4EC2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65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3000" userDrawn="1">
          <p15:clr>
            <a:srgbClr val="5ACBF0"/>
          </p15:clr>
        </p15:guide>
        <p15:guide id="4" orient="horz" pos="2160">
          <p15:clr>
            <a:srgbClr val="FBAE40"/>
          </p15:clr>
        </p15:guide>
        <p15:guide id="5" pos="3360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ch Sc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48BB96-7264-9530-CDE0-CFBAECEB0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37C7AC9-1320-B560-2729-19A72498C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0"/>
            <a:ext cx="5334001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A7AC5C-D3D1-7CD0-058A-BF0F18A5C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48213E6-EE22-FC5F-7A29-7005DFDA67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72EC0010-45A7-C133-D28C-19A2C23073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5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3000" userDrawn="1">
          <p15:clr>
            <a:srgbClr val="5ACBF0"/>
          </p15:clr>
        </p15:guide>
        <p15:guide id="4" orient="horz" pos="2160">
          <p15:clr>
            <a:srgbClr val="FBAE40"/>
          </p15:clr>
        </p15:guide>
        <p15:guide id="5" pos="3360" userDrawn="1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ch Sc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A04DD2-8161-CEFE-E805-16FD5E2B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7758876-CBC5-2CC7-B64B-7A0BE5426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0"/>
            <a:ext cx="5334001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60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493527-788F-A6FD-FF51-C35F691FCA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7DE02AD-BF56-503B-C72F-C737C69FD2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7CD92627-BCCD-EC35-AFDC-9C9A6010DB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406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3000" userDrawn="1">
          <p15:clr>
            <a:srgbClr val="5ACBF0"/>
          </p15:clr>
        </p15:guide>
        <p15:guide id="4" orient="horz" pos="2160">
          <p15:clr>
            <a:srgbClr val="FBAE40"/>
          </p15:clr>
        </p15:guide>
        <p15:guide id="5" pos="3360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Graphic 1" descr="Microsoft Security">
            <a:extLst>
              <a:ext uri="{FF2B5EF4-FFF2-40B4-BE49-F238E27FC236}">
                <a16:creationId xmlns:a16="http://schemas.microsoft.com/office/drawing/2014/main" id="{C4A877E6-C868-9317-1559-B76DE5CD8C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582164" y="583123"/>
            <a:ext cx="2291715" cy="29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534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4" name="Picture 3" descr="Microsoft Security">
            <a:extLst>
              <a:ext uri="{FF2B5EF4-FFF2-40B4-BE49-F238E27FC236}">
                <a16:creationId xmlns:a16="http://schemas.microsoft.com/office/drawing/2014/main" id="{97141C24-5E27-2F3B-12B4-814CC0DA5D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289702" y="296820"/>
            <a:ext cx="2876596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7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Full Blee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D72F4F47-D990-0696-0A43-94AD105A5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97C34D-6499-E383-F680-0F34EF3CB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4" name="Picture 3" descr="Microsoft Security">
            <a:extLst>
              <a:ext uri="{FF2B5EF4-FFF2-40B4-BE49-F238E27FC236}">
                <a16:creationId xmlns:a16="http://schemas.microsoft.com/office/drawing/2014/main" id="{97141C24-5E27-2F3B-12B4-814CC0DA5D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289702" y="296820"/>
            <a:ext cx="2876596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1067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 userDrawn="1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1489639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1489639"/>
          </a:xfrm>
        </p:spPr>
        <p:txBody>
          <a:bodyPr wrap="square">
            <a:sp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1489639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1489639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48963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000" b="0">
                <a:latin typeface="Segoe Sans Display" pitchFamily="2" charset="0"/>
                <a:cs typeface="Segoe Sans Display" pitchFamily="2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489639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000" b="0">
                <a:latin typeface="Segoe Sans Display" pitchFamily="2" charset="0"/>
                <a:cs typeface="Segoe Sans Display" pitchFamily="2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ed Tex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30777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489639"/>
          </a:xfrm>
        </p:spPr>
        <p:txBody>
          <a:bodyPr>
            <a:spAutoFit/>
          </a:bodyPr>
          <a:lstStyle>
            <a:lvl1pPr marL="171450" indent="-171450">
              <a:defRPr lang="en-US" sz="20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30777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489639"/>
          </a:xfrm>
        </p:spPr>
        <p:txBody>
          <a:bodyPr>
            <a:spAutoFit/>
          </a:bodyPr>
          <a:lstStyle>
            <a:lvl1pPr marL="171450" indent="-171450">
              <a:defRPr lang="en-US" sz="20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30777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1489639"/>
          </a:xfrm>
        </p:spPr>
        <p:txBody>
          <a:bodyPr/>
          <a:lstStyle>
            <a:lvl1pPr marL="0" indent="0">
              <a:buNone/>
              <a:defRPr sz="20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30777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1489639"/>
          </a:xfrm>
        </p:spPr>
        <p:txBody>
          <a:bodyPr/>
          <a:lstStyle>
            <a:lvl1pPr marL="0" indent="0">
              <a:buNone/>
              <a:defRPr sz="20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ed Tex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ed Tex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ed Tex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Text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Header Tex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Header Tex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41939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Full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DA7ED4F-056F-C53F-E2BF-EA4A8412D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white">
          <a:xfrm>
            <a:off x="3385" y="0"/>
            <a:ext cx="1218523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A83F9C-7592-411B-E1FE-6872AE779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675" y="585788"/>
            <a:ext cx="7262813" cy="5683250"/>
          </a:xfrm>
          <a:prstGeom prst="roundRect">
            <a:avLst>
              <a:gd name="adj" fmla="val 1407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663" y="1871327"/>
            <a:ext cx="5948362" cy="553998"/>
          </a:xfrm>
        </p:spPr>
        <p:txBody>
          <a:bodyPr wrap="square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74D167-A877-DD4F-71B6-1B226D482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236663" y="1053765"/>
            <a:ext cx="524538" cy="457200"/>
            <a:chOff x="4169763" y="585788"/>
            <a:chExt cx="713371" cy="622746"/>
          </a:xfrm>
          <a:solidFill>
            <a:schemeClr val="tx2"/>
          </a:solidFill>
        </p:grpSpPr>
        <p:sp>
          <p:nvSpPr>
            <p:cNvPr id="4" name="Graphic 9">
              <a:extLst>
                <a:ext uri="{FF2B5EF4-FFF2-40B4-BE49-F238E27FC236}">
                  <a16:creationId xmlns:a16="http://schemas.microsoft.com/office/drawing/2014/main" id="{7E30BC2E-C9E5-9640-484B-8757872AA340}"/>
                </a:ext>
              </a:extLst>
            </p:cNvPr>
            <p:cNvSpPr/>
            <p:nvPr/>
          </p:nvSpPr>
          <p:spPr bwMode="black">
            <a:xfrm>
              <a:off x="4565666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5" name="Graphic 9">
              <a:extLst>
                <a:ext uri="{FF2B5EF4-FFF2-40B4-BE49-F238E27FC236}">
                  <a16:creationId xmlns:a16="http://schemas.microsoft.com/office/drawing/2014/main" id="{E3CA75AC-6E69-6F07-C66F-627EE593FCC1}"/>
                </a:ext>
              </a:extLst>
            </p:cNvPr>
            <p:cNvSpPr/>
            <p:nvPr userDrawn="1"/>
          </p:nvSpPr>
          <p:spPr bwMode="black">
            <a:xfrm>
              <a:off x="4169763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91058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4" userDrawn="1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12" userDrawn="1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Full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3DC386-0D96-E22F-E2BE-804A581F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white">
          <a:xfrm>
            <a:off x="0" y="1551"/>
            <a:ext cx="12192000" cy="68548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A83F9C-7592-411B-E1FE-6872AE779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4675" y="585788"/>
            <a:ext cx="7262813" cy="5683250"/>
          </a:xfrm>
          <a:prstGeom prst="roundRect">
            <a:avLst>
              <a:gd name="adj" fmla="val 1407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663" y="1871327"/>
            <a:ext cx="5948362" cy="553998"/>
          </a:xfrm>
        </p:spPr>
        <p:txBody>
          <a:bodyPr wrap="square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74D167-A877-DD4F-71B6-1B226D482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236663" y="1053765"/>
            <a:ext cx="524538" cy="457200"/>
            <a:chOff x="4169763" y="585788"/>
            <a:chExt cx="713371" cy="622746"/>
          </a:xfrm>
          <a:solidFill>
            <a:schemeClr val="tx2"/>
          </a:solidFill>
        </p:grpSpPr>
        <p:sp>
          <p:nvSpPr>
            <p:cNvPr id="4" name="Graphic 9">
              <a:extLst>
                <a:ext uri="{FF2B5EF4-FFF2-40B4-BE49-F238E27FC236}">
                  <a16:creationId xmlns:a16="http://schemas.microsoft.com/office/drawing/2014/main" id="{7E30BC2E-C9E5-9640-484B-8757872AA340}"/>
                </a:ext>
              </a:extLst>
            </p:cNvPr>
            <p:cNvSpPr/>
            <p:nvPr/>
          </p:nvSpPr>
          <p:spPr bwMode="black">
            <a:xfrm>
              <a:off x="4565666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5" name="Graphic 9">
              <a:extLst>
                <a:ext uri="{FF2B5EF4-FFF2-40B4-BE49-F238E27FC236}">
                  <a16:creationId xmlns:a16="http://schemas.microsoft.com/office/drawing/2014/main" id="{E3CA75AC-6E69-6F07-C66F-627EE593FCC1}"/>
                </a:ext>
              </a:extLst>
            </p:cNvPr>
            <p:cNvSpPr/>
            <p:nvPr userDrawn="1"/>
          </p:nvSpPr>
          <p:spPr bwMode="black">
            <a:xfrm>
              <a:off x="4169763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984914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4" userDrawn="1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12" userDrawn="1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  <p15:guide id="35" orient="horz" pos="2160" userDrawn="1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362200"/>
            <a:ext cx="7249224" cy="553998"/>
          </a:xfrm>
        </p:spPr>
        <p:txBody>
          <a:bodyPr wrap="square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F2B542-236C-FF9E-34DA-F674AC8C2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82391" y="585788"/>
            <a:ext cx="1049075" cy="914400"/>
            <a:chOff x="4169763" y="585788"/>
            <a:chExt cx="713371" cy="622746"/>
          </a:xfrm>
          <a:solidFill>
            <a:schemeClr val="tx2"/>
          </a:solidFill>
        </p:grpSpPr>
        <p:sp>
          <p:nvSpPr>
            <p:cNvPr id="5" name="Graphic 9">
              <a:extLst>
                <a:ext uri="{FF2B5EF4-FFF2-40B4-BE49-F238E27FC236}">
                  <a16:creationId xmlns:a16="http://schemas.microsoft.com/office/drawing/2014/main" id="{8616100D-B493-F639-609A-59DC6A2B2945}"/>
                </a:ext>
              </a:extLst>
            </p:cNvPr>
            <p:cNvSpPr/>
            <p:nvPr/>
          </p:nvSpPr>
          <p:spPr bwMode="black">
            <a:xfrm>
              <a:off x="4565666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6" name="Graphic 9">
              <a:extLst>
                <a:ext uri="{FF2B5EF4-FFF2-40B4-BE49-F238E27FC236}">
                  <a16:creationId xmlns:a16="http://schemas.microsoft.com/office/drawing/2014/main" id="{254D7E75-4226-8293-E429-5E73E9130D6B}"/>
                </a:ext>
              </a:extLst>
            </p:cNvPr>
            <p:cNvSpPr/>
            <p:nvPr userDrawn="1"/>
          </p:nvSpPr>
          <p:spPr bwMode="black">
            <a:xfrm>
              <a:off x="4169763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28499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4" userDrawn="1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12" userDrawn="1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1488" userDrawn="1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390" y="2362200"/>
            <a:ext cx="7255097" cy="553998"/>
          </a:xfrm>
        </p:spPr>
        <p:txBody>
          <a:bodyPr wrap="square" anchor="t">
            <a:spAutoFit/>
          </a:bodyPr>
          <a:lstStyle>
            <a:lvl1pPr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AA9347-2B91-81A1-D35B-C367CA321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82391" y="585788"/>
            <a:ext cx="1049075" cy="914400"/>
            <a:chOff x="4169763" y="585788"/>
            <a:chExt cx="713371" cy="622746"/>
          </a:xfrm>
          <a:solidFill>
            <a:schemeClr val="tx2"/>
          </a:solidFill>
        </p:grpSpPr>
        <p:sp>
          <p:nvSpPr>
            <p:cNvPr id="7" name="Graphic 9">
              <a:extLst>
                <a:ext uri="{FF2B5EF4-FFF2-40B4-BE49-F238E27FC236}">
                  <a16:creationId xmlns:a16="http://schemas.microsoft.com/office/drawing/2014/main" id="{1955151A-4300-7EE0-BD6F-1D9D68052193}"/>
                </a:ext>
              </a:extLst>
            </p:cNvPr>
            <p:cNvSpPr/>
            <p:nvPr/>
          </p:nvSpPr>
          <p:spPr bwMode="black">
            <a:xfrm>
              <a:off x="4565666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8" name="Graphic 9">
              <a:extLst>
                <a:ext uri="{FF2B5EF4-FFF2-40B4-BE49-F238E27FC236}">
                  <a16:creationId xmlns:a16="http://schemas.microsoft.com/office/drawing/2014/main" id="{CE786B1F-884A-07DB-5A7A-8634C2585C33}"/>
                </a:ext>
              </a:extLst>
            </p:cNvPr>
            <p:cNvSpPr/>
            <p:nvPr userDrawn="1"/>
          </p:nvSpPr>
          <p:spPr bwMode="black">
            <a:xfrm>
              <a:off x="4169763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40317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44" userDrawn="1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4" userDrawn="1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12" userDrawn="1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1488" userDrawn="1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&amp; Photo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13A1B1-3A31-817C-8E25-E88AD8A3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362200"/>
            <a:ext cx="5363274" cy="1107996"/>
          </a:xfrm>
        </p:spPr>
        <p:txBody>
          <a:bodyPr wrap="square" anchor="t">
            <a:spAutoFit/>
          </a:bodyPr>
          <a:lstStyle>
            <a:lvl1pPr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4970E2-4100-E5B0-8BBF-0C578DCB4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82391" y="585788"/>
            <a:ext cx="1049075" cy="914400"/>
            <a:chOff x="4169763" y="585788"/>
            <a:chExt cx="713371" cy="622746"/>
          </a:xfrm>
          <a:solidFill>
            <a:schemeClr val="tx2"/>
          </a:solidFill>
        </p:grpSpPr>
        <p:sp>
          <p:nvSpPr>
            <p:cNvPr id="9" name="Graphic 9">
              <a:extLst>
                <a:ext uri="{FF2B5EF4-FFF2-40B4-BE49-F238E27FC236}">
                  <a16:creationId xmlns:a16="http://schemas.microsoft.com/office/drawing/2014/main" id="{5A418B6C-90EA-A6F6-53A8-E205BD8DE8CB}"/>
                </a:ext>
              </a:extLst>
            </p:cNvPr>
            <p:cNvSpPr/>
            <p:nvPr/>
          </p:nvSpPr>
          <p:spPr bwMode="black">
            <a:xfrm>
              <a:off x="4565666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514C0156-92FD-636D-EE62-515C7E197032}"/>
                </a:ext>
              </a:extLst>
            </p:cNvPr>
            <p:cNvSpPr/>
            <p:nvPr userDrawn="1"/>
          </p:nvSpPr>
          <p:spPr bwMode="black">
            <a:xfrm>
              <a:off x="4169763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709A26E-BED0-3294-69A4-0DDAAE9C2C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7185025" y="1211263"/>
            <a:ext cx="4435475" cy="4435475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effectLst/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459495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68" userDrawn="1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44" userDrawn="1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4" userDrawn="1">
          <p15:clr>
            <a:srgbClr val="A4A3A4"/>
          </p15:clr>
        </p15:guide>
        <p15:guide id="19" pos="4536" userDrawn="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0" userDrawn="1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12" userDrawn="1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1488" userDrawn="1">
          <p15:clr>
            <a:srgbClr val="5ACBF0"/>
          </p15:clr>
        </p15:guide>
        <p15:guide id="33" pos="3336" userDrawn="1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&amp; Photo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D6EE357-5FBE-EF45-EDC4-EB022C75B1A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7185025" y="1211262"/>
            <a:ext cx="4435475" cy="4435475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effectLst/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B16CA86-851F-5A66-72F8-611E57EE9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362200"/>
            <a:ext cx="5363274" cy="1107996"/>
          </a:xfrm>
        </p:spPr>
        <p:txBody>
          <a:bodyPr wrap="square" anchor="t">
            <a:spAutoFit/>
          </a:bodyPr>
          <a:lstStyle>
            <a:lvl1pPr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A80FC4-BF13-32EC-AC2C-CCF799F91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82391" y="585788"/>
            <a:ext cx="1049075" cy="914400"/>
            <a:chOff x="4169763" y="585788"/>
            <a:chExt cx="713371" cy="622746"/>
          </a:xfrm>
          <a:solidFill>
            <a:schemeClr val="tx2"/>
          </a:solidFill>
        </p:grpSpPr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ACB80D2C-8BBC-86B2-4F0A-E84BC66B3773}"/>
                </a:ext>
              </a:extLst>
            </p:cNvPr>
            <p:cNvSpPr/>
            <p:nvPr/>
          </p:nvSpPr>
          <p:spPr bwMode="black">
            <a:xfrm>
              <a:off x="4565666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730E620F-1CE6-FC30-06F9-60DE40676085}"/>
                </a:ext>
              </a:extLst>
            </p:cNvPr>
            <p:cNvSpPr/>
            <p:nvPr userDrawn="1"/>
          </p:nvSpPr>
          <p:spPr bwMode="black">
            <a:xfrm>
              <a:off x="4169763" y="585788"/>
              <a:ext cx="317468" cy="622746"/>
            </a:xfrm>
            <a:custGeom>
              <a:avLst/>
              <a:gdLst>
                <a:gd name="connsiteX0" fmla="*/ 19526 w 317468"/>
                <a:gd name="connsiteY0" fmla="*/ 622746 h 622746"/>
                <a:gd name="connsiteX1" fmla="*/ 0 w 317468"/>
                <a:gd name="connsiteY1" fmla="*/ 603315 h 622746"/>
                <a:gd name="connsiteX2" fmla="*/ 0 w 317468"/>
                <a:gd name="connsiteY2" fmla="*/ 387955 h 622746"/>
                <a:gd name="connsiteX3" fmla="*/ 81915 w 317468"/>
                <a:gd name="connsiteY3" fmla="*/ 123160 h 622746"/>
                <a:gd name="connsiteX4" fmla="*/ 298037 w 317468"/>
                <a:gd name="connsiteY4" fmla="*/ 287 h 622746"/>
                <a:gd name="connsiteX5" fmla="*/ 311944 w 317468"/>
                <a:gd name="connsiteY5" fmla="*/ 11336 h 622746"/>
                <a:gd name="connsiteX6" fmla="*/ 311944 w 317468"/>
                <a:gd name="connsiteY6" fmla="*/ 104681 h 622746"/>
                <a:gd name="connsiteX7" fmla="*/ 304229 w 317468"/>
                <a:gd name="connsiteY7" fmla="*/ 115445 h 622746"/>
                <a:gd name="connsiteX8" fmla="*/ 160401 w 317468"/>
                <a:gd name="connsiteY8" fmla="*/ 237555 h 622746"/>
                <a:gd name="connsiteX9" fmla="*/ 142018 w 317468"/>
                <a:gd name="connsiteY9" fmla="*/ 322709 h 622746"/>
                <a:gd name="connsiteX10" fmla="*/ 149543 w 317468"/>
                <a:gd name="connsiteY10" fmla="*/ 329948 h 622746"/>
                <a:gd name="connsiteX11" fmla="*/ 297942 w 317468"/>
                <a:gd name="connsiteY11" fmla="*/ 329948 h 622746"/>
                <a:gd name="connsiteX12" fmla="*/ 317468 w 317468"/>
                <a:gd name="connsiteY12" fmla="*/ 349379 h 622746"/>
                <a:gd name="connsiteX13" fmla="*/ 317468 w 317468"/>
                <a:gd name="connsiteY13" fmla="*/ 560643 h 622746"/>
                <a:gd name="connsiteX14" fmla="*/ 255461 w 317468"/>
                <a:gd name="connsiteY14" fmla="*/ 622556 h 622746"/>
                <a:gd name="connsiteX15" fmla="*/ 19526 w 317468"/>
                <a:gd name="connsiteY15" fmla="*/ 622556 h 6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7468" h="622746">
                  <a:moveTo>
                    <a:pt x="19526" y="622746"/>
                  </a:moveTo>
                  <a:cubicBezTo>
                    <a:pt x="8763" y="622746"/>
                    <a:pt x="0" y="613983"/>
                    <a:pt x="0" y="603315"/>
                  </a:cubicBezTo>
                  <a:lnTo>
                    <a:pt x="0" y="387955"/>
                  </a:lnTo>
                  <a:cubicBezTo>
                    <a:pt x="0" y="275274"/>
                    <a:pt x="27337" y="186977"/>
                    <a:pt x="81915" y="123160"/>
                  </a:cubicBezTo>
                  <a:cubicBezTo>
                    <a:pt x="133922" y="62295"/>
                    <a:pt x="205931" y="21338"/>
                    <a:pt x="298037" y="287"/>
                  </a:cubicBezTo>
                  <a:cubicBezTo>
                    <a:pt x="305181" y="-1332"/>
                    <a:pt x="311944" y="4097"/>
                    <a:pt x="311944" y="11336"/>
                  </a:cubicBezTo>
                  <a:lnTo>
                    <a:pt x="311944" y="104681"/>
                  </a:lnTo>
                  <a:cubicBezTo>
                    <a:pt x="311944" y="109539"/>
                    <a:pt x="308896" y="113921"/>
                    <a:pt x="304229" y="115445"/>
                  </a:cubicBezTo>
                  <a:cubicBezTo>
                    <a:pt x="233458" y="138876"/>
                    <a:pt x="185452" y="179643"/>
                    <a:pt x="160401" y="237555"/>
                  </a:cubicBezTo>
                  <a:cubicBezTo>
                    <a:pt x="146780" y="266892"/>
                    <a:pt x="140589" y="295277"/>
                    <a:pt x="142018" y="322709"/>
                  </a:cubicBezTo>
                  <a:cubicBezTo>
                    <a:pt x="142208" y="326805"/>
                    <a:pt x="145542" y="329948"/>
                    <a:pt x="149543" y="329948"/>
                  </a:cubicBezTo>
                  <a:lnTo>
                    <a:pt x="297942" y="329948"/>
                  </a:lnTo>
                  <a:cubicBezTo>
                    <a:pt x="308705" y="329948"/>
                    <a:pt x="317468" y="338711"/>
                    <a:pt x="317468" y="349379"/>
                  </a:cubicBezTo>
                  <a:lnTo>
                    <a:pt x="317468" y="560643"/>
                  </a:lnTo>
                  <a:cubicBezTo>
                    <a:pt x="317468" y="594838"/>
                    <a:pt x="289751" y="622556"/>
                    <a:pt x="255461" y="622556"/>
                  </a:cubicBezTo>
                  <a:lnTo>
                    <a:pt x="19526" y="622556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60155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44" userDrawn="1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4" userDrawn="1">
          <p15:clr>
            <a:srgbClr val="A4A3A4"/>
          </p15:clr>
        </p15:guide>
        <p15:guide id="19" pos="4536" userDrawn="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12" userDrawn="1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1488" userDrawn="1">
          <p15:clr>
            <a:srgbClr val="5ACBF0"/>
          </p15:clr>
        </p15:guide>
        <p15:guide id="33" pos="3336" userDrawn="1">
          <p15:clr>
            <a:srgbClr val="A4A3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&amp; Square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8"/>
          </a:xfrm>
        </p:spPr>
        <p:txBody>
          <a:bodyPr/>
          <a:lstStyle>
            <a:lvl1pPr marL="0" indent="0">
              <a:buNone/>
              <a:defRPr sz="20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&amp;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&amp; Squar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 bwMode="blackWhite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6173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White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40605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White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8480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Low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Upp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and Text Side by S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auto"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5"/>
            <a:ext cx="6667500" cy="5683254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422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Sans Display" pitchFamily="2" charset="0"/>
                <a:cs typeface="Segoe Sans Display" pitchFamily="2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Sans Display" pitchFamily="2" charset="0"/>
                <a:cs typeface="Segoe Sans Display" pitchFamily="2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FF55AF-07A0-E53A-0789-86E0BA8D6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ltGray">
          <a:xfrm>
            <a:off x="0" y="1730"/>
            <a:ext cx="12192000" cy="68545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7555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A91C97-0F4B-CB0B-3806-07BEEA5F7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319"/>
            <a:ext cx="12192000" cy="68573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8058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780E26-77D9-EDA1-6B0D-E498A450A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06572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10B085-DDE7-88C6-CC2C-8FA66A131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0" y="0"/>
            <a:ext cx="12192000" cy="68551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5768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7A2C0C-5A6D-7740-29B0-946ED0BE2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0" y="0"/>
            <a:ext cx="1218640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17935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F2C24F-5B26-E853-33E8-371952F8F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23514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34D503-F46F-BFA0-6453-FB10F5385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-15917" y="1691"/>
            <a:ext cx="12192000" cy="68563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03129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189FDC-525A-CF23-3070-940BC162E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7735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370C3B-D4ED-F3F0-36A3-8D6A980CB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1146" y="0"/>
            <a:ext cx="1218970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886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ech Sca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A9DD60-6582-EC28-94B1-2DB255180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ltGray">
          <a:xfrm>
            <a:off x="0" y="0"/>
            <a:ext cx="121824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50612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76972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B9675-1EDC-10A9-79BB-CA60778FC6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-824268"/>
            <a:ext cx="11018520" cy="553998"/>
          </a:xfrm>
        </p:spPr>
        <p:txBody>
          <a:bodyPr anchor="b"/>
          <a:lstStyle>
            <a:lvl1pPr>
              <a:defRPr>
                <a:solidFill>
                  <a:srgbClr val="B1B3B3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tes Slid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+mj-lt"/>
                <a:ea typeface="Segoe Sans Display" pitchFamily="2" charset="0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Sans Display" pitchFamily="2" charset="0"/>
                <a:ea typeface="Segoe Sans Display" pitchFamily="2" charset="0"/>
                <a:cs typeface="Segoe Sans Display" pitchFamily="2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Sans Display" pitchFamily="2" charset="0"/>
              </a:rPr>
              <a:t>© Copyright Microsoft Corporation. All rights reserved. </a:t>
            </a:r>
          </a:p>
        </p:txBody>
      </p:sp>
      <p:pic>
        <p:nvPicPr>
          <p:cNvPr id="4" name="Picture 3" descr="Microsoft Security">
            <a:extLst>
              <a:ext uri="{FF2B5EF4-FFF2-40B4-BE49-F238E27FC236}">
                <a16:creationId xmlns:a16="http://schemas.microsoft.com/office/drawing/2014/main" id="{4AF1DC5D-9E4C-61B6-29E6-3134DF76EC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black">
          <a:xfrm>
            <a:off x="289702" y="296820"/>
            <a:ext cx="2876596" cy="86868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9FF0FC9-6B16-7B48-F8A5-349518F8D9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-824268"/>
            <a:ext cx="11018520" cy="553998"/>
          </a:xfrm>
        </p:spPr>
        <p:txBody>
          <a:bodyPr anchor="b"/>
          <a:lstStyle>
            <a:lvl1pPr>
              <a:defRPr>
                <a:solidFill>
                  <a:srgbClr val="B1B3B3"/>
                </a:solidFill>
              </a:defRPr>
            </a:lvl1pPr>
          </a:lstStyle>
          <a:p>
            <a:r>
              <a:rPr lang="en-US"/>
              <a:t>Closing</a:t>
            </a:r>
          </a:p>
        </p:txBody>
      </p:sp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image" Target="../media/image2.svg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02" r:id="rId1"/>
    <p:sldLayoutId id="2147485518" r:id="rId2"/>
    <p:sldLayoutId id="2147485503" r:id="rId3"/>
    <p:sldLayoutId id="2147485449" r:id="rId4"/>
    <p:sldLayoutId id="2147485505" r:id="rId5"/>
    <p:sldLayoutId id="2147485512" r:id="rId6"/>
    <p:sldLayoutId id="2147485513" r:id="rId7"/>
    <p:sldLayoutId id="2147485514" r:id="rId8"/>
    <p:sldLayoutId id="2147485515" r:id="rId9"/>
    <p:sldLayoutId id="2147485516" r:id="rId10"/>
    <p:sldLayoutId id="2147485542" r:id="rId11"/>
    <p:sldLayoutId id="2147485506" r:id="rId12"/>
    <p:sldLayoutId id="2147485507" r:id="rId13"/>
    <p:sldLayoutId id="2147485508" r:id="rId14"/>
    <p:sldLayoutId id="2147485509" r:id="rId15"/>
    <p:sldLayoutId id="2147485510" r:id="rId16"/>
    <p:sldLayoutId id="2147485529" r:id="rId17"/>
    <p:sldLayoutId id="2147485501" r:id="rId18"/>
    <p:sldLayoutId id="2147485537" r:id="rId19"/>
    <p:sldLayoutId id="2147485452" r:id="rId20"/>
    <p:sldLayoutId id="2147485453" r:id="rId21"/>
    <p:sldLayoutId id="2147485454" r:id="rId22"/>
    <p:sldLayoutId id="2147485455" r:id="rId23"/>
    <p:sldLayoutId id="2147485456" r:id="rId24"/>
    <p:sldLayoutId id="2147485457" r:id="rId25"/>
    <p:sldLayoutId id="2147485458" r:id="rId26"/>
    <p:sldLayoutId id="2147485459" r:id="rId27"/>
    <p:sldLayoutId id="2147485460" r:id="rId28"/>
    <p:sldLayoutId id="2147485461" r:id="rId29"/>
    <p:sldLayoutId id="2147485462" r:id="rId30"/>
    <p:sldLayoutId id="2147485463" r:id="rId31"/>
    <p:sldLayoutId id="2147485541" r:id="rId32"/>
    <p:sldLayoutId id="2147485533" r:id="rId33"/>
    <p:sldLayoutId id="2147485540" r:id="rId34"/>
    <p:sldLayoutId id="2147485536" r:id="rId35"/>
    <p:sldLayoutId id="2147485535" r:id="rId36"/>
    <p:sldLayoutId id="2147485539" r:id="rId37"/>
    <p:sldLayoutId id="2147485538" r:id="rId38"/>
    <p:sldLayoutId id="2147485464" r:id="rId39"/>
    <p:sldLayoutId id="2147485465" r:id="rId40"/>
    <p:sldLayoutId id="2147485466" r:id="rId41"/>
    <p:sldLayoutId id="2147485467" r:id="rId42"/>
    <p:sldLayoutId id="2147485468" r:id="rId43"/>
    <p:sldLayoutId id="2147485469" r:id="rId44"/>
    <p:sldLayoutId id="2147485470" r:id="rId45"/>
    <p:sldLayoutId id="2147485471" r:id="rId46"/>
    <p:sldLayoutId id="2147485472" r:id="rId47"/>
    <p:sldLayoutId id="2147485473" r:id="rId48"/>
    <p:sldLayoutId id="2147485474" r:id="rId49"/>
    <p:sldLayoutId id="2147485475" r:id="rId50"/>
    <p:sldLayoutId id="2147485476" r:id="rId51"/>
    <p:sldLayoutId id="2147485477" r:id="rId52"/>
    <p:sldLayoutId id="2147485478" r:id="rId53"/>
    <p:sldLayoutId id="2147485479" r:id="rId54"/>
    <p:sldLayoutId id="2147485480" r:id="rId55"/>
    <p:sldLayoutId id="2147485481" r:id="rId56"/>
    <p:sldLayoutId id="2147485482" r:id="rId57"/>
    <p:sldLayoutId id="2147485483" r:id="rId58"/>
    <p:sldLayoutId id="2147485484" r:id="rId59"/>
    <p:sldLayoutId id="2147485485" r:id="rId60"/>
    <p:sldLayoutId id="2147485486" r:id="rId61"/>
    <p:sldLayoutId id="2147485487" r:id="rId62"/>
    <p:sldLayoutId id="2147485488" r:id="rId63"/>
    <p:sldLayoutId id="2147485490" r:id="rId64"/>
    <p:sldLayoutId id="2147485489" r:id="rId65"/>
    <p:sldLayoutId id="2147485491" r:id="rId66"/>
    <p:sldLayoutId id="2147485520" r:id="rId67"/>
    <p:sldLayoutId id="2147485521" r:id="rId68"/>
    <p:sldLayoutId id="2147485522" r:id="rId69"/>
    <p:sldLayoutId id="2147485523" r:id="rId70"/>
    <p:sldLayoutId id="2147485524" r:id="rId71"/>
    <p:sldLayoutId id="2147485525" r:id="rId72"/>
    <p:sldLayoutId id="2147485526" r:id="rId73"/>
    <p:sldLayoutId id="2147485527" r:id="rId74"/>
    <p:sldLayoutId id="2147485528" r:id="rId75"/>
    <p:sldLayoutId id="2147485492" r:id="rId76"/>
    <p:sldLayoutId id="2147485519" r:id="rId77"/>
    <p:sldLayoutId id="2147485493" r:id="rId78"/>
    <p:sldLayoutId id="2147485494" r:id="rId79"/>
    <p:sldLayoutId id="2147485496" r:id="rId80"/>
    <p:sldLayoutId id="2147485495" r:id="rId81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Sans Display" pitchFamily="2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Sans Display" pitchFamily="2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 userDrawn="1">
          <p15:clr>
            <a:srgbClr val="C35EA4"/>
          </p15:clr>
        </p15:guide>
        <p15:guide id="17" pos="7320" userDrawn="1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92" userDrawn="1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 userDrawn="1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26" Type="http://schemas.openxmlformats.org/officeDocument/2006/relationships/image" Target="../media/image91.png"/><Relationship Id="rId21" Type="http://schemas.openxmlformats.org/officeDocument/2006/relationships/image" Target="../media/image86.png"/><Relationship Id="rId34" Type="http://schemas.openxmlformats.org/officeDocument/2006/relationships/image" Target="../media/image99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5" Type="http://schemas.openxmlformats.org/officeDocument/2006/relationships/image" Target="../media/image90.png"/><Relationship Id="rId33" Type="http://schemas.openxmlformats.org/officeDocument/2006/relationships/image" Target="../media/image9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29" Type="http://schemas.openxmlformats.org/officeDocument/2006/relationships/image" Target="../media/image94.png"/><Relationship Id="rId1" Type="http://schemas.openxmlformats.org/officeDocument/2006/relationships/slideLayout" Target="../slideLayouts/slideLayout78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24" Type="http://schemas.openxmlformats.org/officeDocument/2006/relationships/image" Target="../media/image89.png"/><Relationship Id="rId32" Type="http://schemas.openxmlformats.org/officeDocument/2006/relationships/image" Target="../media/image97.png"/><Relationship Id="rId37" Type="http://schemas.openxmlformats.org/officeDocument/2006/relationships/hyperlink" Target="https://www.linkedin.com/pulse/connecting-copilot-studio-microsoft-mcp-server-stefano-pescosolido-7bwvf/" TargetMode="External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23" Type="http://schemas.openxmlformats.org/officeDocument/2006/relationships/image" Target="../media/image88.png"/><Relationship Id="rId28" Type="http://schemas.openxmlformats.org/officeDocument/2006/relationships/image" Target="../media/image93.png"/><Relationship Id="rId36" Type="http://schemas.openxmlformats.org/officeDocument/2006/relationships/image" Target="../media/image101.jpe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31" Type="http://schemas.openxmlformats.org/officeDocument/2006/relationships/image" Target="../media/image96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jpeg"/><Relationship Id="rId22" Type="http://schemas.openxmlformats.org/officeDocument/2006/relationships/image" Target="../media/image87.png"/><Relationship Id="rId27" Type="http://schemas.openxmlformats.org/officeDocument/2006/relationships/image" Target="../media/image92.png"/><Relationship Id="rId30" Type="http://schemas.openxmlformats.org/officeDocument/2006/relationships/image" Target="../media/image95.jpeg"/><Relationship Id="rId35" Type="http://schemas.openxmlformats.org/officeDocument/2006/relationships/image" Target="../media/image100.png"/><Relationship Id="rId8" Type="http://schemas.openxmlformats.org/officeDocument/2006/relationships/image" Target="../media/image73.jpeg"/><Relationship Id="rId3" Type="http://schemas.openxmlformats.org/officeDocument/2006/relationships/image" Target="../media/image6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8.xml"/><Relationship Id="rId4" Type="http://schemas.openxmlformats.org/officeDocument/2006/relationships/image" Target="../media/image10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A0ADA-DCEB-F130-01AB-A15537001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07" name="Straight Arrow Connector 6506">
            <a:extLst>
              <a:ext uri="{FF2B5EF4-FFF2-40B4-BE49-F238E27FC236}">
                <a16:creationId xmlns:a16="http://schemas.microsoft.com/office/drawing/2014/main" id="{54A4CA2E-D0FD-310B-814C-C83D805A65D4}"/>
              </a:ext>
            </a:extLst>
          </p:cNvPr>
          <p:cNvCxnSpPr>
            <a:cxnSpLocks/>
            <a:stCxn id="2058" idx="1"/>
            <a:endCxn id="6503" idx="3"/>
          </p:cNvCxnSpPr>
          <p:nvPr/>
        </p:nvCxnSpPr>
        <p:spPr>
          <a:xfrm flipH="1" flipV="1">
            <a:off x="3424208" y="1556292"/>
            <a:ext cx="3235859" cy="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4" name="Connector: Elbow 6143">
            <a:extLst>
              <a:ext uri="{FF2B5EF4-FFF2-40B4-BE49-F238E27FC236}">
                <a16:creationId xmlns:a16="http://schemas.microsoft.com/office/drawing/2014/main" id="{B9506E03-5C46-20D3-CB82-445160245D5C}"/>
              </a:ext>
            </a:extLst>
          </p:cNvPr>
          <p:cNvCxnSpPr>
            <a:stCxn id="2105" idx="1"/>
            <a:endCxn id="2103" idx="3"/>
          </p:cNvCxnSpPr>
          <p:nvPr/>
        </p:nvCxnSpPr>
        <p:spPr>
          <a:xfrm rot="10800000">
            <a:off x="9109986" y="4795024"/>
            <a:ext cx="869359" cy="429794"/>
          </a:xfrm>
          <a:prstGeom prst="bentConnector3">
            <a:avLst>
              <a:gd name="adj1" fmla="val 62271"/>
            </a:avLst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1" name="Connector: Elbow 6150">
            <a:extLst>
              <a:ext uri="{FF2B5EF4-FFF2-40B4-BE49-F238E27FC236}">
                <a16:creationId xmlns:a16="http://schemas.microsoft.com/office/drawing/2014/main" id="{97E96828-C990-F6F0-375F-4D507D07266C}"/>
              </a:ext>
            </a:extLst>
          </p:cNvPr>
          <p:cNvCxnSpPr>
            <a:stCxn id="2105" idx="1"/>
            <a:endCxn id="2104" idx="3"/>
          </p:cNvCxnSpPr>
          <p:nvPr/>
        </p:nvCxnSpPr>
        <p:spPr>
          <a:xfrm rot="10800000" flipV="1">
            <a:off x="9325576" y="5224818"/>
            <a:ext cx="653768" cy="61332"/>
          </a:xfrm>
          <a:prstGeom prst="bentConnector3">
            <a:avLst>
              <a:gd name="adj1" fmla="val 82636"/>
            </a:avLst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A8B79A12-00AC-039E-EE32-FCA6A630F3E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" y="-5757"/>
            <a:ext cx="11978640" cy="276999"/>
          </a:xfrm>
        </p:spPr>
        <p:txBody>
          <a:bodyPr/>
          <a:lstStyle/>
          <a:p>
            <a:r>
              <a:rPr lang="en-US" sz="1800" b="1" noProof="0" dirty="0">
                <a:solidFill>
                  <a:schemeClr val="bg1">
                    <a:lumMod val="50000"/>
                  </a:schemeClr>
                </a:solidFill>
              </a:rPr>
              <a:t>Custom Agents Enabling Different SOC Personas to Access AI‑Ready Microsoft Security Tools</a:t>
            </a:r>
          </a:p>
        </p:txBody>
      </p:sp>
      <p:grpSp>
        <p:nvGrpSpPr>
          <p:cNvPr id="6479" name="Group 6478">
            <a:extLst>
              <a:ext uri="{FF2B5EF4-FFF2-40B4-BE49-F238E27FC236}">
                <a16:creationId xmlns:a16="http://schemas.microsoft.com/office/drawing/2014/main" id="{3E68CDA7-FF1C-737D-4E45-ED37F4882A85}"/>
              </a:ext>
            </a:extLst>
          </p:cNvPr>
          <p:cNvGrpSpPr/>
          <p:nvPr/>
        </p:nvGrpSpPr>
        <p:grpSpPr>
          <a:xfrm>
            <a:off x="9679430" y="5932182"/>
            <a:ext cx="2462217" cy="771926"/>
            <a:chOff x="8977385" y="5932182"/>
            <a:chExt cx="2462217" cy="771926"/>
          </a:xfrm>
          <a:solidFill>
            <a:schemeClr val="bg1">
              <a:lumMod val="95000"/>
            </a:schemeClr>
          </a:solidFill>
        </p:grpSpPr>
        <p:sp>
          <p:nvSpPr>
            <p:cNvPr id="6478" name="Rectangle 6477">
              <a:extLst>
                <a:ext uri="{FF2B5EF4-FFF2-40B4-BE49-F238E27FC236}">
                  <a16:creationId xmlns:a16="http://schemas.microsoft.com/office/drawing/2014/main" id="{EAEB3FFA-438A-2578-0F4F-1C9442CA6E42}"/>
                </a:ext>
              </a:extLst>
            </p:cNvPr>
            <p:cNvSpPr/>
            <p:nvPr/>
          </p:nvSpPr>
          <p:spPr bwMode="auto">
            <a:xfrm>
              <a:off x="8991602" y="5932182"/>
              <a:ext cx="2448000" cy="771926"/>
            </a:xfrm>
            <a:custGeom>
              <a:avLst/>
              <a:gdLst>
                <a:gd name="csX0" fmla="*/ 0 w 2448000"/>
                <a:gd name="csY0" fmla="*/ 0 h 771926"/>
                <a:gd name="csX1" fmla="*/ 660960 w 2448000"/>
                <a:gd name="csY1" fmla="*/ 0 h 771926"/>
                <a:gd name="csX2" fmla="*/ 1224000 w 2448000"/>
                <a:gd name="csY2" fmla="*/ 0 h 771926"/>
                <a:gd name="csX3" fmla="*/ 1811520 w 2448000"/>
                <a:gd name="csY3" fmla="*/ 0 h 771926"/>
                <a:gd name="csX4" fmla="*/ 2448000 w 2448000"/>
                <a:gd name="csY4" fmla="*/ 0 h 771926"/>
                <a:gd name="csX5" fmla="*/ 2448000 w 2448000"/>
                <a:gd name="csY5" fmla="*/ 370524 h 771926"/>
                <a:gd name="csX6" fmla="*/ 2448000 w 2448000"/>
                <a:gd name="csY6" fmla="*/ 771926 h 771926"/>
                <a:gd name="csX7" fmla="*/ 1860480 w 2448000"/>
                <a:gd name="csY7" fmla="*/ 771926 h 771926"/>
                <a:gd name="csX8" fmla="*/ 1321920 w 2448000"/>
                <a:gd name="csY8" fmla="*/ 771926 h 771926"/>
                <a:gd name="csX9" fmla="*/ 734400 w 2448000"/>
                <a:gd name="csY9" fmla="*/ 771926 h 771926"/>
                <a:gd name="csX10" fmla="*/ 0 w 2448000"/>
                <a:gd name="csY10" fmla="*/ 771926 h 771926"/>
                <a:gd name="csX11" fmla="*/ 0 w 2448000"/>
                <a:gd name="csY11" fmla="*/ 393682 h 771926"/>
                <a:gd name="csX12" fmla="*/ 0 w 2448000"/>
                <a:gd name="csY12" fmla="*/ 0 h 7719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448000" h="771926" fill="none" extrusionOk="0">
                  <a:moveTo>
                    <a:pt x="0" y="0"/>
                  </a:moveTo>
                  <a:cubicBezTo>
                    <a:pt x="327366" y="-31997"/>
                    <a:pt x="445583" y="10505"/>
                    <a:pt x="660960" y="0"/>
                  </a:cubicBezTo>
                  <a:cubicBezTo>
                    <a:pt x="876337" y="-10505"/>
                    <a:pt x="972004" y="8106"/>
                    <a:pt x="1224000" y="0"/>
                  </a:cubicBezTo>
                  <a:cubicBezTo>
                    <a:pt x="1475996" y="-8106"/>
                    <a:pt x="1662249" y="-16599"/>
                    <a:pt x="1811520" y="0"/>
                  </a:cubicBezTo>
                  <a:cubicBezTo>
                    <a:pt x="1960791" y="16599"/>
                    <a:pt x="2147164" y="30290"/>
                    <a:pt x="2448000" y="0"/>
                  </a:cubicBezTo>
                  <a:cubicBezTo>
                    <a:pt x="2436509" y="133976"/>
                    <a:pt x="2442572" y="213716"/>
                    <a:pt x="2448000" y="370524"/>
                  </a:cubicBezTo>
                  <a:cubicBezTo>
                    <a:pt x="2453428" y="527332"/>
                    <a:pt x="2434353" y="584410"/>
                    <a:pt x="2448000" y="771926"/>
                  </a:cubicBezTo>
                  <a:cubicBezTo>
                    <a:pt x="2154549" y="771096"/>
                    <a:pt x="1992842" y="794665"/>
                    <a:pt x="1860480" y="771926"/>
                  </a:cubicBezTo>
                  <a:cubicBezTo>
                    <a:pt x="1728118" y="749187"/>
                    <a:pt x="1446768" y="775424"/>
                    <a:pt x="1321920" y="771926"/>
                  </a:cubicBezTo>
                  <a:cubicBezTo>
                    <a:pt x="1197072" y="768428"/>
                    <a:pt x="926605" y="782132"/>
                    <a:pt x="734400" y="771926"/>
                  </a:cubicBezTo>
                  <a:cubicBezTo>
                    <a:pt x="542195" y="761720"/>
                    <a:pt x="291645" y="798675"/>
                    <a:pt x="0" y="771926"/>
                  </a:cubicBezTo>
                  <a:cubicBezTo>
                    <a:pt x="14274" y="672623"/>
                    <a:pt x="16633" y="579762"/>
                    <a:pt x="0" y="393682"/>
                  </a:cubicBezTo>
                  <a:cubicBezTo>
                    <a:pt x="-16633" y="207602"/>
                    <a:pt x="17098" y="101586"/>
                    <a:pt x="0" y="0"/>
                  </a:cubicBezTo>
                  <a:close/>
                </a:path>
                <a:path w="2448000" h="771926" stroke="0" extrusionOk="0">
                  <a:moveTo>
                    <a:pt x="0" y="0"/>
                  </a:moveTo>
                  <a:cubicBezTo>
                    <a:pt x="211741" y="-13331"/>
                    <a:pt x="430671" y="5498"/>
                    <a:pt x="587520" y="0"/>
                  </a:cubicBezTo>
                  <a:cubicBezTo>
                    <a:pt x="744369" y="-5498"/>
                    <a:pt x="957731" y="3836"/>
                    <a:pt x="1150560" y="0"/>
                  </a:cubicBezTo>
                  <a:cubicBezTo>
                    <a:pt x="1343389" y="-3836"/>
                    <a:pt x="1550254" y="-29822"/>
                    <a:pt x="1762560" y="0"/>
                  </a:cubicBezTo>
                  <a:cubicBezTo>
                    <a:pt x="1974866" y="29822"/>
                    <a:pt x="2226484" y="12281"/>
                    <a:pt x="2448000" y="0"/>
                  </a:cubicBezTo>
                  <a:cubicBezTo>
                    <a:pt x="2457922" y="77978"/>
                    <a:pt x="2441329" y="228438"/>
                    <a:pt x="2448000" y="378244"/>
                  </a:cubicBezTo>
                  <a:cubicBezTo>
                    <a:pt x="2454671" y="528050"/>
                    <a:pt x="2456875" y="648079"/>
                    <a:pt x="2448000" y="771926"/>
                  </a:cubicBezTo>
                  <a:cubicBezTo>
                    <a:pt x="2260620" y="773717"/>
                    <a:pt x="2005736" y="770122"/>
                    <a:pt x="1860480" y="771926"/>
                  </a:cubicBezTo>
                  <a:cubicBezTo>
                    <a:pt x="1715224" y="773730"/>
                    <a:pt x="1562936" y="779646"/>
                    <a:pt x="1297440" y="771926"/>
                  </a:cubicBezTo>
                  <a:cubicBezTo>
                    <a:pt x="1031944" y="764206"/>
                    <a:pt x="966862" y="791223"/>
                    <a:pt x="660960" y="771926"/>
                  </a:cubicBezTo>
                  <a:cubicBezTo>
                    <a:pt x="355058" y="752629"/>
                    <a:pt x="309617" y="755255"/>
                    <a:pt x="0" y="771926"/>
                  </a:cubicBezTo>
                  <a:cubicBezTo>
                    <a:pt x="1218" y="617276"/>
                    <a:pt x="-726" y="562834"/>
                    <a:pt x="0" y="409121"/>
                  </a:cubicBezTo>
                  <a:cubicBezTo>
                    <a:pt x="726" y="255408"/>
                    <a:pt x="17190" y="94207"/>
                    <a:pt x="0" y="0"/>
                  </a:cubicBezTo>
                  <a:close/>
                </a:path>
              </a:pathLst>
            </a:custGeom>
            <a:grpFill/>
            <a:ln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549178144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6458" name="Group 6457">
              <a:extLst>
                <a:ext uri="{FF2B5EF4-FFF2-40B4-BE49-F238E27FC236}">
                  <a16:creationId xmlns:a16="http://schemas.microsoft.com/office/drawing/2014/main" id="{BF12092A-9E08-E43A-0A6B-CFC5719FFE7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307720" y="5996259"/>
              <a:ext cx="1106742" cy="679373"/>
              <a:chOff x="7407983" y="5208671"/>
              <a:chExt cx="2910168" cy="1786405"/>
            </a:xfrm>
            <a:grpFill/>
          </p:grpSpPr>
          <p:grpSp>
            <p:nvGrpSpPr>
              <p:cNvPr id="6448" name="Group 6447">
                <a:extLst>
                  <a:ext uri="{FF2B5EF4-FFF2-40B4-BE49-F238E27FC236}">
                    <a16:creationId xmlns:a16="http://schemas.microsoft.com/office/drawing/2014/main" id="{4CA89FD2-0471-F2FF-06C8-366E8A327BB1}"/>
                  </a:ext>
                </a:extLst>
              </p:cNvPr>
              <p:cNvGrpSpPr/>
              <p:nvPr/>
            </p:nvGrpSpPr>
            <p:grpSpPr>
              <a:xfrm>
                <a:off x="7560592" y="5208671"/>
                <a:ext cx="2757554" cy="890226"/>
                <a:chOff x="7075209" y="4860009"/>
                <a:chExt cx="2757554" cy="890226"/>
              </a:xfrm>
              <a:grpFill/>
            </p:grpSpPr>
            <p:pic>
              <p:nvPicPr>
                <p:cNvPr id="6449" name="Picture 20" descr="ChatGPT Logo, symbol, meaning, history, PNG, brand">
                  <a:extLst>
                    <a:ext uri="{FF2B5EF4-FFF2-40B4-BE49-F238E27FC236}">
                      <a16:creationId xmlns:a16="http://schemas.microsoft.com/office/drawing/2014/main" id="{E09303BF-A5FB-2275-2818-3326A9ED25D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158" t="2361" r="23827" b="2639"/>
                <a:stretch>
                  <a:fillRect/>
                </a:stretch>
              </p:blipFill>
              <p:spPr bwMode="auto">
                <a:xfrm>
                  <a:off x="7075209" y="5014823"/>
                  <a:ext cx="576000" cy="580600"/>
                </a:xfrm>
                <a:prstGeom prst="rect">
                  <a:avLst/>
                </a:prstGeom>
                <a:grpFill/>
              </p:spPr>
            </p:pic>
            <p:sp>
              <p:nvSpPr>
                <p:cNvPr id="6450" name="TextBox 6449">
                  <a:extLst>
                    <a:ext uri="{FF2B5EF4-FFF2-40B4-BE49-F238E27FC236}">
                      <a16:creationId xmlns:a16="http://schemas.microsoft.com/office/drawing/2014/main" id="{5DFB8471-C15A-BA93-2189-25A7DFF29D81}"/>
                    </a:ext>
                  </a:extLst>
                </p:cNvPr>
                <p:cNvSpPr txBox="1"/>
                <p:nvPr/>
              </p:nvSpPr>
              <p:spPr>
                <a:xfrm>
                  <a:off x="7571638" y="4860009"/>
                  <a:ext cx="2261125" cy="890226"/>
                </a:xfrm>
                <a:prstGeom prst="rect">
                  <a:avLst/>
                </a:prstGeom>
                <a:grpFill/>
              </p:spPr>
              <p:txBody>
                <a:bodyPr wrap="square" rtlCol="0" anchor="ctr" anchorCtr="0">
                  <a:spAutoFit/>
                </a:bodyPr>
                <a:lstStyle/>
                <a:p>
                  <a:r>
                    <a:rPr lang="en-US" sz="800" b="1" noProof="0"/>
                    <a:t>ChatGPT Enterprise</a:t>
                  </a:r>
                  <a:endParaRPr lang="en-US" sz="800" noProof="0"/>
                </a:p>
              </p:txBody>
            </p:sp>
          </p:grpSp>
          <p:grpSp>
            <p:nvGrpSpPr>
              <p:cNvPr id="6451" name="Group 6450">
                <a:extLst>
                  <a:ext uri="{FF2B5EF4-FFF2-40B4-BE49-F238E27FC236}">
                    <a16:creationId xmlns:a16="http://schemas.microsoft.com/office/drawing/2014/main" id="{F9747B80-5FC7-EB46-9D69-37C7B84B42F1}"/>
                  </a:ext>
                </a:extLst>
              </p:cNvPr>
              <p:cNvGrpSpPr/>
              <p:nvPr/>
            </p:nvGrpSpPr>
            <p:grpSpPr>
              <a:xfrm>
                <a:off x="7560592" y="5984924"/>
                <a:ext cx="2757559" cy="581909"/>
                <a:chOff x="7075209" y="5850768"/>
                <a:chExt cx="2757559" cy="581909"/>
              </a:xfrm>
              <a:grpFill/>
            </p:grpSpPr>
            <p:pic>
              <p:nvPicPr>
                <p:cNvPr id="6452" name="Picture 6451">
                  <a:extLst>
                    <a:ext uri="{FF2B5EF4-FFF2-40B4-BE49-F238E27FC236}">
                      <a16:creationId xmlns:a16="http://schemas.microsoft.com/office/drawing/2014/main" id="{51648164-A80A-26B7-7B8C-CBFB9817AE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clrChange>
                    <a:clrFrom>
                      <a:srgbClr val="FAF9F5"/>
                    </a:clrFrom>
                    <a:clrTo>
                      <a:srgbClr val="FAF9F5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7075209" y="5850768"/>
                  <a:ext cx="576000" cy="581909"/>
                </a:xfrm>
                <a:prstGeom prst="rect">
                  <a:avLst/>
                </a:prstGeom>
                <a:grpFill/>
              </p:spPr>
            </p:pic>
            <p:sp>
              <p:nvSpPr>
                <p:cNvPr id="6453" name="TextBox 6452">
                  <a:extLst>
                    <a:ext uri="{FF2B5EF4-FFF2-40B4-BE49-F238E27FC236}">
                      <a16:creationId xmlns:a16="http://schemas.microsoft.com/office/drawing/2014/main" id="{77D4C254-91D7-A63E-0779-50D2A14E28BD}"/>
                    </a:ext>
                  </a:extLst>
                </p:cNvPr>
                <p:cNvSpPr txBox="1"/>
                <p:nvPr/>
              </p:nvSpPr>
              <p:spPr>
                <a:xfrm>
                  <a:off x="7571641" y="5858470"/>
                  <a:ext cx="2261127" cy="566508"/>
                </a:xfrm>
                <a:prstGeom prst="rect">
                  <a:avLst/>
                </a:prstGeom>
                <a:grpFill/>
              </p:spPr>
              <p:txBody>
                <a:bodyPr wrap="square" rtlCol="0" anchor="ctr" anchorCtr="0">
                  <a:spAutoFit/>
                </a:bodyPr>
                <a:lstStyle/>
                <a:p>
                  <a:r>
                    <a:rPr lang="en-US" sz="800" b="1" noProof="0"/>
                    <a:t>Claude.AI</a:t>
                  </a:r>
                  <a:endParaRPr lang="en-US" sz="800" noProof="0"/>
                </a:p>
              </p:txBody>
            </p:sp>
          </p:grpSp>
          <p:sp>
            <p:nvSpPr>
              <p:cNvPr id="6454" name="TextBox 6453">
                <a:extLst>
                  <a:ext uri="{FF2B5EF4-FFF2-40B4-BE49-F238E27FC236}">
                    <a16:creationId xmlns:a16="http://schemas.microsoft.com/office/drawing/2014/main" id="{8DB6488B-BD5A-AD83-1632-D37DA9867E10}"/>
                  </a:ext>
                </a:extLst>
              </p:cNvPr>
              <p:cNvSpPr txBox="1"/>
              <p:nvPr/>
            </p:nvSpPr>
            <p:spPr>
              <a:xfrm>
                <a:off x="7650167" y="6428568"/>
                <a:ext cx="946617" cy="566508"/>
              </a:xfrm>
              <a:prstGeom prst="rect">
                <a:avLst/>
              </a:prstGeom>
              <a:grpFill/>
            </p:spPr>
            <p:txBody>
              <a:bodyPr wrap="square" lIns="0" rtlCol="0">
                <a:spAutoFit/>
              </a:bodyPr>
              <a:lstStyle/>
              <a:p>
                <a:r>
                  <a:rPr lang="en-US" sz="800" b="1" noProof="0"/>
                  <a:t>(…)</a:t>
                </a:r>
                <a:endParaRPr lang="en-US" sz="800" noProof="0"/>
              </a:p>
            </p:txBody>
          </p:sp>
          <p:cxnSp>
            <p:nvCxnSpPr>
              <p:cNvPr id="6455" name="Straight Arrow Connector 6454">
                <a:extLst>
                  <a:ext uri="{FF2B5EF4-FFF2-40B4-BE49-F238E27FC236}">
                    <a16:creationId xmlns:a16="http://schemas.microsoft.com/office/drawing/2014/main" id="{B9123623-AC67-6F3C-D481-D0F510646E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89774" y="5653783"/>
                <a:ext cx="567970" cy="0"/>
              </a:xfrm>
              <a:prstGeom prst="straightConnector1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  <a:prstDash val="dash"/>
                <a:headEnd type="none" w="lg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56" name="Straight Arrow Connector 6455">
                <a:extLst>
                  <a:ext uri="{FF2B5EF4-FFF2-40B4-BE49-F238E27FC236}">
                    <a16:creationId xmlns:a16="http://schemas.microsoft.com/office/drawing/2014/main" id="{F3AA628C-E4A8-42AB-036E-9CBAB4BD1C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01488" y="6275879"/>
                <a:ext cx="567970" cy="0"/>
              </a:xfrm>
              <a:prstGeom prst="straightConnector1">
                <a:avLst/>
              </a:prstGeom>
              <a:grpFill/>
              <a:ln>
                <a:solidFill>
                  <a:schemeClr val="bg1">
                    <a:lumMod val="50000"/>
                  </a:schemeClr>
                </a:solidFill>
                <a:prstDash val="dash"/>
                <a:headEnd type="none" w="lg" len="me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57" name="Left Bracket 6456">
                <a:extLst>
                  <a:ext uri="{FF2B5EF4-FFF2-40B4-BE49-F238E27FC236}">
                    <a16:creationId xmlns:a16="http://schemas.microsoft.com/office/drawing/2014/main" id="{E4719660-7414-959A-E391-DBCE4DC09AA5}"/>
                  </a:ext>
                </a:extLst>
              </p:cNvPr>
              <p:cNvSpPr/>
              <p:nvPr/>
            </p:nvSpPr>
            <p:spPr>
              <a:xfrm>
                <a:off x="7407983" y="5233838"/>
                <a:ext cx="138711" cy="1703910"/>
              </a:xfrm>
              <a:prstGeom prst="leftBracket">
                <a:avLst/>
              </a:prstGeom>
              <a:grpFill/>
              <a:ln w="28575">
                <a:solidFill>
                  <a:schemeClr val="bg1">
                    <a:lumMod val="65000"/>
                  </a:schemeClr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68" name="Group 6467">
              <a:extLst>
                <a:ext uri="{FF2B5EF4-FFF2-40B4-BE49-F238E27FC236}">
                  <a16:creationId xmlns:a16="http://schemas.microsoft.com/office/drawing/2014/main" id="{86C8C7DB-7BCF-FE6B-A87F-0EA9F34DF0AE}"/>
                </a:ext>
              </a:extLst>
            </p:cNvPr>
            <p:cNvGrpSpPr/>
            <p:nvPr/>
          </p:nvGrpSpPr>
          <p:grpSpPr>
            <a:xfrm>
              <a:off x="8977385" y="5983822"/>
              <a:ext cx="996372" cy="704246"/>
              <a:chOff x="9129785" y="5924491"/>
              <a:chExt cx="996372" cy="704246"/>
            </a:xfrm>
            <a:grpFill/>
          </p:grpSpPr>
          <p:pic>
            <p:nvPicPr>
              <p:cNvPr id="6464" name="Picture 10" descr="Model Context Protocol Directory - Discover MCP Servers Worldwide | TOPMCP">
                <a:extLst>
                  <a:ext uri="{FF2B5EF4-FFF2-40B4-BE49-F238E27FC236}">
                    <a16:creationId xmlns:a16="http://schemas.microsoft.com/office/drawing/2014/main" id="{728E771A-D727-8BDB-5CEE-760BA5B1D8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29785" y="5924491"/>
                <a:ext cx="360000" cy="360000"/>
              </a:xfrm>
              <a:prstGeom prst="rect">
                <a:avLst/>
              </a:prstGeom>
              <a:grpFill/>
            </p:spPr>
          </p:pic>
          <p:sp>
            <p:nvSpPr>
              <p:cNvPr id="6465" name="TextBox 6464">
                <a:extLst>
                  <a:ext uri="{FF2B5EF4-FFF2-40B4-BE49-F238E27FC236}">
                    <a16:creationId xmlns:a16="http://schemas.microsoft.com/office/drawing/2014/main" id="{3B47F19B-2A7A-7EE9-E7B9-E44F9983DD2D}"/>
                  </a:ext>
                </a:extLst>
              </p:cNvPr>
              <p:cNvSpPr txBox="1"/>
              <p:nvPr/>
            </p:nvSpPr>
            <p:spPr>
              <a:xfrm>
                <a:off x="9492557" y="5935214"/>
                <a:ext cx="633600" cy="338554"/>
              </a:xfrm>
              <a:prstGeom prst="rect">
                <a:avLst/>
              </a:prstGeom>
              <a:grpFill/>
            </p:spPr>
            <p:txBody>
              <a:bodyPr wrap="none" lIns="0" rtlCol="0">
                <a:spAutoFit/>
              </a:bodyPr>
              <a:lstStyle/>
              <a:p>
                <a:r>
                  <a:rPr lang="en-US" sz="800" b="1" noProof="0"/>
                  <a:t>Sentinel</a:t>
                </a:r>
              </a:p>
              <a:p>
                <a:r>
                  <a:rPr lang="en-US" sz="800"/>
                  <a:t>MCP Server</a:t>
                </a:r>
                <a:endParaRPr lang="en-US" sz="800" noProof="0"/>
              </a:p>
            </p:txBody>
          </p:sp>
          <p:pic>
            <p:nvPicPr>
              <p:cNvPr id="6466" name="Picture 10" descr="Model Context Protocol Directory - Discover MCP Servers Worldwide | TOPMCP">
                <a:extLst>
                  <a:ext uri="{FF2B5EF4-FFF2-40B4-BE49-F238E27FC236}">
                    <a16:creationId xmlns:a16="http://schemas.microsoft.com/office/drawing/2014/main" id="{E73A3E3F-A3C6-02EF-4C9D-FEA43A66CE7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29785" y="6268737"/>
                <a:ext cx="360000" cy="360000"/>
              </a:xfrm>
              <a:prstGeom prst="rect">
                <a:avLst/>
              </a:prstGeom>
              <a:grpFill/>
            </p:spPr>
          </p:pic>
          <p:sp>
            <p:nvSpPr>
              <p:cNvPr id="6467" name="TextBox 6466">
                <a:extLst>
                  <a:ext uri="{FF2B5EF4-FFF2-40B4-BE49-F238E27FC236}">
                    <a16:creationId xmlns:a16="http://schemas.microsoft.com/office/drawing/2014/main" id="{0D88A31B-F91B-69B8-5FB4-9D17611B85A9}"/>
                  </a:ext>
                </a:extLst>
              </p:cNvPr>
              <p:cNvSpPr txBox="1"/>
              <p:nvPr/>
            </p:nvSpPr>
            <p:spPr>
              <a:xfrm>
                <a:off x="9492558" y="6294849"/>
                <a:ext cx="632517" cy="307777"/>
              </a:xfrm>
              <a:prstGeom prst="rect">
                <a:avLst/>
              </a:prstGeom>
              <a:grp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sz="700"/>
                  <a:t>MCP Server for </a:t>
                </a:r>
                <a:r>
                  <a:rPr lang="en-US" sz="700" b="1"/>
                  <a:t>Enterprise</a:t>
                </a:r>
                <a:endParaRPr lang="en-US" sz="700" b="1" noProof="0"/>
              </a:p>
            </p:txBody>
          </p:sp>
        </p:grpSp>
        <p:cxnSp>
          <p:nvCxnSpPr>
            <p:cNvPr id="6470" name="Connector: Elbow 6469">
              <a:extLst>
                <a:ext uri="{FF2B5EF4-FFF2-40B4-BE49-F238E27FC236}">
                  <a16:creationId xmlns:a16="http://schemas.microsoft.com/office/drawing/2014/main" id="{C29CCF98-87DB-870B-096F-0B49545ACA11}"/>
                </a:ext>
              </a:extLst>
            </p:cNvPr>
            <p:cNvCxnSpPr>
              <a:stCxn id="6457" idx="1"/>
              <a:endCxn id="6465" idx="3"/>
            </p:cNvCxnSpPr>
            <p:nvPr/>
          </p:nvCxnSpPr>
          <p:spPr>
            <a:xfrm rot="10800000">
              <a:off x="9973757" y="6163822"/>
              <a:ext cx="333964" cy="166008"/>
            </a:xfrm>
            <a:prstGeom prst="bentConnector3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  <a:prstDash val="sysDot"/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2" name="Connector: Elbow 6471">
              <a:extLst>
                <a:ext uri="{FF2B5EF4-FFF2-40B4-BE49-F238E27FC236}">
                  <a16:creationId xmlns:a16="http://schemas.microsoft.com/office/drawing/2014/main" id="{1D033F4C-E5B9-DB8D-64F7-C482454CABD2}"/>
                </a:ext>
              </a:extLst>
            </p:cNvPr>
            <p:cNvCxnSpPr>
              <a:cxnSpLocks/>
              <a:stCxn id="6457" idx="1"/>
              <a:endCxn id="6467" idx="3"/>
            </p:cNvCxnSpPr>
            <p:nvPr/>
          </p:nvCxnSpPr>
          <p:spPr>
            <a:xfrm rot="10800000" flipV="1">
              <a:off x="9972675" y="6329829"/>
              <a:ext cx="335046" cy="178239"/>
            </a:xfrm>
            <a:prstGeom prst="bentConnector3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4B85FF32-E4D6-9F33-FF66-5F4DDEC64BDC}"/>
              </a:ext>
            </a:extLst>
          </p:cNvPr>
          <p:cNvCxnSpPr>
            <a:cxnSpLocks/>
            <a:stCxn id="6426" idx="1"/>
          </p:cNvCxnSpPr>
          <p:nvPr/>
        </p:nvCxnSpPr>
        <p:spPr>
          <a:xfrm rot="10800000" flipV="1">
            <a:off x="3424209" y="3681450"/>
            <a:ext cx="2349157" cy="1690755"/>
          </a:xfrm>
          <a:prstGeom prst="bentConnector3">
            <a:avLst>
              <a:gd name="adj1" fmla="val 66219"/>
            </a:avLst>
          </a:prstGeom>
          <a:ln>
            <a:solidFill>
              <a:schemeClr val="accent1"/>
            </a:solidFill>
            <a:prstDash val="solid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Connector: Elbow 2063">
            <a:extLst>
              <a:ext uri="{FF2B5EF4-FFF2-40B4-BE49-F238E27FC236}">
                <a16:creationId xmlns:a16="http://schemas.microsoft.com/office/drawing/2014/main" id="{8CF795E9-F9CD-AD5D-5DE6-9D2FDB91F2F9}"/>
              </a:ext>
            </a:extLst>
          </p:cNvPr>
          <p:cNvCxnSpPr>
            <a:stCxn id="50" idx="1"/>
            <a:endCxn id="6363" idx="3"/>
          </p:cNvCxnSpPr>
          <p:nvPr/>
        </p:nvCxnSpPr>
        <p:spPr>
          <a:xfrm rot="10800000" flipV="1">
            <a:off x="3423265" y="4335796"/>
            <a:ext cx="2704042" cy="1182585"/>
          </a:xfrm>
          <a:prstGeom prst="bentConnector3">
            <a:avLst>
              <a:gd name="adj1" fmla="val 78180"/>
            </a:avLst>
          </a:prstGeom>
          <a:ln>
            <a:solidFill>
              <a:srgbClr val="FF5C39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5" name="Connector: Elbow 2094">
            <a:extLst>
              <a:ext uri="{FF2B5EF4-FFF2-40B4-BE49-F238E27FC236}">
                <a16:creationId xmlns:a16="http://schemas.microsoft.com/office/drawing/2014/main" id="{F82B76AE-4F43-603A-D99D-7F3C22874BC0}"/>
              </a:ext>
            </a:extLst>
          </p:cNvPr>
          <p:cNvCxnSpPr>
            <a:cxnSpLocks/>
            <a:stCxn id="6426" idx="1"/>
            <a:endCxn id="6331" idx="3"/>
          </p:cNvCxnSpPr>
          <p:nvPr/>
        </p:nvCxnSpPr>
        <p:spPr>
          <a:xfrm rot="10800000">
            <a:off x="3423265" y="2008599"/>
            <a:ext cx="2350100" cy="1672852"/>
          </a:xfrm>
          <a:prstGeom prst="bentConnector3">
            <a:avLst>
              <a:gd name="adj1" fmla="val 66212"/>
            </a:avLst>
          </a:prstGeom>
          <a:ln>
            <a:solidFill>
              <a:schemeClr val="accent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9" name="Connector: Elbow 6148">
            <a:extLst>
              <a:ext uri="{FF2B5EF4-FFF2-40B4-BE49-F238E27FC236}">
                <a16:creationId xmlns:a16="http://schemas.microsoft.com/office/drawing/2014/main" id="{038FDBEA-E3A3-672D-4172-5F8AD0982C37}"/>
              </a:ext>
            </a:extLst>
          </p:cNvPr>
          <p:cNvCxnSpPr>
            <a:endCxn id="6332" idx="3"/>
          </p:cNvCxnSpPr>
          <p:nvPr/>
        </p:nvCxnSpPr>
        <p:spPr>
          <a:xfrm rot="10800000">
            <a:off x="3423266" y="2080357"/>
            <a:ext cx="2697999" cy="2249058"/>
          </a:xfrm>
          <a:prstGeom prst="bentConnector3">
            <a:avLst>
              <a:gd name="adj1" fmla="val 77961"/>
            </a:avLst>
          </a:prstGeom>
          <a:ln>
            <a:solidFill>
              <a:srgbClr val="FF5C39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2" name="Connector: Elbow 6151">
            <a:extLst>
              <a:ext uri="{FF2B5EF4-FFF2-40B4-BE49-F238E27FC236}">
                <a16:creationId xmlns:a16="http://schemas.microsoft.com/office/drawing/2014/main" id="{22AB2031-46D9-3CC4-5D58-A67643709016}"/>
              </a:ext>
            </a:extLst>
          </p:cNvPr>
          <p:cNvCxnSpPr>
            <a:cxnSpLocks/>
            <a:stCxn id="2077" idx="1"/>
            <a:endCxn id="6330" idx="3"/>
          </p:cNvCxnSpPr>
          <p:nvPr/>
        </p:nvCxnSpPr>
        <p:spPr>
          <a:xfrm rot="10800000">
            <a:off x="3423266" y="1935767"/>
            <a:ext cx="2406515" cy="639874"/>
          </a:xfrm>
          <a:prstGeom prst="bentConnector3">
            <a:avLst>
              <a:gd name="adj1" fmla="val 58866"/>
            </a:avLst>
          </a:prstGeom>
          <a:ln>
            <a:solidFill>
              <a:schemeClr val="bg1">
                <a:lumMod val="50000"/>
              </a:schemeClr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580625F-DDD6-DEDF-01CE-6672E8BE4FEF}"/>
              </a:ext>
            </a:extLst>
          </p:cNvPr>
          <p:cNvSpPr/>
          <p:nvPr/>
        </p:nvSpPr>
        <p:spPr bwMode="auto">
          <a:xfrm>
            <a:off x="2016707" y="751974"/>
            <a:ext cx="1407501" cy="4231478"/>
          </a:xfrm>
          <a:custGeom>
            <a:avLst/>
            <a:gdLst>
              <a:gd name="csX0" fmla="*/ 0 w 1407501"/>
              <a:gd name="csY0" fmla="*/ 119905 h 4231478"/>
              <a:gd name="csX1" fmla="*/ 119905 w 1407501"/>
              <a:gd name="csY1" fmla="*/ 0 h 4231478"/>
              <a:gd name="csX2" fmla="*/ 727104 w 1407501"/>
              <a:gd name="csY2" fmla="*/ 0 h 4231478"/>
              <a:gd name="csX3" fmla="*/ 1287596 w 1407501"/>
              <a:gd name="csY3" fmla="*/ 0 h 4231478"/>
              <a:gd name="csX4" fmla="*/ 1407501 w 1407501"/>
              <a:gd name="csY4" fmla="*/ 119905 h 4231478"/>
              <a:gd name="csX5" fmla="*/ 1407501 w 1407501"/>
              <a:gd name="csY5" fmla="*/ 610310 h 4231478"/>
              <a:gd name="csX6" fmla="*/ 1407501 w 1407501"/>
              <a:gd name="csY6" fmla="*/ 1100715 h 4231478"/>
              <a:gd name="csX7" fmla="*/ 1407501 w 1407501"/>
              <a:gd name="csY7" fmla="*/ 1551203 h 4231478"/>
              <a:gd name="csX8" fmla="*/ 1407501 w 1407501"/>
              <a:gd name="csY8" fmla="*/ 2041608 h 4231478"/>
              <a:gd name="csX9" fmla="*/ 1407501 w 1407501"/>
              <a:gd name="csY9" fmla="*/ 2691680 h 4231478"/>
              <a:gd name="csX10" fmla="*/ 1407501 w 1407501"/>
              <a:gd name="csY10" fmla="*/ 3261918 h 4231478"/>
              <a:gd name="csX11" fmla="*/ 1407501 w 1407501"/>
              <a:gd name="csY11" fmla="*/ 4111573 h 4231478"/>
              <a:gd name="csX12" fmla="*/ 1287596 w 1407501"/>
              <a:gd name="csY12" fmla="*/ 4231478 h 4231478"/>
              <a:gd name="csX13" fmla="*/ 703751 w 1407501"/>
              <a:gd name="csY13" fmla="*/ 4231478 h 4231478"/>
              <a:gd name="csX14" fmla="*/ 119905 w 1407501"/>
              <a:gd name="csY14" fmla="*/ 4231478 h 4231478"/>
              <a:gd name="csX15" fmla="*/ 0 w 1407501"/>
              <a:gd name="csY15" fmla="*/ 4111573 h 4231478"/>
              <a:gd name="csX16" fmla="*/ 0 w 1407501"/>
              <a:gd name="csY16" fmla="*/ 3461501 h 4231478"/>
              <a:gd name="csX17" fmla="*/ 0 w 1407501"/>
              <a:gd name="csY17" fmla="*/ 2891263 h 4231478"/>
              <a:gd name="csX18" fmla="*/ 0 w 1407501"/>
              <a:gd name="csY18" fmla="*/ 2360941 h 4231478"/>
              <a:gd name="csX19" fmla="*/ 0 w 1407501"/>
              <a:gd name="csY19" fmla="*/ 1790703 h 4231478"/>
              <a:gd name="csX20" fmla="*/ 0 w 1407501"/>
              <a:gd name="csY20" fmla="*/ 1180548 h 4231478"/>
              <a:gd name="csX21" fmla="*/ 0 w 1407501"/>
              <a:gd name="csY21" fmla="*/ 119905 h 42314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407501" h="4231478" fill="none" extrusionOk="0">
                <a:moveTo>
                  <a:pt x="0" y="119905"/>
                </a:moveTo>
                <a:cubicBezTo>
                  <a:pt x="-5174" y="53342"/>
                  <a:pt x="49821" y="-2552"/>
                  <a:pt x="119905" y="0"/>
                </a:cubicBezTo>
                <a:cubicBezTo>
                  <a:pt x="401982" y="-22178"/>
                  <a:pt x="472645" y="8456"/>
                  <a:pt x="727104" y="0"/>
                </a:cubicBezTo>
                <a:cubicBezTo>
                  <a:pt x="981563" y="-8456"/>
                  <a:pt x="1115512" y="55655"/>
                  <a:pt x="1287596" y="0"/>
                </a:cubicBezTo>
                <a:cubicBezTo>
                  <a:pt x="1360267" y="-7088"/>
                  <a:pt x="1416641" y="47969"/>
                  <a:pt x="1407501" y="119905"/>
                </a:cubicBezTo>
                <a:cubicBezTo>
                  <a:pt x="1465993" y="300967"/>
                  <a:pt x="1374703" y="491541"/>
                  <a:pt x="1407501" y="610310"/>
                </a:cubicBezTo>
                <a:cubicBezTo>
                  <a:pt x="1440299" y="729080"/>
                  <a:pt x="1403556" y="951830"/>
                  <a:pt x="1407501" y="1100715"/>
                </a:cubicBezTo>
                <a:cubicBezTo>
                  <a:pt x="1411446" y="1249601"/>
                  <a:pt x="1359785" y="1328878"/>
                  <a:pt x="1407501" y="1551203"/>
                </a:cubicBezTo>
                <a:cubicBezTo>
                  <a:pt x="1455217" y="1773528"/>
                  <a:pt x="1375815" y="1845102"/>
                  <a:pt x="1407501" y="2041608"/>
                </a:cubicBezTo>
                <a:cubicBezTo>
                  <a:pt x="1439187" y="2238115"/>
                  <a:pt x="1356173" y="2391441"/>
                  <a:pt x="1407501" y="2691680"/>
                </a:cubicBezTo>
                <a:cubicBezTo>
                  <a:pt x="1458829" y="2991919"/>
                  <a:pt x="1387338" y="3003502"/>
                  <a:pt x="1407501" y="3261918"/>
                </a:cubicBezTo>
                <a:cubicBezTo>
                  <a:pt x="1427664" y="3520334"/>
                  <a:pt x="1360103" y="3755173"/>
                  <a:pt x="1407501" y="4111573"/>
                </a:cubicBezTo>
                <a:cubicBezTo>
                  <a:pt x="1400853" y="4193502"/>
                  <a:pt x="1346889" y="4248425"/>
                  <a:pt x="1287596" y="4231478"/>
                </a:cubicBezTo>
                <a:cubicBezTo>
                  <a:pt x="1051654" y="4236396"/>
                  <a:pt x="836029" y="4176453"/>
                  <a:pt x="703751" y="4231478"/>
                </a:cubicBezTo>
                <a:cubicBezTo>
                  <a:pt x="571473" y="4286503"/>
                  <a:pt x="274457" y="4169599"/>
                  <a:pt x="119905" y="4231478"/>
                </a:cubicBezTo>
                <a:cubicBezTo>
                  <a:pt x="60798" y="4230430"/>
                  <a:pt x="2252" y="4185295"/>
                  <a:pt x="0" y="4111573"/>
                </a:cubicBezTo>
                <a:cubicBezTo>
                  <a:pt x="-71147" y="3965782"/>
                  <a:pt x="67305" y="3733945"/>
                  <a:pt x="0" y="3461501"/>
                </a:cubicBezTo>
                <a:cubicBezTo>
                  <a:pt x="-67305" y="3189057"/>
                  <a:pt x="17350" y="3018616"/>
                  <a:pt x="0" y="2891263"/>
                </a:cubicBezTo>
                <a:cubicBezTo>
                  <a:pt x="-17350" y="2763910"/>
                  <a:pt x="13010" y="2500038"/>
                  <a:pt x="0" y="2360941"/>
                </a:cubicBezTo>
                <a:cubicBezTo>
                  <a:pt x="-13010" y="2221844"/>
                  <a:pt x="19976" y="1961678"/>
                  <a:pt x="0" y="1790703"/>
                </a:cubicBezTo>
                <a:cubicBezTo>
                  <a:pt x="-19976" y="1619728"/>
                  <a:pt x="63008" y="1405125"/>
                  <a:pt x="0" y="1180548"/>
                </a:cubicBezTo>
                <a:cubicBezTo>
                  <a:pt x="-63008" y="955972"/>
                  <a:pt x="43513" y="488727"/>
                  <a:pt x="0" y="119905"/>
                </a:cubicBezTo>
                <a:close/>
              </a:path>
              <a:path w="1407501" h="4231478" stroke="0" extrusionOk="0">
                <a:moveTo>
                  <a:pt x="0" y="119905"/>
                </a:moveTo>
                <a:cubicBezTo>
                  <a:pt x="-272" y="56119"/>
                  <a:pt x="50638" y="11569"/>
                  <a:pt x="119905" y="0"/>
                </a:cubicBezTo>
                <a:cubicBezTo>
                  <a:pt x="306297" y="-48320"/>
                  <a:pt x="452320" y="65722"/>
                  <a:pt x="668720" y="0"/>
                </a:cubicBezTo>
                <a:cubicBezTo>
                  <a:pt x="885121" y="-65722"/>
                  <a:pt x="1038953" y="49226"/>
                  <a:pt x="1287596" y="0"/>
                </a:cubicBezTo>
                <a:cubicBezTo>
                  <a:pt x="1355171" y="-7384"/>
                  <a:pt x="1409112" y="51437"/>
                  <a:pt x="1407501" y="119905"/>
                </a:cubicBezTo>
                <a:cubicBezTo>
                  <a:pt x="1445309" y="388167"/>
                  <a:pt x="1360981" y="549755"/>
                  <a:pt x="1407501" y="769977"/>
                </a:cubicBezTo>
                <a:cubicBezTo>
                  <a:pt x="1454021" y="990199"/>
                  <a:pt x="1370931" y="1079098"/>
                  <a:pt x="1407501" y="1380132"/>
                </a:cubicBezTo>
                <a:cubicBezTo>
                  <a:pt x="1444071" y="1681166"/>
                  <a:pt x="1356986" y="1722769"/>
                  <a:pt x="1407501" y="1990287"/>
                </a:cubicBezTo>
                <a:cubicBezTo>
                  <a:pt x="1458016" y="2257805"/>
                  <a:pt x="1389443" y="2429149"/>
                  <a:pt x="1407501" y="2600442"/>
                </a:cubicBezTo>
                <a:cubicBezTo>
                  <a:pt x="1425559" y="2771736"/>
                  <a:pt x="1394600" y="2933814"/>
                  <a:pt x="1407501" y="3170680"/>
                </a:cubicBezTo>
                <a:cubicBezTo>
                  <a:pt x="1420402" y="3407546"/>
                  <a:pt x="1391716" y="3450805"/>
                  <a:pt x="1407501" y="3621168"/>
                </a:cubicBezTo>
                <a:cubicBezTo>
                  <a:pt x="1423286" y="3791531"/>
                  <a:pt x="1352136" y="3962838"/>
                  <a:pt x="1407501" y="4111573"/>
                </a:cubicBezTo>
                <a:cubicBezTo>
                  <a:pt x="1395519" y="4186918"/>
                  <a:pt x="1342624" y="4241457"/>
                  <a:pt x="1287596" y="4231478"/>
                </a:cubicBezTo>
                <a:cubicBezTo>
                  <a:pt x="1074515" y="4263009"/>
                  <a:pt x="973444" y="4229193"/>
                  <a:pt x="715427" y="4231478"/>
                </a:cubicBezTo>
                <a:cubicBezTo>
                  <a:pt x="457410" y="4233763"/>
                  <a:pt x="261018" y="4165729"/>
                  <a:pt x="119905" y="4231478"/>
                </a:cubicBezTo>
                <a:cubicBezTo>
                  <a:pt x="48929" y="4214984"/>
                  <a:pt x="-179" y="4181201"/>
                  <a:pt x="0" y="4111573"/>
                </a:cubicBezTo>
                <a:cubicBezTo>
                  <a:pt x="-45479" y="3814704"/>
                  <a:pt x="23263" y="3708630"/>
                  <a:pt x="0" y="3461501"/>
                </a:cubicBezTo>
                <a:cubicBezTo>
                  <a:pt x="-23263" y="3214372"/>
                  <a:pt x="25389" y="3079473"/>
                  <a:pt x="0" y="2891263"/>
                </a:cubicBezTo>
                <a:cubicBezTo>
                  <a:pt x="-25389" y="2703053"/>
                  <a:pt x="37783" y="2477615"/>
                  <a:pt x="0" y="2321025"/>
                </a:cubicBezTo>
                <a:cubicBezTo>
                  <a:pt x="-37783" y="2164435"/>
                  <a:pt x="27682" y="2048956"/>
                  <a:pt x="0" y="1790703"/>
                </a:cubicBezTo>
                <a:cubicBezTo>
                  <a:pt x="-27682" y="1532450"/>
                  <a:pt x="28627" y="1426155"/>
                  <a:pt x="0" y="1180548"/>
                </a:cubicBezTo>
                <a:cubicBezTo>
                  <a:pt x="-28627" y="934941"/>
                  <a:pt x="8350" y="875347"/>
                  <a:pt x="0" y="650227"/>
                </a:cubicBezTo>
                <a:cubicBezTo>
                  <a:pt x="-8350" y="425107"/>
                  <a:pt x="38153" y="303531"/>
                  <a:pt x="0" y="119905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945731981">
                  <a:prstGeom prst="roundRect">
                    <a:avLst>
                      <a:gd name="adj" fmla="val 8519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80" name="Rectangle: Rounded Corners 3179">
            <a:extLst>
              <a:ext uri="{FF2B5EF4-FFF2-40B4-BE49-F238E27FC236}">
                <a16:creationId xmlns:a16="http://schemas.microsoft.com/office/drawing/2014/main" id="{28F6CAE0-2B81-BD81-354E-D6BBF799C3EF}"/>
              </a:ext>
            </a:extLst>
          </p:cNvPr>
          <p:cNvSpPr/>
          <p:nvPr/>
        </p:nvSpPr>
        <p:spPr bwMode="auto">
          <a:xfrm>
            <a:off x="2022887" y="5061257"/>
            <a:ext cx="1407501" cy="1291893"/>
          </a:xfrm>
          <a:custGeom>
            <a:avLst/>
            <a:gdLst>
              <a:gd name="csX0" fmla="*/ 0 w 1407501"/>
              <a:gd name="csY0" fmla="*/ 110056 h 1291893"/>
              <a:gd name="csX1" fmla="*/ 110056 w 1407501"/>
              <a:gd name="csY1" fmla="*/ 0 h 1291893"/>
              <a:gd name="csX2" fmla="*/ 691877 w 1407501"/>
              <a:gd name="csY2" fmla="*/ 0 h 1291893"/>
              <a:gd name="csX3" fmla="*/ 1297445 w 1407501"/>
              <a:gd name="csY3" fmla="*/ 0 h 1291893"/>
              <a:gd name="csX4" fmla="*/ 1407501 w 1407501"/>
              <a:gd name="csY4" fmla="*/ 110056 h 1291893"/>
              <a:gd name="csX5" fmla="*/ 1407501 w 1407501"/>
              <a:gd name="csY5" fmla="*/ 635229 h 1291893"/>
              <a:gd name="csX6" fmla="*/ 1407501 w 1407501"/>
              <a:gd name="csY6" fmla="*/ 1181837 h 1291893"/>
              <a:gd name="csX7" fmla="*/ 1297445 w 1407501"/>
              <a:gd name="csY7" fmla="*/ 1291893 h 1291893"/>
              <a:gd name="csX8" fmla="*/ 691877 w 1407501"/>
              <a:gd name="csY8" fmla="*/ 1291893 h 1291893"/>
              <a:gd name="csX9" fmla="*/ 110056 w 1407501"/>
              <a:gd name="csY9" fmla="*/ 1291893 h 1291893"/>
              <a:gd name="csX10" fmla="*/ 0 w 1407501"/>
              <a:gd name="csY10" fmla="*/ 1181837 h 1291893"/>
              <a:gd name="csX11" fmla="*/ 0 w 1407501"/>
              <a:gd name="csY11" fmla="*/ 624511 h 1291893"/>
              <a:gd name="csX12" fmla="*/ 0 w 1407501"/>
              <a:gd name="csY12" fmla="*/ 110056 h 12918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407501" h="1291893" fill="none" extrusionOk="0">
                <a:moveTo>
                  <a:pt x="0" y="110056"/>
                </a:moveTo>
                <a:cubicBezTo>
                  <a:pt x="-12073" y="58294"/>
                  <a:pt x="37836" y="-7523"/>
                  <a:pt x="110056" y="0"/>
                </a:cubicBezTo>
                <a:cubicBezTo>
                  <a:pt x="292564" y="-3438"/>
                  <a:pt x="463131" y="7005"/>
                  <a:pt x="691877" y="0"/>
                </a:cubicBezTo>
                <a:cubicBezTo>
                  <a:pt x="920623" y="-7005"/>
                  <a:pt x="1064594" y="4858"/>
                  <a:pt x="1297445" y="0"/>
                </a:cubicBezTo>
                <a:cubicBezTo>
                  <a:pt x="1348606" y="3234"/>
                  <a:pt x="1394234" y="47580"/>
                  <a:pt x="1407501" y="110056"/>
                </a:cubicBezTo>
                <a:cubicBezTo>
                  <a:pt x="1410255" y="360148"/>
                  <a:pt x="1370969" y="503155"/>
                  <a:pt x="1407501" y="635229"/>
                </a:cubicBezTo>
                <a:cubicBezTo>
                  <a:pt x="1444033" y="767303"/>
                  <a:pt x="1393484" y="1004256"/>
                  <a:pt x="1407501" y="1181837"/>
                </a:cubicBezTo>
                <a:cubicBezTo>
                  <a:pt x="1408123" y="1240781"/>
                  <a:pt x="1355905" y="1283060"/>
                  <a:pt x="1297445" y="1291893"/>
                </a:cubicBezTo>
                <a:cubicBezTo>
                  <a:pt x="1027266" y="1314832"/>
                  <a:pt x="833766" y="1254913"/>
                  <a:pt x="691877" y="1291893"/>
                </a:cubicBezTo>
                <a:cubicBezTo>
                  <a:pt x="549988" y="1328873"/>
                  <a:pt x="340258" y="1250676"/>
                  <a:pt x="110056" y="1291893"/>
                </a:cubicBezTo>
                <a:cubicBezTo>
                  <a:pt x="52760" y="1280051"/>
                  <a:pt x="-1413" y="1240171"/>
                  <a:pt x="0" y="1181837"/>
                </a:cubicBezTo>
                <a:cubicBezTo>
                  <a:pt x="-37332" y="977752"/>
                  <a:pt x="16894" y="859757"/>
                  <a:pt x="0" y="624511"/>
                </a:cubicBezTo>
                <a:cubicBezTo>
                  <a:pt x="-16894" y="389265"/>
                  <a:pt x="3010" y="346877"/>
                  <a:pt x="0" y="110056"/>
                </a:cubicBezTo>
                <a:close/>
              </a:path>
              <a:path w="1407501" h="1291893" stroke="0" extrusionOk="0">
                <a:moveTo>
                  <a:pt x="0" y="110056"/>
                </a:moveTo>
                <a:cubicBezTo>
                  <a:pt x="3685" y="48622"/>
                  <a:pt x="61684" y="9645"/>
                  <a:pt x="110056" y="0"/>
                </a:cubicBezTo>
                <a:cubicBezTo>
                  <a:pt x="398319" y="-68909"/>
                  <a:pt x="524015" y="5684"/>
                  <a:pt x="727498" y="0"/>
                </a:cubicBezTo>
                <a:cubicBezTo>
                  <a:pt x="930981" y="-5684"/>
                  <a:pt x="1176560" y="47469"/>
                  <a:pt x="1297445" y="0"/>
                </a:cubicBezTo>
                <a:cubicBezTo>
                  <a:pt x="1345731" y="-7091"/>
                  <a:pt x="1419598" y="44022"/>
                  <a:pt x="1407501" y="110056"/>
                </a:cubicBezTo>
                <a:cubicBezTo>
                  <a:pt x="1455788" y="314616"/>
                  <a:pt x="1365151" y="477468"/>
                  <a:pt x="1407501" y="645947"/>
                </a:cubicBezTo>
                <a:cubicBezTo>
                  <a:pt x="1449851" y="814426"/>
                  <a:pt x="1392718" y="946683"/>
                  <a:pt x="1407501" y="1181837"/>
                </a:cubicBezTo>
                <a:cubicBezTo>
                  <a:pt x="1405964" y="1238121"/>
                  <a:pt x="1359732" y="1290494"/>
                  <a:pt x="1297445" y="1291893"/>
                </a:cubicBezTo>
                <a:cubicBezTo>
                  <a:pt x="1128283" y="1311722"/>
                  <a:pt x="1008332" y="1238965"/>
                  <a:pt x="727498" y="1291893"/>
                </a:cubicBezTo>
                <a:cubicBezTo>
                  <a:pt x="446664" y="1344821"/>
                  <a:pt x="244572" y="1234480"/>
                  <a:pt x="110056" y="1291893"/>
                </a:cubicBezTo>
                <a:cubicBezTo>
                  <a:pt x="51848" y="1284089"/>
                  <a:pt x="13909" y="1249242"/>
                  <a:pt x="0" y="1181837"/>
                </a:cubicBezTo>
                <a:cubicBezTo>
                  <a:pt x="-23026" y="1064085"/>
                  <a:pt x="49863" y="770422"/>
                  <a:pt x="0" y="624511"/>
                </a:cubicBezTo>
                <a:cubicBezTo>
                  <a:pt x="-49863" y="478600"/>
                  <a:pt x="1667" y="288901"/>
                  <a:pt x="0" y="110056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538697016">
                  <a:prstGeom prst="roundRect">
                    <a:avLst>
                      <a:gd name="adj" fmla="val 8519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123" name="Rectangle: Rounded Corners 5122">
            <a:extLst>
              <a:ext uri="{FF2B5EF4-FFF2-40B4-BE49-F238E27FC236}">
                <a16:creationId xmlns:a16="http://schemas.microsoft.com/office/drawing/2014/main" id="{E6D2E349-B45B-53A3-C185-C5BFC6957AFF}"/>
              </a:ext>
            </a:extLst>
          </p:cNvPr>
          <p:cNvSpPr/>
          <p:nvPr/>
        </p:nvSpPr>
        <p:spPr bwMode="auto">
          <a:xfrm>
            <a:off x="5423890" y="2083923"/>
            <a:ext cx="2228965" cy="995253"/>
          </a:xfrm>
          <a:custGeom>
            <a:avLst/>
            <a:gdLst>
              <a:gd name="csX0" fmla="*/ 0 w 2228965"/>
              <a:gd name="csY0" fmla="*/ 84786 h 995253"/>
              <a:gd name="csX1" fmla="*/ 84786 w 2228965"/>
              <a:gd name="csY1" fmla="*/ 0 h 995253"/>
              <a:gd name="csX2" fmla="*/ 599634 w 2228965"/>
              <a:gd name="csY2" fmla="*/ 0 h 995253"/>
              <a:gd name="csX3" fmla="*/ 1114483 w 2228965"/>
              <a:gd name="csY3" fmla="*/ 0 h 995253"/>
              <a:gd name="csX4" fmla="*/ 1588143 w 2228965"/>
              <a:gd name="csY4" fmla="*/ 0 h 995253"/>
              <a:gd name="csX5" fmla="*/ 2144179 w 2228965"/>
              <a:gd name="csY5" fmla="*/ 0 h 995253"/>
              <a:gd name="csX6" fmla="*/ 2228965 w 2228965"/>
              <a:gd name="csY6" fmla="*/ 84786 h 995253"/>
              <a:gd name="csX7" fmla="*/ 2228965 w 2228965"/>
              <a:gd name="csY7" fmla="*/ 489370 h 995253"/>
              <a:gd name="csX8" fmla="*/ 2228965 w 2228965"/>
              <a:gd name="csY8" fmla="*/ 910467 h 995253"/>
              <a:gd name="csX9" fmla="*/ 2144179 w 2228965"/>
              <a:gd name="csY9" fmla="*/ 995253 h 995253"/>
              <a:gd name="csX10" fmla="*/ 1588143 w 2228965"/>
              <a:gd name="csY10" fmla="*/ 995253 h 995253"/>
              <a:gd name="csX11" fmla="*/ 1135076 w 2228965"/>
              <a:gd name="csY11" fmla="*/ 995253 h 995253"/>
              <a:gd name="csX12" fmla="*/ 620228 w 2228965"/>
              <a:gd name="csY12" fmla="*/ 995253 h 995253"/>
              <a:gd name="csX13" fmla="*/ 84786 w 2228965"/>
              <a:gd name="csY13" fmla="*/ 995253 h 995253"/>
              <a:gd name="csX14" fmla="*/ 0 w 2228965"/>
              <a:gd name="csY14" fmla="*/ 910467 h 995253"/>
              <a:gd name="csX15" fmla="*/ 0 w 2228965"/>
              <a:gd name="csY15" fmla="*/ 481113 h 995253"/>
              <a:gd name="csX16" fmla="*/ 0 w 2228965"/>
              <a:gd name="csY16" fmla="*/ 84786 h 9952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228965" h="995253" fill="none" extrusionOk="0">
                <a:moveTo>
                  <a:pt x="0" y="84786"/>
                </a:moveTo>
                <a:cubicBezTo>
                  <a:pt x="891" y="30280"/>
                  <a:pt x="30208" y="-9029"/>
                  <a:pt x="84786" y="0"/>
                </a:cubicBezTo>
                <a:cubicBezTo>
                  <a:pt x="207055" y="-40799"/>
                  <a:pt x="467369" y="12007"/>
                  <a:pt x="599634" y="0"/>
                </a:cubicBezTo>
                <a:cubicBezTo>
                  <a:pt x="731899" y="-12007"/>
                  <a:pt x="905037" y="37295"/>
                  <a:pt x="1114483" y="0"/>
                </a:cubicBezTo>
                <a:cubicBezTo>
                  <a:pt x="1323929" y="-37295"/>
                  <a:pt x="1483622" y="48532"/>
                  <a:pt x="1588143" y="0"/>
                </a:cubicBezTo>
                <a:cubicBezTo>
                  <a:pt x="1692664" y="-48532"/>
                  <a:pt x="1952628" y="23131"/>
                  <a:pt x="2144179" y="0"/>
                </a:cubicBezTo>
                <a:cubicBezTo>
                  <a:pt x="2188788" y="2870"/>
                  <a:pt x="2230458" y="36195"/>
                  <a:pt x="2228965" y="84786"/>
                </a:cubicBezTo>
                <a:cubicBezTo>
                  <a:pt x="2241394" y="238436"/>
                  <a:pt x="2190764" y="311753"/>
                  <a:pt x="2228965" y="489370"/>
                </a:cubicBezTo>
                <a:cubicBezTo>
                  <a:pt x="2267166" y="666987"/>
                  <a:pt x="2189308" y="754890"/>
                  <a:pt x="2228965" y="910467"/>
                </a:cubicBezTo>
                <a:cubicBezTo>
                  <a:pt x="2227895" y="954976"/>
                  <a:pt x="2193777" y="983447"/>
                  <a:pt x="2144179" y="995253"/>
                </a:cubicBezTo>
                <a:cubicBezTo>
                  <a:pt x="1882090" y="1039991"/>
                  <a:pt x="1756851" y="986776"/>
                  <a:pt x="1588143" y="995253"/>
                </a:cubicBezTo>
                <a:cubicBezTo>
                  <a:pt x="1419435" y="1003730"/>
                  <a:pt x="1249285" y="989910"/>
                  <a:pt x="1135076" y="995253"/>
                </a:cubicBezTo>
                <a:cubicBezTo>
                  <a:pt x="1020867" y="1000596"/>
                  <a:pt x="863179" y="991092"/>
                  <a:pt x="620228" y="995253"/>
                </a:cubicBezTo>
                <a:cubicBezTo>
                  <a:pt x="377277" y="999414"/>
                  <a:pt x="234950" y="957410"/>
                  <a:pt x="84786" y="995253"/>
                </a:cubicBezTo>
                <a:cubicBezTo>
                  <a:pt x="41139" y="996990"/>
                  <a:pt x="-34" y="950360"/>
                  <a:pt x="0" y="910467"/>
                </a:cubicBezTo>
                <a:cubicBezTo>
                  <a:pt x="-12933" y="745435"/>
                  <a:pt x="49908" y="574650"/>
                  <a:pt x="0" y="481113"/>
                </a:cubicBezTo>
                <a:cubicBezTo>
                  <a:pt x="-49908" y="387576"/>
                  <a:pt x="23035" y="171091"/>
                  <a:pt x="0" y="84786"/>
                </a:cubicBezTo>
                <a:close/>
              </a:path>
              <a:path w="2228965" h="995253" stroke="0" extrusionOk="0">
                <a:moveTo>
                  <a:pt x="0" y="84786"/>
                </a:moveTo>
                <a:cubicBezTo>
                  <a:pt x="-5209" y="37705"/>
                  <a:pt x="26008" y="1714"/>
                  <a:pt x="84786" y="0"/>
                </a:cubicBezTo>
                <a:cubicBezTo>
                  <a:pt x="271940" y="-15568"/>
                  <a:pt x="365805" y="2812"/>
                  <a:pt x="579040" y="0"/>
                </a:cubicBezTo>
                <a:cubicBezTo>
                  <a:pt x="792275" y="-2812"/>
                  <a:pt x="825667" y="27082"/>
                  <a:pt x="1052701" y="0"/>
                </a:cubicBezTo>
                <a:cubicBezTo>
                  <a:pt x="1279735" y="-27082"/>
                  <a:pt x="1372146" y="33108"/>
                  <a:pt x="1505767" y="0"/>
                </a:cubicBezTo>
                <a:cubicBezTo>
                  <a:pt x="1639388" y="-33108"/>
                  <a:pt x="1951336" y="7185"/>
                  <a:pt x="2144179" y="0"/>
                </a:cubicBezTo>
                <a:cubicBezTo>
                  <a:pt x="2191270" y="1848"/>
                  <a:pt x="2236948" y="31659"/>
                  <a:pt x="2228965" y="84786"/>
                </a:cubicBezTo>
                <a:cubicBezTo>
                  <a:pt x="2267979" y="225444"/>
                  <a:pt x="2228146" y="356697"/>
                  <a:pt x="2228965" y="481113"/>
                </a:cubicBezTo>
                <a:cubicBezTo>
                  <a:pt x="2229784" y="605529"/>
                  <a:pt x="2179094" y="803554"/>
                  <a:pt x="2228965" y="910467"/>
                </a:cubicBezTo>
                <a:cubicBezTo>
                  <a:pt x="2232886" y="951724"/>
                  <a:pt x="2191180" y="981239"/>
                  <a:pt x="2144179" y="995253"/>
                </a:cubicBezTo>
                <a:cubicBezTo>
                  <a:pt x="2011171" y="1001989"/>
                  <a:pt x="1768162" y="965112"/>
                  <a:pt x="1608737" y="995253"/>
                </a:cubicBezTo>
                <a:cubicBezTo>
                  <a:pt x="1449312" y="1025394"/>
                  <a:pt x="1212338" y="963418"/>
                  <a:pt x="1052701" y="995253"/>
                </a:cubicBezTo>
                <a:cubicBezTo>
                  <a:pt x="893064" y="1027088"/>
                  <a:pt x="757227" y="944361"/>
                  <a:pt x="558446" y="995253"/>
                </a:cubicBezTo>
                <a:cubicBezTo>
                  <a:pt x="359665" y="1046145"/>
                  <a:pt x="309923" y="941722"/>
                  <a:pt x="84786" y="995253"/>
                </a:cubicBezTo>
                <a:cubicBezTo>
                  <a:pt x="32334" y="1004633"/>
                  <a:pt x="-8304" y="964526"/>
                  <a:pt x="0" y="910467"/>
                </a:cubicBezTo>
                <a:cubicBezTo>
                  <a:pt x="-37191" y="781918"/>
                  <a:pt x="29035" y="633192"/>
                  <a:pt x="0" y="514140"/>
                </a:cubicBezTo>
                <a:cubicBezTo>
                  <a:pt x="-29035" y="395088"/>
                  <a:pt x="45469" y="270859"/>
                  <a:pt x="0" y="84786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4041128975">
                  <a:prstGeom prst="roundRect">
                    <a:avLst>
                      <a:gd name="adj" fmla="val 8519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137" name="Rectangle: Rounded Corners 5136">
            <a:extLst>
              <a:ext uri="{FF2B5EF4-FFF2-40B4-BE49-F238E27FC236}">
                <a16:creationId xmlns:a16="http://schemas.microsoft.com/office/drawing/2014/main" id="{9E4C97C0-CC43-CE7F-46AA-03E95E87EBE4}"/>
              </a:ext>
            </a:extLst>
          </p:cNvPr>
          <p:cNvSpPr/>
          <p:nvPr/>
        </p:nvSpPr>
        <p:spPr bwMode="auto">
          <a:xfrm>
            <a:off x="5423890" y="3004025"/>
            <a:ext cx="2228965" cy="995253"/>
          </a:xfrm>
          <a:custGeom>
            <a:avLst/>
            <a:gdLst>
              <a:gd name="csX0" fmla="*/ 0 w 2228965"/>
              <a:gd name="csY0" fmla="*/ 84786 h 995253"/>
              <a:gd name="csX1" fmla="*/ 84786 w 2228965"/>
              <a:gd name="csY1" fmla="*/ 0 h 995253"/>
              <a:gd name="csX2" fmla="*/ 640822 w 2228965"/>
              <a:gd name="csY2" fmla="*/ 0 h 995253"/>
              <a:gd name="csX3" fmla="*/ 1155670 w 2228965"/>
              <a:gd name="csY3" fmla="*/ 0 h 995253"/>
              <a:gd name="csX4" fmla="*/ 1691113 w 2228965"/>
              <a:gd name="csY4" fmla="*/ 0 h 995253"/>
              <a:gd name="csX5" fmla="*/ 2144179 w 2228965"/>
              <a:gd name="csY5" fmla="*/ 0 h 995253"/>
              <a:gd name="csX6" fmla="*/ 2228965 w 2228965"/>
              <a:gd name="csY6" fmla="*/ 84786 h 995253"/>
              <a:gd name="csX7" fmla="*/ 2228965 w 2228965"/>
              <a:gd name="csY7" fmla="*/ 505883 h 995253"/>
              <a:gd name="csX8" fmla="*/ 2228965 w 2228965"/>
              <a:gd name="csY8" fmla="*/ 910467 h 995253"/>
              <a:gd name="csX9" fmla="*/ 2144179 w 2228965"/>
              <a:gd name="csY9" fmla="*/ 995253 h 995253"/>
              <a:gd name="csX10" fmla="*/ 1670519 w 2228965"/>
              <a:gd name="csY10" fmla="*/ 995253 h 995253"/>
              <a:gd name="csX11" fmla="*/ 1155670 w 2228965"/>
              <a:gd name="csY11" fmla="*/ 995253 h 995253"/>
              <a:gd name="csX12" fmla="*/ 682010 w 2228965"/>
              <a:gd name="csY12" fmla="*/ 995253 h 995253"/>
              <a:gd name="csX13" fmla="*/ 84786 w 2228965"/>
              <a:gd name="csY13" fmla="*/ 995253 h 995253"/>
              <a:gd name="csX14" fmla="*/ 0 w 2228965"/>
              <a:gd name="csY14" fmla="*/ 910467 h 995253"/>
              <a:gd name="csX15" fmla="*/ 0 w 2228965"/>
              <a:gd name="csY15" fmla="*/ 514140 h 995253"/>
              <a:gd name="csX16" fmla="*/ 0 w 2228965"/>
              <a:gd name="csY16" fmla="*/ 84786 h 9952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228965" h="995253" fill="none" extrusionOk="0">
                <a:moveTo>
                  <a:pt x="0" y="84786"/>
                </a:moveTo>
                <a:cubicBezTo>
                  <a:pt x="31" y="42996"/>
                  <a:pt x="33896" y="114"/>
                  <a:pt x="84786" y="0"/>
                </a:cubicBezTo>
                <a:cubicBezTo>
                  <a:pt x="319170" y="-3198"/>
                  <a:pt x="520720" y="60807"/>
                  <a:pt x="640822" y="0"/>
                </a:cubicBezTo>
                <a:cubicBezTo>
                  <a:pt x="760924" y="-60807"/>
                  <a:pt x="1014669" y="12757"/>
                  <a:pt x="1155670" y="0"/>
                </a:cubicBezTo>
                <a:cubicBezTo>
                  <a:pt x="1296671" y="-12757"/>
                  <a:pt x="1516979" y="29619"/>
                  <a:pt x="1691113" y="0"/>
                </a:cubicBezTo>
                <a:cubicBezTo>
                  <a:pt x="1865247" y="-29619"/>
                  <a:pt x="2004131" y="39949"/>
                  <a:pt x="2144179" y="0"/>
                </a:cubicBezTo>
                <a:cubicBezTo>
                  <a:pt x="2195341" y="-2773"/>
                  <a:pt x="2235600" y="41102"/>
                  <a:pt x="2228965" y="84786"/>
                </a:cubicBezTo>
                <a:cubicBezTo>
                  <a:pt x="2243359" y="229998"/>
                  <a:pt x="2204698" y="301958"/>
                  <a:pt x="2228965" y="505883"/>
                </a:cubicBezTo>
                <a:cubicBezTo>
                  <a:pt x="2253232" y="709808"/>
                  <a:pt x="2205336" y="764697"/>
                  <a:pt x="2228965" y="910467"/>
                </a:cubicBezTo>
                <a:cubicBezTo>
                  <a:pt x="2226397" y="957775"/>
                  <a:pt x="2198781" y="1006210"/>
                  <a:pt x="2144179" y="995253"/>
                </a:cubicBezTo>
                <a:cubicBezTo>
                  <a:pt x="1933449" y="1044340"/>
                  <a:pt x="1795589" y="972477"/>
                  <a:pt x="1670519" y="995253"/>
                </a:cubicBezTo>
                <a:cubicBezTo>
                  <a:pt x="1545449" y="1018029"/>
                  <a:pt x="1384708" y="950568"/>
                  <a:pt x="1155670" y="995253"/>
                </a:cubicBezTo>
                <a:cubicBezTo>
                  <a:pt x="926632" y="1039938"/>
                  <a:pt x="884401" y="963039"/>
                  <a:pt x="682010" y="995253"/>
                </a:cubicBezTo>
                <a:cubicBezTo>
                  <a:pt x="479619" y="1027467"/>
                  <a:pt x="300177" y="979972"/>
                  <a:pt x="84786" y="995253"/>
                </a:cubicBezTo>
                <a:cubicBezTo>
                  <a:pt x="46997" y="989941"/>
                  <a:pt x="-7737" y="947015"/>
                  <a:pt x="0" y="910467"/>
                </a:cubicBezTo>
                <a:cubicBezTo>
                  <a:pt x="-37653" y="716460"/>
                  <a:pt x="19660" y="614316"/>
                  <a:pt x="0" y="514140"/>
                </a:cubicBezTo>
                <a:cubicBezTo>
                  <a:pt x="-19660" y="413964"/>
                  <a:pt x="44442" y="234397"/>
                  <a:pt x="0" y="84786"/>
                </a:cubicBezTo>
                <a:close/>
              </a:path>
              <a:path w="2228965" h="995253" stroke="0" extrusionOk="0">
                <a:moveTo>
                  <a:pt x="0" y="84786"/>
                </a:moveTo>
                <a:cubicBezTo>
                  <a:pt x="2220" y="41103"/>
                  <a:pt x="30664" y="7177"/>
                  <a:pt x="84786" y="0"/>
                </a:cubicBezTo>
                <a:cubicBezTo>
                  <a:pt x="255165" y="-4997"/>
                  <a:pt x="479365" y="47895"/>
                  <a:pt x="579040" y="0"/>
                </a:cubicBezTo>
                <a:cubicBezTo>
                  <a:pt x="678715" y="-47895"/>
                  <a:pt x="849606" y="24745"/>
                  <a:pt x="1114483" y="0"/>
                </a:cubicBezTo>
                <a:cubicBezTo>
                  <a:pt x="1379360" y="-24745"/>
                  <a:pt x="1475417" y="44725"/>
                  <a:pt x="1670519" y="0"/>
                </a:cubicBezTo>
                <a:cubicBezTo>
                  <a:pt x="1865621" y="-44725"/>
                  <a:pt x="2022538" y="46525"/>
                  <a:pt x="2144179" y="0"/>
                </a:cubicBezTo>
                <a:cubicBezTo>
                  <a:pt x="2181837" y="2347"/>
                  <a:pt x="2220101" y="37832"/>
                  <a:pt x="2228965" y="84786"/>
                </a:cubicBezTo>
                <a:cubicBezTo>
                  <a:pt x="2258593" y="181013"/>
                  <a:pt x="2212180" y="330884"/>
                  <a:pt x="2228965" y="514140"/>
                </a:cubicBezTo>
                <a:cubicBezTo>
                  <a:pt x="2245750" y="697396"/>
                  <a:pt x="2193438" y="745571"/>
                  <a:pt x="2228965" y="910467"/>
                </a:cubicBezTo>
                <a:cubicBezTo>
                  <a:pt x="2224730" y="969383"/>
                  <a:pt x="2183962" y="1002561"/>
                  <a:pt x="2144179" y="995253"/>
                </a:cubicBezTo>
                <a:cubicBezTo>
                  <a:pt x="1971395" y="1054795"/>
                  <a:pt x="1847846" y="994036"/>
                  <a:pt x="1588143" y="995253"/>
                </a:cubicBezTo>
                <a:cubicBezTo>
                  <a:pt x="1328440" y="996470"/>
                  <a:pt x="1291562" y="955409"/>
                  <a:pt x="1114483" y="995253"/>
                </a:cubicBezTo>
                <a:cubicBezTo>
                  <a:pt x="937404" y="1035097"/>
                  <a:pt x="771137" y="982897"/>
                  <a:pt x="579040" y="995253"/>
                </a:cubicBezTo>
                <a:cubicBezTo>
                  <a:pt x="386943" y="1007609"/>
                  <a:pt x="249811" y="966440"/>
                  <a:pt x="84786" y="995253"/>
                </a:cubicBezTo>
                <a:cubicBezTo>
                  <a:pt x="32234" y="993497"/>
                  <a:pt x="1209" y="947193"/>
                  <a:pt x="0" y="910467"/>
                </a:cubicBezTo>
                <a:cubicBezTo>
                  <a:pt x="-2799" y="731362"/>
                  <a:pt x="18551" y="609396"/>
                  <a:pt x="0" y="489370"/>
                </a:cubicBezTo>
                <a:cubicBezTo>
                  <a:pt x="-18551" y="369344"/>
                  <a:pt x="48533" y="232498"/>
                  <a:pt x="0" y="84786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668869884">
                  <a:prstGeom prst="roundRect">
                    <a:avLst>
                      <a:gd name="adj" fmla="val 8519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143" name="Rectangle: Rounded Corners 5142">
            <a:extLst>
              <a:ext uri="{FF2B5EF4-FFF2-40B4-BE49-F238E27FC236}">
                <a16:creationId xmlns:a16="http://schemas.microsoft.com/office/drawing/2014/main" id="{B3DC014C-1721-45C4-4A36-C1E3A593A97D}"/>
              </a:ext>
            </a:extLst>
          </p:cNvPr>
          <p:cNvSpPr/>
          <p:nvPr/>
        </p:nvSpPr>
        <p:spPr bwMode="auto">
          <a:xfrm>
            <a:off x="5432004" y="3945063"/>
            <a:ext cx="2228965" cy="968245"/>
          </a:xfrm>
          <a:custGeom>
            <a:avLst/>
            <a:gdLst>
              <a:gd name="csX0" fmla="*/ 0 w 2228965"/>
              <a:gd name="csY0" fmla="*/ 82485 h 968245"/>
              <a:gd name="csX1" fmla="*/ 82485 w 2228965"/>
              <a:gd name="csY1" fmla="*/ 0 h 968245"/>
              <a:gd name="csX2" fmla="*/ 536564 w 2228965"/>
              <a:gd name="csY2" fmla="*/ 0 h 968245"/>
              <a:gd name="csX3" fmla="*/ 1073203 w 2228965"/>
              <a:gd name="csY3" fmla="*/ 0 h 968245"/>
              <a:gd name="csX4" fmla="*/ 1589201 w 2228965"/>
              <a:gd name="csY4" fmla="*/ 0 h 968245"/>
              <a:gd name="csX5" fmla="*/ 2146480 w 2228965"/>
              <a:gd name="csY5" fmla="*/ 0 h 968245"/>
              <a:gd name="csX6" fmla="*/ 2228965 w 2228965"/>
              <a:gd name="csY6" fmla="*/ 82485 h 968245"/>
              <a:gd name="csX7" fmla="*/ 2228965 w 2228965"/>
              <a:gd name="csY7" fmla="*/ 484123 h 968245"/>
              <a:gd name="csX8" fmla="*/ 2228965 w 2228965"/>
              <a:gd name="csY8" fmla="*/ 885760 h 968245"/>
              <a:gd name="csX9" fmla="*/ 2146480 w 2228965"/>
              <a:gd name="csY9" fmla="*/ 968245 h 968245"/>
              <a:gd name="csX10" fmla="*/ 1692401 w 2228965"/>
              <a:gd name="csY10" fmla="*/ 968245 h 968245"/>
              <a:gd name="csX11" fmla="*/ 1197042 w 2228965"/>
              <a:gd name="csY11" fmla="*/ 968245 h 968245"/>
              <a:gd name="csX12" fmla="*/ 742963 w 2228965"/>
              <a:gd name="csY12" fmla="*/ 968245 h 968245"/>
              <a:gd name="csX13" fmla="*/ 82485 w 2228965"/>
              <a:gd name="csY13" fmla="*/ 968245 h 968245"/>
              <a:gd name="csX14" fmla="*/ 0 w 2228965"/>
              <a:gd name="csY14" fmla="*/ 885760 h 968245"/>
              <a:gd name="csX15" fmla="*/ 0 w 2228965"/>
              <a:gd name="csY15" fmla="*/ 468057 h 968245"/>
              <a:gd name="csX16" fmla="*/ 0 w 2228965"/>
              <a:gd name="csY16" fmla="*/ 82485 h 9682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228965" h="968245" fill="none" extrusionOk="0">
                <a:moveTo>
                  <a:pt x="0" y="82485"/>
                </a:moveTo>
                <a:cubicBezTo>
                  <a:pt x="13338" y="34980"/>
                  <a:pt x="47014" y="-9044"/>
                  <a:pt x="82485" y="0"/>
                </a:cubicBezTo>
                <a:cubicBezTo>
                  <a:pt x="204665" y="-31154"/>
                  <a:pt x="365466" y="50465"/>
                  <a:pt x="536564" y="0"/>
                </a:cubicBezTo>
                <a:cubicBezTo>
                  <a:pt x="707662" y="-50465"/>
                  <a:pt x="833300" y="3984"/>
                  <a:pt x="1073203" y="0"/>
                </a:cubicBezTo>
                <a:cubicBezTo>
                  <a:pt x="1313106" y="-3984"/>
                  <a:pt x="1410341" y="17472"/>
                  <a:pt x="1589201" y="0"/>
                </a:cubicBezTo>
                <a:cubicBezTo>
                  <a:pt x="1768061" y="-17472"/>
                  <a:pt x="2019028" y="39787"/>
                  <a:pt x="2146480" y="0"/>
                </a:cubicBezTo>
                <a:cubicBezTo>
                  <a:pt x="2188017" y="1477"/>
                  <a:pt x="2230260" y="37799"/>
                  <a:pt x="2228965" y="82485"/>
                </a:cubicBezTo>
                <a:cubicBezTo>
                  <a:pt x="2230990" y="180978"/>
                  <a:pt x="2185817" y="332285"/>
                  <a:pt x="2228965" y="484123"/>
                </a:cubicBezTo>
                <a:cubicBezTo>
                  <a:pt x="2272113" y="635961"/>
                  <a:pt x="2224241" y="735099"/>
                  <a:pt x="2228965" y="885760"/>
                </a:cubicBezTo>
                <a:cubicBezTo>
                  <a:pt x="2234606" y="929858"/>
                  <a:pt x="2199629" y="966916"/>
                  <a:pt x="2146480" y="968245"/>
                </a:cubicBezTo>
                <a:cubicBezTo>
                  <a:pt x="2021785" y="1014915"/>
                  <a:pt x="1837761" y="924456"/>
                  <a:pt x="1692401" y="968245"/>
                </a:cubicBezTo>
                <a:cubicBezTo>
                  <a:pt x="1547041" y="1012034"/>
                  <a:pt x="1442938" y="951455"/>
                  <a:pt x="1197042" y="968245"/>
                </a:cubicBezTo>
                <a:cubicBezTo>
                  <a:pt x="951146" y="985035"/>
                  <a:pt x="914257" y="941083"/>
                  <a:pt x="742963" y="968245"/>
                </a:cubicBezTo>
                <a:cubicBezTo>
                  <a:pt x="571669" y="995407"/>
                  <a:pt x="380236" y="894463"/>
                  <a:pt x="82485" y="968245"/>
                </a:cubicBezTo>
                <a:cubicBezTo>
                  <a:pt x="45121" y="965749"/>
                  <a:pt x="9805" y="940455"/>
                  <a:pt x="0" y="885760"/>
                </a:cubicBezTo>
                <a:cubicBezTo>
                  <a:pt x="-46151" y="695871"/>
                  <a:pt x="5872" y="557329"/>
                  <a:pt x="0" y="468057"/>
                </a:cubicBezTo>
                <a:cubicBezTo>
                  <a:pt x="-5872" y="378785"/>
                  <a:pt x="6242" y="263874"/>
                  <a:pt x="0" y="82485"/>
                </a:cubicBezTo>
                <a:close/>
              </a:path>
              <a:path w="2228965" h="968245" stroke="0" extrusionOk="0">
                <a:moveTo>
                  <a:pt x="0" y="82485"/>
                </a:moveTo>
                <a:cubicBezTo>
                  <a:pt x="5147" y="27965"/>
                  <a:pt x="30203" y="8920"/>
                  <a:pt x="82485" y="0"/>
                </a:cubicBezTo>
                <a:cubicBezTo>
                  <a:pt x="270043" y="-36731"/>
                  <a:pt x="449861" y="54035"/>
                  <a:pt x="598484" y="0"/>
                </a:cubicBezTo>
                <a:cubicBezTo>
                  <a:pt x="747107" y="-54035"/>
                  <a:pt x="971072" y="3413"/>
                  <a:pt x="1093843" y="0"/>
                </a:cubicBezTo>
                <a:cubicBezTo>
                  <a:pt x="1216614" y="-3413"/>
                  <a:pt x="1449066" y="5640"/>
                  <a:pt x="1651121" y="0"/>
                </a:cubicBezTo>
                <a:cubicBezTo>
                  <a:pt x="1853176" y="-5640"/>
                  <a:pt x="1955337" y="34240"/>
                  <a:pt x="2146480" y="0"/>
                </a:cubicBezTo>
                <a:cubicBezTo>
                  <a:pt x="2188935" y="-1177"/>
                  <a:pt x="2225110" y="42015"/>
                  <a:pt x="2228965" y="82485"/>
                </a:cubicBezTo>
                <a:cubicBezTo>
                  <a:pt x="2245561" y="237379"/>
                  <a:pt x="2184788" y="388797"/>
                  <a:pt x="2228965" y="492155"/>
                </a:cubicBezTo>
                <a:cubicBezTo>
                  <a:pt x="2273142" y="595513"/>
                  <a:pt x="2203382" y="731455"/>
                  <a:pt x="2228965" y="885760"/>
                </a:cubicBezTo>
                <a:cubicBezTo>
                  <a:pt x="2224591" y="932092"/>
                  <a:pt x="2194338" y="955776"/>
                  <a:pt x="2146480" y="968245"/>
                </a:cubicBezTo>
                <a:cubicBezTo>
                  <a:pt x="1933241" y="1023070"/>
                  <a:pt x="1752051" y="966429"/>
                  <a:pt x="1651121" y="968245"/>
                </a:cubicBezTo>
                <a:cubicBezTo>
                  <a:pt x="1550191" y="970061"/>
                  <a:pt x="1271507" y="959550"/>
                  <a:pt x="1114483" y="968245"/>
                </a:cubicBezTo>
                <a:cubicBezTo>
                  <a:pt x="957459" y="976940"/>
                  <a:pt x="871591" y="933328"/>
                  <a:pt x="639764" y="968245"/>
                </a:cubicBezTo>
                <a:cubicBezTo>
                  <a:pt x="407937" y="1003162"/>
                  <a:pt x="207639" y="933934"/>
                  <a:pt x="82485" y="968245"/>
                </a:cubicBezTo>
                <a:cubicBezTo>
                  <a:pt x="32451" y="968821"/>
                  <a:pt x="-194" y="932491"/>
                  <a:pt x="0" y="885760"/>
                </a:cubicBezTo>
                <a:cubicBezTo>
                  <a:pt x="-29846" y="704617"/>
                  <a:pt x="42605" y="599714"/>
                  <a:pt x="0" y="508221"/>
                </a:cubicBezTo>
                <a:cubicBezTo>
                  <a:pt x="-42605" y="416728"/>
                  <a:pt x="45119" y="267960"/>
                  <a:pt x="0" y="8248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306854101">
                  <a:prstGeom prst="roundRect">
                    <a:avLst>
                      <a:gd name="adj" fmla="val 8519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57" name="Rectangle: Rounded Corners 2056">
            <a:extLst>
              <a:ext uri="{FF2B5EF4-FFF2-40B4-BE49-F238E27FC236}">
                <a16:creationId xmlns:a16="http://schemas.microsoft.com/office/drawing/2014/main" id="{1C8A8E90-0948-D22A-1001-E1A0FBE41842}"/>
              </a:ext>
            </a:extLst>
          </p:cNvPr>
          <p:cNvSpPr/>
          <p:nvPr/>
        </p:nvSpPr>
        <p:spPr bwMode="auto">
          <a:xfrm>
            <a:off x="5414843" y="4839352"/>
            <a:ext cx="2228965" cy="580366"/>
          </a:xfrm>
          <a:custGeom>
            <a:avLst/>
            <a:gdLst>
              <a:gd name="csX0" fmla="*/ 0 w 2228965"/>
              <a:gd name="csY0" fmla="*/ 49441 h 580366"/>
              <a:gd name="csX1" fmla="*/ 49441 w 2228965"/>
              <a:gd name="csY1" fmla="*/ 0 h 580366"/>
              <a:gd name="csX2" fmla="*/ 603263 w 2228965"/>
              <a:gd name="csY2" fmla="*/ 0 h 580366"/>
              <a:gd name="csX3" fmla="*/ 1157084 w 2228965"/>
              <a:gd name="csY3" fmla="*/ 0 h 580366"/>
              <a:gd name="csX4" fmla="*/ 1625702 w 2228965"/>
              <a:gd name="csY4" fmla="*/ 0 h 580366"/>
              <a:gd name="csX5" fmla="*/ 2179524 w 2228965"/>
              <a:gd name="csY5" fmla="*/ 0 h 580366"/>
              <a:gd name="csX6" fmla="*/ 2228965 w 2228965"/>
              <a:gd name="csY6" fmla="*/ 49441 h 580366"/>
              <a:gd name="csX7" fmla="*/ 2228965 w 2228965"/>
              <a:gd name="csY7" fmla="*/ 530925 h 580366"/>
              <a:gd name="csX8" fmla="*/ 2179524 w 2228965"/>
              <a:gd name="csY8" fmla="*/ 580366 h 580366"/>
              <a:gd name="csX9" fmla="*/ 1710906 w 2228965"/>
              <a:gd name="csY9" fmla="*/ 580366 h 580366"/>
              <a:gd name="csX10" fmla="*/ 1178385 w 2228965"/>
              <a:gd name="csY10" fmla="*/ 580366 h 580366"/>
              <a:gd name="csX11" fmla="*/ 603263 w 2228965"/>
              <a:gd name="csY11" fmla="*/ 580366 h 580366"/>
              <a:gd name="csX12" fmla="*/ 49441 w 2228965"/>
              <a:gd name="csY12" fmla="*/ 580366 h 580366"/>
              <a:gd name="csX13" fmla="*/ 0 w 2228965"/>
              <a:gd name="csY13" fmla="*/ 530925 h 580366"/>
              <a:gd name="csX14" fmla="*/ 0 w 2228965"/>
              <a:gd name="csY14" fmla="*/ 49441 h 5803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228965" h="580366" fill="none" extrusionOk="0">
                <a:moveTo>
                  <a:pt x="0" y="49441"/>
                </a:moveTo>
                <a:cubicBezTo>
                  <a:pt x="5823" y="19911"/>
                  <a:pt x="21211" y="1933"/>
                  <a:pt x="49441" y="0"/>
                </a:cubicBezTo>
                <a:cubicBezTo>
                  <a:pt x="283781" y="-28293"/>
                  <a:pt x="475812" y="41901"/>
                  <a:pt x="603263" y="0"/>
                </a:cubicBezTo>
                <a:cubicBezTo>
                  <a:pt x="730714" y="-41901"/>
                  <a:pt x="1006210" y="48833"/>
                  <a:pt x="1157084" y="0"/>
                </a:cubicBezTo>
                <a:cubicBezTo>
                  <a:pt x="1307958" y="-48833"/>
                  <a:pt x="1502849" y="38412"/>
                  <a:pt x="1625702" y="0"/>
                </a:cubicBezTo>
                <a:cubicBezTo>
                  <a:pt x="1748555" y="-38412"/>
                  <a:pt x="2048488" y="12557"/>
                  <a:pt x="2179524" y="0"/>
                </a:cubicBezTo>
                <a:cubicBezTo>
                  <a:pt x="2200848" y="743"/>
                  <a:pt x="2226608" y="22620"/>
                  <a:pt x="2228965" y="49441"/>
                </a:cubicBezTo>
                <a:cubicBezTo>
                  <a:pt x="2241944" y="237562"/>
                  <a:pt x="2189748" y="378015"/>
                  <a:pt x="2228965" y="530925"/>
                </a:cubicBezTo>
                <a:cubicBezTo>
                  <a:pt x="2229433" y="560294"/>
                  <a:pt x="2207037" y="573897"/>
                  <a:pt x="2179524" y="580366"/>
                </a:cubicBezTo>
                <a:cubicBezTo>
                  <a:pt x="2063647" y="627369"/>
                  <a:pt x="1810474" y="564336"/>
                  <a:pt x="1710906" y="580366"/>
                </a:cubicBezTo>
                <a:cubicBezTo>
                  <a:pt x="1611338" y="596396"/>
                  <a:pt x="1394677" y="572975"/>
                  <a:pt x="1178385" y="580366"/>
                </a:cubicBezTo>
                <a:cubicBezTo>
                  <a:pt x="962093" y="587757"/>
                  <a:pt x="731248" y="536120"/>
                  <a:pt x="603263" y="580366"/>
                </a:cubicBezTo>
                <a:cubicBezTo>
                  <a:pt x="475278" y="624612"/>
                  <a:pt x="246496" y="558274"/>
                  <a:pt x="49441" y="580366"/>
                </a:cubicBezTo>
                <a:cubicBezTo>
                  <a:pt x="22583" y="583918"/>
                  <a:pt x="-3805" y="555025"/>
                  <a:pt x="0" y="530925"/>
                </a:cubicBezTo>
                <a:cubicBezTo>
                  <a:pt x="-50734" y="411218"/>
                  <a:pt x="44954" y="246446"/>
                  <a:pt x="0" y="49441"/>
                </a:cubicBezTo>
                <a:close/>
              </a:path>
              <a:path w="2228965" h="580366" stroke="0" extrusionOk="0">
                <a:moveTo>
                  <a:pt x="0" y="49441"/>
                </a:moveTo>
                <a:cubicBezTo>
                  <a:pt x="3307" y="20479"/>
                  <a:pt x="21003" y="6880"/>
                  <a:pt x="49441" y="0"/>
                </a:cubicBezTo>
                <a:cubicBezTo>
                  <a:pt x="238225" y="-27085"/>
                  <a:pt x="373672" y="1597"/>
                  <a:pt x="518059" y="0"/>
                </a:cubicBezTo>
                <a:cubicBezTo>
                  <a:pt x="662446" y="-1597"/>
                  <a:pt x="894438" y="740"/>
                  <a:pt x="1071881" y="0"/>
                </a:cubicBezTo>
                <a:cubicBezTo>
                  <a:pt x="1249324" y="-740"/>
                  <a:pt x="1362205" y="29990"/>
                  <a:pt x="1647003" y="0"/>
                </a:cubicBezTo>
                <a:cubicBezTo>
                  <a:pt x="1931801" y="-29990"/>
                  <a:pt x="2052376" y="32255"/>
                  <a:pt x="2179524" y="0"/>
                </a:cubicBezTo>
                <a:cubicBezTo>
                  <a:pt x="2206735" y="-1879"/>
                  <a:pt x="2232314" y="26817"/>
                  <a:pt x="2228965" y="49441"/>
                </a:cubicBezTo>
                <a:cubicBezTo>
                  <a:pt x="2236455" y="197563"/>
                  <a:pt x="2174380" y="319072"/>
                  <a:pt x="2228965" y="530925"/>
                </a:cubicBezTo>
                <a:cubicBezTo>
                  <a:pt x="2229741" y="558247"/>
                  <a:pt x="2206448" y="583189"/>
                  <a:pt x="2179524" y="580366"/>
                </a:cubicBezTo>
                <a:cubicBezTo>
                  <a:pt x="1913890" y="644113"/>
                  <a:pt x="1797728" y="570007"/>
                  <a:pt x="1647003" y="580366"/>
                </a:cubicBezTo>
                <a:cubicBezTo>
                  <a:pt x="1496278" y="590725"/>
                  <a:pt x="1271049" y="536026"/>
                  <a:pt x="1093182" y="580366"/>
                </a:cubicBezTo>
                <a:cubicBezTo>
                  <a:pt x="915315" y="624706"/>
                  <a:pt x="858301" y="559367"/>
                  <a:pt x="624563" y="580366"/>
                </a:cubicBezTo>
                <a:cubicBezTo>
                  <a:pt x="390825" y="601365"/>
                  <a:pt x="201243" y="577600"/>
                  <a:pt x="49441" y="580366"/>
                </a:cubicBezTo>
                <a:cubicBezTo>
                  <a:pt x="24203" y="579839"/>
                  <a:pt x="908" y="560128"/>
                  <a:pt x="0" y="530925"/>
                </a:cubicBezTo>
                <a:cubicBezTo>
                  <a:pt x="-49495" y="398653"/>
                  <a:pt x="42690" y="212636"/>
                  <a:pt x="0" y="49441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188366279">
                  <a:prstGeom prst="roundRect">
                    <a:avLst>
                      <a:gd name="adj" fmla="val 8519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61" name="Rectangle: Rounded Corners 2060">
            <a:extLst>
              <a:ext uri="{FF2B5EF4-FFF2-40B4-BE49-F238E27FC236}">
                <a16:creationId xmlns:a16="http://schemas.microsoft.com/office/drawing/2014/main" id="{49875ABF-948A-18B5-81E2-8EB60A060365}"/>
              </a:ext>
            </a:extLst>
          </p:cNvPr>
          <p:cNvSpPr/>
          <p:nvPr/>
        </p:nvSpPr>
        <p:spPr bwMode="auto">
          <a:xfrm>
            <a:off x="5423890" y="5372206"/>
            <a:ext cx="2228965" cy="535755"/>
          </a:xfrm>
          <a:custGeom>
            <a:avLst/>
            <a:gdLst>
              <a:gd name="csX0" fmla="*/ 0 w 2228965"/>
              <a:gd name="csY0" fmla="*/ 45641 h 535755"/>
              <a:gd name="csX1" fmla="*/ 45641 w 2228965"/>
              <a:gd name="csY1" fmla="*/ 0 h 535755"/>
              <a:gd name="csX2" fmla="*/ 601439 w 2228965"/>
              <a:gd name="csY2" fmla="*/ 0 h 535755"/>
              <a:gd name="csX3" fmla="*/ 1114483 w 2228965"/>
              <a:gd name="csY3" fmla="*/ 0 h 535755"/>
              <a:gd name="csX4" fmla="*/ 1670280 w 2228965"/>
              <a:gd name="csY4" fmla="*/ 0 h 535755"/>
              <a:gd name="csX5" fmla="*/ 2183324 w 2228965"/>
              <a:gd name="csY5" fmla="*/ 0 h 535755"/>
              <a:gd name="csX6" fmla="*/ 2228965 w 2228965"/>
              <a:gd name="csY6" fmla="*/ 45641 h 535755"/>
              <a:gd name="csX7" fmla="*/ 2228965 w 2228965"/>
              <a:gd name="csY7" fmla="*/ 490114 h 535755"/>
              <a:gd name="csX8" fmla="*/ 2183324 w 2228965"/>
              <a:gd name="csY8" fmla="*/ 535755 h 535755"/>
              <a:gd name="csX9" fmla="*/ 1648903 w 2228965"/>
              <a:gd name="csY9" fmla="*/ 535755 h 535755"/>
              <a:gd name="csX10" fmla="*/ 1093106 w 2228965"/>
              <a:gd name="csY10" fmla="*/ 535755 h 535755"/>
              <a:gd name="csX11" fmla="*/ 601439 w 2228965"/>
              <a:gd name="csY11" fmla="*/ 535755 h 535755"/>
              <a:gd name="csX12" fmla="*/ 45641 w 2228965"/>
              <a:gd name="csY12" fmla="*/ 535755 h 535755"/>
              <a:gd name="csX13" fmla="*/ 0 w 2228965"/>
              <a:gd name="csY13" fmla="*/ 490114 h 535755"/>
              <a:gd name="csX14" fmla="*/ 0 w 2228965"/>
              <a:gd name="csY14" fmla="*/ 45641 h 5357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228965" h="535755" fill="none" extrusionOk="0">
                <a:moveTo>
                  <a:pt x="0" y="45641"/>
                </a:moveTo>
                <a:cubicBezTo>
                  <a:pt x="-2701" y="25838"/>
                  <a:pt x="17442" y="-2278"/>
                  <a:pt x="45641" y="0"/>
                </a:cubicBezTo>
                <a:cubicBezTo>
                  <a:pt x="263857" y="-51562"/>
                  <a:pt x="350836" y="44581"/>
                  <a:pt x="601439" y="0"/>
                </a:cubicBezTo>
                <a:cubicBezTo>
                  <a:pt x="852042" y="-44581"/>
                  <a:pt x="861300" y="31473"/>
                  <a:pt x="1114483" y="0"/>
                </a:cubicBezTo>
                <a:cubicBezTo>
                  <a:pt x="1367666" y="-31473"/>
                  <a:pt x="1516717" y="16798"/>
                  <a:pt x="1670280" y="0"/>
                </a:cubicBezTo>
                <a:cubicBezTo>
                  <a:pt x="1823843" y="-16798"/>
                  <a:pt x="1967057" y="9830"/>
                  <a:pt x="2183324" y="0"/>
                </a:cubicBezTo>
                <a:cubicBezTo>
                  <a:pt x="2208843" y="-1367"/>
                  <a:pt x="2227682" y="20020"/>
                  <a:pt x="2228965" y="45641"/>
                </a:cubicBezTo>
                <a:cubicBezTo>
                  <a:pt x="2243264" y="219105"/>
                  <a:pt x="2183640" y="347553"/>
                  <a:pt x="2228965" y="490114"/>
                </a:cubicBezTo>
                <a:cubicBezTo>
                  <a:pt x="2230963" y="510608"/>
                  <a:pt x="2203961" y="530566"/>
                  <a:pt x="2183324" y="535755"/>
                </a:cubicBezTo>
                <a:cubicBezTo>
                  <a:pt x="1921101" y="540307"/>
                  <a:pt x="1888878" y="501027"/>
                  <a:pt x="1648903" y="535755"/>
                </a:cubicBezTo>
                <a:cubicBezTo>
                  <a:pt x="1408928" y="570483"/>
                  <a:pt x="1238809" y="518749"/>
                  <a:pt x="1093106" y="535755"/>
                </a:cubicBezTo>
                <a:cubicBezTo>
                  <a:pt x="947403" y="552761"/>
                  <a:pt x="761752" y="528252"/>
                  <a:pt x="601439" y="535755"/>
                </a:cubicBezTo>
                <a:cubicBezTo>
                  <a:pt x="441126" y="543258"/>
                  <a:pt x="250042" y="483940"/>
                  <a:pt x="45641" y="535755"/>
                </a:cubicBezTo>
                <a:cubicBezTo>
                  <a:pt x="27635" y="536050"/>
                  <a:pt x="-3093" y="510063"/>
                  <a:pt x="0" y="490114"/>
                </a:cubicBezTo>
                <a:cubicBezTo>
                  <a:pt x="-22268" y="273824"/>
                  <a:pt x="42117" y="163384"/>
                  <a:pt x="0" y="45641"/>
                </a:cubicBezTo>
                <a:close/>
              </a:path>
              <a:path w="2228965" h="535755" stroke="0" extrusionOk="0">
                <a:moveTo>
                  <a:pt x="0" y="45641"/>
                </a:moveTo>
                <a:cubicBezTo>
                  <a:pt x="2399" y="26298"/>
                  <a:pt x="15040" y="2582"/>
                  <a:pt x="45641" y="0"/>
                </a:cubicBezTo>
                <a:cubicBezTo>
                  <a:pt x="180906" y="-55314"/>
                  <a:pt x="451810" y="53605"/>
                  <a:pt x="601439" y="0"/>
                </a:cubicBezTo>
                <a:cubicBezTo>
                  <a:pt x="751068" y="-53605"/>
                  <a:pt x="873961" y="8176"/>
                  <a:pt x="1135859" y="0"/>
                </a:cubicBezTo>
                <a:cubicBezTo>
                  <a:pt x="1397757" y="-8176"/>
                  <a:pt x="1397949" y="48276"/>
                  <a:pt x="1648903" y="0"/>
                </a:cubicBezTo>
                <a:cubicBezTo>
                  <a:pt x="1899857" y="-48276"/>
                  <a:pt x="1994820" y="50483"/>
                  <a:pt x="2183324" y="0"/>
                </a:cubicBezTo>
                <a:cubicBezTo>
                  <a:pt x="2213300" y="4726"/>
                  <a:pt x="2226386" y="22168"/>
                  <a:pt x="2228965" y="45641"/>
                </a:cubicBezTo>
                <a:cubicBezTo>
                  <a:pt x="2263188" y="152187"/>
                  <a:pt x="2209847" y="394479"/>
                  <a:pt x="2228965" y="490114"/>
                </a:cubicBezTo>
                <a:cubicBezTo>
                  <a:pt x="2228961" y="516189"/>
                  <a:pt x="2208654" y="536520"/>
                  <a:pt x="2183324" y="535755"/>
                </a:cubicBezTo>
                <a:cubicBezTo>
                  <a:pt x="2051708" y="553887"/>
                  <a:pt x="1863550" y="501505"/>
                  <a:pt x="1648903" y="535755"/>
                </a:cubicBezTo>
                <a:cubicBezTo>
                  <a:pt x="1434256" y="570005"/>
                  <a:pt x="1241466" y="490270"/>
                  <a:pt x="1135859" y="535755"/>
                </a:cubicBezTo>
                <a:cubicBezTo>
                  <a:pt x="1030252" y="581240"/>
                  <a:pt x="832926" y="487378"/>
                  <a:pt x="580062" y="535755"/>
                </a:cubicBezTo>
                <a:cubicBezTo>
                  <a:pt x="327198" y="584132"/>
                  <a:pt x="251896" y="486938"/>
                  <a:pt x="45641" y="535755"/>
                </a:cubicBezTo>
                <a:cubicBezTo>
                  <a:pt x="20544" y="534929"/>
                  <a:pt x="3441" y="518332"/>
                  <a:pt x="0" y="490114"/>
                </a:cubicBezTo>
                <a:cubicBezTo>
                  <a:pt x="-42426" y="378946"/>
                  <a:pt x="44067" y="267351"/>
                  <a:pt x="0" y="4564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505731426">
                  <a:prstGeom prst="roundRect">
                    <a:avLst>
                      <a:gd name="adj" fmla="val 8519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137" name="Group 3136">
            <a:extLst>
              <a:ext uri="{FF2B5EF4-FFF2-40B4-BE49-F238E27FC236}">
                <a16:creationId xmlns:a16="http://schemas.microsoft.com/office/drawing/2014/main" id="{9B04328F-A620-7325-D1FA-10349339B266}"/>
              </a:ext>
            </a:extLst>
          </p:cNvPr>
          <p:cNvGrpSpPr/>
          <p:nvPr/>
        </p:nvGrpSpPr>
        <p:grpSpPr>
          <a:xfrm>
            <a:off x="2084620" y="5149654"/>
            <a:ext cx="1307003" cy="1113767"/>
            <a:chOff x="2919326" y="5268922"/>
            <a:chExt cx="1307003" cy="1113767"/>
          </a:xfrm>
        </p:grpSpPr>
        <p:pic>
          <p:nvPicPr>
            <p:cNvPr id="6" name="Picture 10" descr="Model Context Protocol Directory - Discover MCP Servers Worldwide | TOPMCP">
              <a:extLst>
                <a:ext uri="{FF2B5EF4-FFF2-40B4-BE49-F238E27FC236}">
                  <a16:creationId xmlns:a16="http://schemas.microsoft.com/office/drawing/2014/main" id="{B47866C1-AC07-C7DF-4A90-B66D179022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4147" y="5268922"/>
              <a:ext cx="675302" cy="675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A74EE41-0E8F-5CC1-4F24-4A0A75864C5D}"/>
                </a:ext>
              </a:extLst>
            </p:cNvPr>
            <p:cNvSpPr txBox="1"/>
            <p:nvPr/>
          </p:nvSpPr>
          <p:spPr>
            <a:xfrm>
              <a:off x="2919326" y="5854339"/>
              <a:ext cx="1307003" cy="52835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400"/>
                <a:t>MCP Server for </a:t>
              </a:r>
              <a:r>
                <a:rPr lang="en-US" sz="1400" b="1"/>
                <a:t>Enterprise</a:t>
              </a:r>
              <a:endParaRPr lang="en-US" sz="1400" b="1" noProof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E71DFE1-3391-33D7-A162-A5566B4CD12D}"/>
              </a:ext>
            </a:extLst>
          </p:cNvPr>
          <p:cNvSpPr txBox="1"/>
          <p:nvPr/>
        </p:nvSpPr>
        <p:spPr>
          <a:xfrm>
            <a:off x="539011" y="5073457"/>
            <a:ext cx="840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noProof="0"/>
              <a:t>MS Entra</a:t>
            </a:r>
          </a:p>
        </p:txBody>
      </p:sp>
      <p:pic>
        <p:nvPicPr>
          <p:cNvPr id="2050" name="Picture 2" descr="Microsoft Azure AD changes name to Microsoft Entra ID">
            <a:extLst>
              <a:ext uri="{FF2B5EF4-FFF2-40B4-BE49-F238E27FC236}">
                <a16:creationId xmlns:a16="http://schemas.microsoft.com/office/drawing/2014/main" id="{F91B787E-BD00-29F1-D3A3-46498FA14C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99" t="15614" r="40111" b="37249"/>
          <a:stretch>
            <a:fillRect/>
          </a:stretch>
        </p:blipFill>
        <p:spPr bwMode="auto">
          <a:xfrm>
            <a:off x="779126" y="4662691"/>
            <a:ext cx="360000" cy="450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icrosoft Graph">
            <a:extLst>
              <a:ext uri="{FF2B5EF4-FFF2-40B4-BE49-F238E27FC236}">
                <a16:creationId xmlns:a16="http://schemas.microsoft.com/office/drawing/2014/main" id="{003BD33D-FD29-1DBC-5727-9913D819A1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92" t="19048" r="39245" b="44991"/>
          <a:stretch>
            <a:fillRect/>
          </a:stretch>
        </p:blipFill>
        <p:spPr bwMode="auto">
          <a:xfrm>
            <a:off x="1535898" y="5068008"/>
            <a:ext cx="360000" cy="31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82" name="Group 5181">
            <a:extLst>
              <a:ext uri="{FF2B5EF4-FFF2-40B4-BE49-F238E27FC236}">
                <a16:creationId xmlns:a16="http://schemas.microsoft.com/office/drawing/2014/main" id="{53EF9925-0EAE-AB06-E62E-3A678DEC2D41}"/>
              </a:ext>
            </a:extLst>
          </p:cNvPr>
          <p:cNvGrpSpPr/>
          <p:nvPr/>
        </p:nvGrpSpPr>
        <p:grpSpPr>
          <a:xfrm>
            <a:off x="394709" y="1114924"/>
            <a:ext cx="1128834" cy="636960"/>
            <a:chOff x="344225" y="1234192"/>
            <a:chExt cx="1128834" cy="636960"/>
          </a:xfrm>
        </p:grpSpPr>
        <p:pic>
          <p:nvPicPr>
            <p:cNvPr id="32" name="Picture 26" descr="Microsoft defender Icons, Logos, Symbols – Free Download PNG, SVG">
              <a:extLst>
                <a:ext uri="{FF2B5EF4-FFF2-40B4-BE49-F238E27FC236}">
                  <a16:creationId xmlns:a16="http://schemas.microsoft.com/office/drawing/2014/main" id="{4FBE8C26-9E05-53FA-93B7-AE0B898FCAE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764" t="8013" r="12315" b="6865"/>
            <a:stretch>
              <a:fillRect/>
            </a:stretch>
          </p:blipFill>
          <p:spPr bwMode="auto">
            <a:xfrm>
              <a:off x="728642" y="1234192"/>
              <a:ext cx="360000" cy="4145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2BB0657-1E3E-CEE5-8E19-28AFDBA7ACFA}"/>
                </a:ext>
              </a:extLst>
            </p:cNvPr>
            <p:cNvSpPr txBox="1"/>
            <p:nvPr/>
          </p:nvSpPr>
          <p:spPr>
            <a:xfrm>
              <a:off x="344225" y="1594153"/>
              <a:ext cx="11288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/>
                <a:t>MS Defender</a:t>
              </a:r>
              <a:endParaRPr lang="en-US" sz="1200" noProof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C3177A7-F66B-87D9-A6B9-001E662B17F2}"/>
              </a:ext>
            </a:extLst>
          </p:cNvPr>
          <p:cNvGrpSpPr/>
          <p:nvPr/>
        </p:nvGrpSpPr>
        <p:grpSpPr>
          <a:xfrm>
            <a:off x="2135140" y="3795758"/>
            <a:ext cx="1115883" cy="1113953"/>
            <a:chOff x="2751251" y="3177095"/>
            <a:chExt cx="1115883" cy="1113953"/>
          </a:xfrm>
        </p:grpSpPr>
        <p:pic>
          <p:nvPicPr>
            <p:cNvPr id="2" name="Picture 10" descr="Model Context Protocol Directory - Discover MCP Servers Worldwide | TOPMCP">
              <a:extLst>
                <a:ext uri="{FF2B5EF4-FFF2-40B4-BE49-F238E27FC236}">
                  <a16:creationId xmlns:a16="http://schemas.microsoft.com/office/drawing/2014/main" id="{AE041717-D1C0-615C-220D-3D368F2BFF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2132" y="3177095"/>
              <a:ext cx="675302" cy="675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0708196-CD6C-5FB8-6629-EA34B4290151}"/>
                </a:ext>
              </a:extLst>
            </p:cNvPr>
            <p:cNvSpPr txBox="1"/>
            <p:nvPr/>
          </p:nvSpPr>
          <p:spPr>
            <a:xfrm>
              <a:off x="2751251" y="3767828"/>
              <a:ext cx="11158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noProof="0"/>
                <a:t>Sentinel</a:t>
              </a:r>
            </a:p>
            <a:p>
              <a:pPr algn="ctr"/>
              <a:r>
                <a:rPr lang="en-US" sz="1400"/>
                <a:t>MCP Server</a:t>
              </a:r>
              <a:endParaRPr lang="en-US" sz="1400" noProof="0"/>
            </a:p>
          </p:txBody>
        </p:sp>
      </p:grpSp>
      <p:pic>
        <p:nvPicPr>
          <p:cNvPr id="11" name="Picture 12" descr="Class - Homepage">
            <a:extLst>
              <a:ext uri="{FF2B5EF4-FFF2-40B4-BE49-F238E27FC236}">
                <a16:creationId xmlns:a16="http://schemas.microsoft.com/office/drawing/2014/main" id="{4B5F09AD-5FB3-920E-B35F-79939AD7E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799" y="2867377"/>
            <a:ext cx="240930" cy="21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7918B8-D3EE-F60E-040C-100793FAF999}"/>
              </a:ext>
            </a:extLst>
          </p:cNvPr>
          <p:cNvSpPr txBox="1">
            <a:spLocks noChangeAspect="1"/>
          </p:cNvSpPr>
          <p:nvPr/>
        </p:nvSpPr>
        <p:spPr>
          <a:xfrm>
            <a:off x="2401920" y="2827888"/>
            <a:ext cx="1116000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000" b="1"/>
              <a:t>Data Exploration</a:t>
            </a:r>
          </a:p>
          <a:p>
            <a:r>
              <a:rPr lang="en-US" sz="1000"/>
              <a:t>Toolset</a:t>
            </a:r>
          </a:p>
        </p:txBody>
      </p:sp>
      <p:pic>
        <p:nvPicPr>
          <p:cNvPr id="15" name="Picture 12" descr="Class - Homepage">
            <a:extLst>
              <a:ext uri="{FF2B5EF4-FFF2-40B4-BE49-F238E27FC236}">
                <a16:creationId xmlns:a16="http://schemas.microsoft.com/office/drawing/2014/main" id="{738E7C30-8CC1-FD4D-649C-C04D0F5C7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310" y="1934981"/>
            <a:ext cx="240930" cy="21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CD0B790-A581-4434-0BB0-5DBB5526234E}"/>
              </a:ext>
            </a:extLst>
          </p:cNvPr>
          <p:cNvSpPr txBox="1">
            <a:spLocks noChangeAspect="1"/>
          </p:cNvSpPr>
          <p:nvPr/>
        </p:nvSpPr>
        <p:spPr>
          <a:xfrm>
            <a:off x="2401920" y="1884070"/>
            <a:ext cx="608294" cy="307777"/>
          </a:xfrm>
          <a:prstGeom prst="rect">
            <a:avLst/>
          </a:prstGeom>
          <a:noFill/>
        </p:spPr>
        <p:txBody>
          <a:bodyPr wrap="square" lIns="0" tIns="0" bIns="0" rtlCol="0" anchor="ctr" anchorCtr="0">
            <a:spAutoFit/>
          </a:bodyPr>
          <a:lstStyle/>
          <a:p>
            <a:r>
              <a:rPr lang="en-US" sz="1000" b="1"/>
              <a:t>Triage</a:t>
            </a:r>
          </a:p>
          <a:p>
            <a:r>
              <a:rPr lang="en-US" sz="1000"/>
              <a:t>Toolset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21EFE1-B8E7-84B6-2526-9F2B2C8B49F4}"/>
              </a:ext>
            </a:extLst>
          </p:cNvPr>
          <p:cNvSpPr txBox="1">
            <a:spLocks noChangeAspect="1"/>
          </p:cNvSpPr>
          <p:nvPr/>
        </p:nvSpPr>
        <p:spPr>
          <a:xfrm>
            <a:off x="2401920" y="2342712"/>
            <a:ext cx="670289" cy="307777"/>
          </a:xfrm>
          <a:prstGeom prst="rect">
            <a:avLst/>
          </a:prstGeom>
          <a:noFill/>
        </p:spPr>
        <p:txBody>
          <a:bodyPr wrap="square" lIns="0" tIns="0" bIns="0" rtlCol="0" anchor="ctr" anchorCtr="0">
            <a:spAutoFit/>
          </a:bodyPr>
          <a:lstStyle/>
          <a:p>
            <a:r>
              <a:rPr lang="en-US" sz="1000" b="1">
                <a:solidFill>
                  <a:srgbClr val="C03BC4"/>
                </a:solidFill>
              </a:rPr>
              <a:t>Custom</a:t>
            </a:r>
          </a:p>
          <a:p>
            <a:r>
              <a:rPr lang="en-US" sz="1000">
                <a:solidFill>
                  <a:srgbClr val="C03BC4"/>
                </a:solidFill>
              </a:rPr>
              <a:t>Toolset</a:t>
            </a:r>
            <a:r>
              <a:rPr lang="en-US" sz="1000" b="1" i="1">
                <a:solidFill>
                  <a:srgbClr val="C03BC4"/>
                </a:solidFill>
              </a:rPr>
              <a:t>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744E58B-A006-1E3C-C0C9-FE7B2E4DCF5B}"/>
              </a:ext>
            </a:extLst>
          </p:cNvPr>
          <p:cNvGrpSpPr>
            <a:grpSpLocks noChangeAspect="1"/>
          </p:cNvGrpSpPr>
          <p:nvPr/>
        </p:nvGrpSpPr>
        <p:grpSpPr>
          <a:xfrm>
            <a:off x="2061726" y="2335592"/>
            <a:ext cx="299652" cy="329296"/>
            <a:chOff x="3673071" y="2330126"/>
            <a:chExt cx="471723" cy="518389"/>
          </a:xfrm>
        </p:grpSpPr>
        <p:pic>
          <p:nvPicPr>
            <p:cNvPr id="17" name="Picture 12" descr="Class - Homepage">
              <a:extLst>
                <a:ext uri="{FF2B5EF4-FFF2-40B4-BE49-F238E27FC236}">
                  <a16:creationId xmlns:a16="http://schemas.microsoft.com/office/drawing/2014/main" id="{E0AA1AA5-B924-F976-E9B0-9749F72861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5515" y="2509635"/>
              <a:ext cx="379279" cy="338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Class - Homepage">
              <a:extLst>
                <a:ext uri="{FF2B5EF4-FFF2-40B4-BE49-F238E27FC236}">
                  <a16:creationId xmlns:a16="http://schemas.microsoft.com/office/drawing/2014/main" id="{B489BBC6-EE24-ED0A-3794-287A9127A0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6789" y="2422570"/>
              <a:ext cx="379279" cy="338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2" descr="Class - Homepage">
              <a:extLst>
                <a:ext uri="{FF2B5EF4-FFF2-40B4-BE49-F238E27FC236}">
                  <a16:creationId xmlns:a16="http://schemas.microsoft.com/office/drawing/2014/main" id="{29FB3A25-B550-0877-487D-9B59D44AC8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73071" y="2330126"/>
              <a:ext cx="379279" cy="338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8" name="Picture 10" descr="GitHub Copilot: Accelerating Code Development with AI Assistance ...">
            <a:extLst>
              <a:ext uri="{FF2B5EF4-FFF2-40B4-BE49-F238E27FC236}">
                <a16:creationId xmlns:a16="http://schemas.microsoft.com/office/drawing/2014/main" id="{5638C7FF-0EDD-2845-256A-80132DF1B1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28" t="24496" r="58833" b="34132"/>
          <a:stretch>
            <a:fillRect/>
          </a:stretch>
        </p:blipFill>
        <p:spPr bwMode="auto">
          <a:xfrm>
            <a:off x="6660067" y="1413105"/>
            <a:ext cx="360000" cy="28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6E27819-5684-8F6B-1E15-754B36C7CE8F}"/>
              </a:ext>
            </a:extLst>
          </p:cNvPr>
          <p:cNvSpPr txBox="1">
            <a:spLocks noChangeAspect="1"/>
          </p:cNvSpPr>
          <p:nvPr/>
        </p:nvSpPr>
        <p:spPr>
          <a:xfrm>
            <a:off x="6480068" y="1656012"/>
            <a:ext cx="719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/>
              <a:t>GitHub Copilot</a:t>
            </a:r>
            <a:endParaRPr lang="en-US" sz="1000" b="1" i="1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182D75-11D6-611A-499F-BB63F56EC904}"/>
              </a:ext>
            </a:extLst>
          </p:cNvPr>
          <p:cNvGrpSpPr/>
          <p:nvPr/>
        </p:nvGrpSpPr>
        <p:grpSpPr>
          <a:xfrm>
            <a:off x="7877642" y="1286324"/>
            <a:ext cx="1189454" cy="540000"/>
            <a:chOff x="7855733" y="1215092"/>
            <a:chExt cx="1189454" cy="540000"/>
          </a:xfrm>
        </p:grpSpPr>
        <p:pic>
          <p:nvPicPr>
            <p:cNvPr id="2056" name="Picture 8" descr="Logo Visual Studio Code – Logos PNG">
              <a:extLst>
                <a:ext uri="{FF2B5EF4-FFF2-40B4-BE49-F238E27FC236}">
                  <a16:creationId xmlns:a16="http://schemas.microsoft.com/office/drawing/2014/main" id="{D4CFC539-4082-2EB6-86E0-2CA741CBE2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5733" y="1215092"/>
              <a:ext cx="540000" cy="5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134B0E8-06B9-F065-258A-C6A3A8CA3070}"/>
                </a:ext>
              </a:extLst>
            </p:cNvPr>
            <p:cNvSpPr txBox="1"/>
            <p:nvPr/>
          </p:nvSpPr>
          <p:spPr>
            <a:xfrm>
              <a:off x="8350766" y="1361982"/>
              <a:ext cx="694421" cy="24622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000" b="1"/>
                <a:t>VS Code</a:t>
              </a:r>
              <a:endParaRPr lang="en-US" sz="1000" noProof="0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580E619C-AC77-A723-A0C3-495659E35174}"/>
              </a:ext>
            </a:extLst>
          </p:cNvPr>
          <p:cNvSpPr txBox="1">
            <a:spLocks noChangeAspect="1"/>
          </p:cNvSpPr>
          <p:nvPr/>
        </p:nvSpPr>
        <p:spPr>
          <a:xfrm>
            <a:off x="6053220" y="4487247"/>
            <a:ext cx="540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Custom Agent(s)</a:t>
            </a:r>
            <a:endParaRPr lang="en-US" sz="1000" b="1" i="1"/>
          </a:p>
        </p:txBody>
      </p:sp>
      <p:pic>
        <p:nvPicPr>
          <p:cNvPr id="2060" name="Picture 12" descr="Announcing Computer Use tool (Preview) in Azure AI Foundry Agent ...">
            <a:extLst>
              <a:ext uri="{FF2B5EF4-FFF2-40B4-BE49-F238E27FC236}">
                <a16:creationId xmlns:a16="http://schemas.microsoft.com/office/drawing/2014/main" id="{374EBB4B-3E6C-9948-F48C-0248320C1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416" y="2141457"/>
            <a:ext cx="306507" cy="306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6CE730C-1540-BF3F-6143-210A46685B2C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27307" y="2344970"/>
            <a:ext cx="360000" cy="34819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E0025753-E71E-207A-565E-9780B7ED8EB8}"/>
              </a:ext>
            </a:extLst>
          </p:cNvPr>
          <p:cNvSpPr txBox="1">
            <a:spLocks noChangeAspect="1"/>
          </p:cNvSpPr>
          <p:nvPr/>
        </p:nvSpPr>
        <p:spPr>
          <a:xfrm>
            <a:off x="6044173" y="2657714"/>
            <a:ext cx="540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Custom Agent(s)</a:t>
            </a:r>
            <a:endParaRPr lang="en-US" sz="1000" b="1" i="1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044F583-8CC6-E9DF-794C-A4EA180BEE5D}"/>
              </a:ext>
            </a:extLst>
          </p:cNvPr>
          <p:cNvSpPr txBox="1"/>
          <p:nvPr/>
        </p:nvSpPr>
        <p:spPr>
          <a:xfrm>
            <a:off x="6978924" y="2092146"/>
            <a:ext cx="673933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b="1" noProof="0"/>
              <a:t>Microsoft Foundry</a:t>
            </a:r>
            <a:endParaRPr lang="en-US" sz="1000" noProof="0"/>
          </a:p>
        </p:txBody>
      </p:sp>
      <p:pic>
        <p:nvPicPr>
          <p:cNvPr id="2062" name="Picture 14" descr="Microsoft Copilot Studio IA - Diseña y personaliza copilotos empresariales">
            <a:extLst>
              <a:ext uri="{FF2B5EF4-FFF2-40B4-BE49-F238E27FC236}">
                <a16:creationId xmlns:a16="http://schemas.microsoft.com/office/drawing/2014/main" id="{FA46019D-FC37-5000-057F-31CECE6803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55" t="21512" r="37395" b="48176"/>
          <a:stretch>
            <a:fillRect/>
          </a:stretch>
        </p:blipFill>
        <p:spPr bwMode="auto">
          <a:xfrm>
            <a:off x="6630207" y="3040710"/>
            <a:ext cx="361487" cy="332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BAA5182-B103-AE04-BE62-4BDFDB38B107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27307" y="3326530"/>
            <a:ext cx="360000" cy="324465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D983A1B-7AA6-6D41-7F8C-F4314B8A0BB2}"/>
              </a:ext>
            </a:extLst>
          </p:cNvPr>
          <p:cNvSpPr txBox="1">
            <a:spLocks noChangeAspect="1"/>
          </p:cNvSpPr>
          <p:nvPr/>
        </p:nvSpPr>
        <p:spPr>
          <a:xfrm>
            <a:off x="6061334" y="3610278"/>
            <a:ext cx="540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Custom Agent(s)</a:t>
            </a:r>
            <a:endParaRPr lang="en-US" sz="1000" b="1" i="1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56967B-6758-70D6-7D9D-C8894523D93D}"/>
              </a:ext>
            </a:extLst>
          </p:cNvPr>
          <p:cNvSpPr txBox="1"/>
          <p:nvPr/>
        </p:nvSpPr>
        <p:spPr>
          <a:xfrm>
            <a:off x="7036209" y="3007957"/>
            <a:ext cx="54000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b="1" noProof="0"/>
              <a:t>Copilot Studio</a:t>
            </a:r>
            <a:endParaRPr lang="en-US" sz="1000" noProof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BDE6D23-7FA1-CB0A-3D80-F291E0B01DF3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27307" y="4172202"/>
            <a:ext cx="360000" cy="32719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113B416F-6CCD-6EB1-3409-0019FF7F9A58}"/>
              </a:ext>
            </a:extLst>
          </p:cNvPr>
          <p:cNvGrpSpPr/>
          <p:nvPr/>
        </p:nvGrpSpPr>
        <p:grpSpPr>
          <a:xfrm>
            <a:off x="7991003" y="4426945"/>
            <a:ext cx="1235046" cy="525600"/>
            <a:chOff x="7669959" y="4073344"/>
            <a:chExt cx="1235046" cy="525600"/>
          </a:xfrm>
        </p:grpSpPr>
        <p:pic>
          <p:nvPicPr>
            <p:cNvPr id="42" name="Picture 4" descr="Microsoft Copilot Logo Download in SVG Vector or PNG File Format">
              <a:extLst>
                <a:ext uri="{FF2B5EF4-FFF2-40B4-BE49-F238E27FC236}">
                  <a16:creationId xmlns:a16="http://schemas.microsoft.com/office/drawing/2014/main" id="{8D231FE1-8FFD-362D-9294-E9050DFEC8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69959" y="4073344"/>
              <a:ext cx="525600" cy="525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48" name="TextBox 2047">
              <a:extLst>
                <a:ext uri="{FF2B5EF4-FFF2-40B4-BE49-F238E27FC236}">
                  <a16:creationId xmlns:a16="http://schemas.microsoft.com/office/drawing/2014/main" id="{BED9C132-BF19-3D5C-67DC-43F9597D3655}"/>
                </a:ext>
              </a:extLst>
            </p:cNvPr>
            <p:cNvSpPr txBox="1"/>
            <p:nvPr/>
          </p:nvSpPr>
          <p:spPr>
            <a:xfrm>
              <a:off x="8185006" y="4137553"/>
              <a:ext cx="7199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noProof="0"/>
                <a:t>Security Copilot</a:t>
              </a:r>
              <a:endParaRPr lang="en-US" sz="1000" noProof="0"/>
            </a:p>
          </p:txBody>
        </p:sp>
      </p:grpSp>
      <p:pic>
        <p:nvPicPr>
          <p:cNvPr id="2071" name="Picture 4" descr="Microsoft Copilot Logo Download in SVG Vector or PNG File Format">
            <a:extLst>
              <a:ext uri="{FF2B5EF4-FFF2-40B4-BE49-F238E27FC236}">
                <a16:creationId xmlns:a16="http://schemas.microsoft.com/office/drawing/2014/main" id="{7C4C4EC7-AE6B-DD77-AE58-2764F77B9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435" y="3967955"/>
            <a:ext cx="361487" cy="36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2" name="TextBox 2071">
            <a:extLst>
              <a:ext uri="{FF2B5EF4-FFF2-40B4-BE49-F238E27FC236}">
                <a16:creationId xmlns:a16="http://schemas.microsoft.com/office/drawing/2014/main" id="{BD1BC14A-2F4E-276A-0D12-AFFE7103FCDA}"/>
              </a:ext>
            </a:extLst>
          </p:cNvPr>
          <p:cNvSpPr txBox="1"/>
          <p:nvPr/>
        </p:nvSpPr>
        <p:spPr>
          <a:xfrm>
            <a:off x="6998679" y="3929305"/>
            <a:ext cx="603146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b="1" noProof="0"/>
              <a:t>Security Copilot</a:t>
            </a:r>
            <a:endParaRPr lang="en-US" sz="1000" noProof="0"/>
          </a:p>
        </p:txBody>
      </p:sp>
      <p:grpSp>
        <p:nvGrpSpPr>
          <p:cNvPr id="3140" name="Group 3139">
            <a:extLst>
              <a:ext uri="{FF2B5EF4-FFF2-40B4-BE49-F238E27FC236}">
                <a16:creationId xmlns:a16="http://schemas.microsoft.com/office/drawing/2014/main" id="{200803AA-9B5A-182E-32FF-021307E94CBE}"/>
              </a:ext>
            </a:extLst>
          </p:cNvPr>
          <p:cNvGrpSpPr/>
          <p:nvPr/>
        </p:nvGrpSpPr>
        <p:grpSpPr>
          <a:xfrm>
            <a:off x="9067097" y="1556325"/>
            <a:ext cx="1623663" cy="3134884"/>
            <a:chOff x="9016613" y="1675593"/>
            <a:chExt cx="1623663" cy="3134884"/>
          </a:xfrm>
        </p:grpSpPr>
        <p:cxnSp>
          <p:nvCxnSpPr>
            <p:cNvPr id="2066" name="Connector: Elbow 2065">
              <a:extLst>
                <a:ext uri="{FF2B5EF4-FFF2-40B4-BE49-F238E27FC236}">
                  <a16:creationId xmlns:a16="http://schemas.microsoft.com/office/drawing/2014/main" id="{87D092CC-620B-2808-60B6-4D575B27D85C}"/>
                </a:ext>
              </a:extLst>
            </p:cNvPr>
            <p:cNvCxnSpPr>
              <a:stCxn id="48" idx="1"/>
              <a:endCxn id="56" idx="3"/>
            </p:cNvCxnSpPr>
            <p:nvPr/>
          </p:nvCxnSpPr>
          <p:spPr>
            <a:xfrm rot="10800000">
              <a:off x="9016613" y="1675593"/>
              <a:ext cx="1623663" cy="1481232"/>
            </a:xfrm>
            <a:prstGeom prst="bentConnector3">
              <a:avLst>
                <a:gd name="adj1" fmla="val 50001"/>
              </a:avLst>
            </a:prstGeom>
            <a:ln w="28575">
              <a:solidFill>
                <a:srgbClr val="0070C0"/>
              </a:solidFill>
              <a:prstDash val="sysDash"/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Connector: Elbow 2068">
              <a:extLst>
                <a:ext uri="{FF2B5EF4-FFF2-40B4-BE49-F238E27FC236}">
                  <a16:creationId xmlns:a16="http://schemas.microsoft.com/office/drawing/2014/main" id="{082BB256-90CA-AF40-64FB-CBE724EA3D5F}"/>
                </a:ext>
              </a:extLst>
            </p:cNvPr>
            <p:cNvCxnSpPr>
              <a:cxnSpLocks/>
              <a:stCxn id="48" idx="1"/>
              <a:endCxn id="2048" idx="3"/>
            </p:cNvCxnSpPr>
            <p:nvPr/>
          </p:nvCxnSpPr>
          <p:spPr>
            <a:xfrm rot="10800000" flipV="1">
              <a:off x="9175565" y="3156825"/>
              <a:ext cx="1464710" cy="1653652"/>
            </a:xfrm>
            <a:prstGeom prst="bentConnector3">
              <a:avLst>
                <a:gd name="adj1" fmla="val 55549"/>
              </a:avLst>
            </a:prstGeom>
            <a:ln w="28575">
              <a:solidFill>
                <a:srgbClr val="0070C0"/>
              </a:solidFill>
              <a:prstDash val="sysDash"/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532CADC5-3B4F-6032-65FD-6520BA20FD80}"/>
              </a:ext>
            </a:extLst>
          </p:cNvPr>
          <p:cNvSpPr/>
          <p:nvPr/>
        </p:nvSpPr>
        <p:spPr bwMode="auto">
          <a:xfrm>
            <a:off x="7718681" y="2019812"/>
            <a:ext cx="158961" cy="17968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078" name="Connector: Elbow 2077">
            <a:extLst>
              <a:ext uri="{FF2B5EF4-FFF2-40B4-BE49-F238E27FC236}">
                <a16:creationId xmlns:a16="http://schemas.microsoft.com/office/drawing/2014/main" id="{32AD05B0-4725-936C-27AF-106A6E48F633}"/>
              </a:ext>
            </a:extLst>
          </p:cNvPr>
          <p:cNvCxnSpPr>
            <a:cxnSpLocks/>
            <a:stCxn id="3084" idx="1"/>
            <a:endCxn id="2076" idx="2"/>
          </p:cNvCxnSpPr>
          <p:nvPr/>
        </p:nvCxnSpPr>
        <p:spPr>
          <a:xfrm rot="10800000" flipV="1">
            <a:off x="7798163" y="1752725"/>
            <a:ext cx="2978627" cy="446771"/>
          </a:xfrm>
          <a:prstGeom prst="bentConnector4">
            <a:avLst>
              <a:gd name="adj1" fmla="val 48666"/>
              <a:gd name="adj2" fmla="val 59492"/>
            </a:avLst>
          </a:prstGeom>
          <a:ln w="127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0" name="Connector: Elbow 2079">
            <a:extLst>
              <a:ext uri="{FF2B5EF4-FFF2-40B4-BE49-F238E27FC236}">
                <a16:creationId xmlns:a16="http://schemas.microsoft.com/office/drawing/2014/main" id="{A47AD8F6-21D5-88EC-5392-CBA705CB5604}"/>
              </a:ext>
            </a:extLst>
          </p:cNvPr>
          <p:cNvCxnSpPr>
            <a:cxnSpLocks/>
            <a:stCxn id="2076" idx="2"/>
            <a:endCxn id="62" idx="3"/>
          </p:cNvCxnSpPr>
          <p:nvPr/>
        </p:nvCxnSpPr>
        <p:spPr>
          <a:xfrm rot="5400000">
            <a:off x="7679158" y="2173197"/>
            <a:ext cx="92704" cy="145305"/>
          </a:xfrm>
          <a:prstGeom prst="bentConnector2">
            <a:avLst/>
          </a:prstGeom>
          <a:ln w="3175">
            <a:solidFill>
              <a:srgbClr val="00B050"/>
            </a:solidFill>
            <a:prstDash val="sysDot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5" name="Connector: Elbow 2084">
            <a:extLst>
              <a:ext uri="{FF2B5EF4-FFF2-40B4-BE49-F238E27FC236}">
                <a16:creationId xmlns:a16="http://schemas.microsoft.com/office/drawing/2014/main" id="{B6AA28F3-CCE9-38AE-9489-F47B86C8A20A}"/>
              </a:ext>
            </a:extLst>
          </p:cNvPr>
          <p:cNvCxnSpPr>
            <a:cxnSpLocks/>
            <a:stCxn id="2076" idx="2"/>
            <a:endCxn id="63" idx="3"/>
          </p:cNvCxnSpPr>
          <p:nvPr/>
        </p:nvCxnSpPr>
        <p:spPr>
          <a:xfrm rot="5400000">
            <a:off x="7182929" y="2592778"/>
            <a:ext cx="1008515" cy="221953"/>
          </a:xfrm>
          <a:prstGeom prst="bentConnector2">
            <a:avLst/>
          </a:prstGeom>
          <a:ln w="3175">
            <a:solidFill>
              <a:schemeClr val="accent1"/>
            </a:solidFill>
            <a:prstDash val="sysDot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0" name="Connector: Elbow 2089">
            <a:extLst>
              <a:ext uri="{FF2B5EF4-FFF2-40B4-BE49-F238E27FC236}">
                <a16:creationId xmlns:a16="http://schemas.microsoft.com/office/drawing/2014/main" id="{26541B7D-0D0F-0445-58EB-4F7AD72C7D27}"/>
              </a:ext>
            </a:extLst>
          </p:cNvPr>
          <p:cNvCxnSpPr>
            <a:cxnSpLocks/>
            <a:stCxn id="2076" idx="2"/>
            <a:endCxn id="63" idx="3"/>
          </p:cNvCxnSpPr>
          <p:nvPr/>
        </p:nvCxnSpPr>
        <p:spPr>
          <a:xfrm rot="5400000">
            <a:off x="7182929" y="2592778"/>
            <a:ext cx="1008515" cy="221953"/>
          </a:xfrm>
          <a:prstGeom prst="bentConnector2">
            <a:avLst/>
          </a:prstGeom>
          <a:ln w="3175">
            <a:solidFill>
              <a:srgbClr val="00B050"/>
            </a:solidFill>
            <a:prstDash val="sysDot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42" name="Group 3141">
            <a:extLst>
              <a:ext uri="{FF2B5EF4-FFF2-40B4-BE49-F238E27FC236}">
                <a16:creationId xmlns:a16="http://schemas.microsoft.com/office/drawing/2014/main" id="{05B860A1-5742-4881-5C56-BC2CD750F2F8}"/>
              </a:ext>
            </a:extLst>
          </p:cNvPr>
          <p:cNvGrpSpPr/>
          <p:nvPr/>
        </p:nvGrpSpPr>
        <p:grpSpPr>
          <a:xfrm>
            <a:off x="9232348" y="3153141"/>
            <a:ext cx="1361371" cy="1245577"/>
            <a:chOff x="9181864" y="3272409"/>
            <a:chExt cx="1361371" cy="1245577"/>
          </a:xfrm>
        </p:grpSpPr>
        <p:cxnSp>
          <p:nvCxnSpPr>
            <p:cNvPr id="2094" name="Connector: Elbow 2093">
              <a:extLst>
                <a:ext uri="{FF2B5EF4-FFF2-40B4-BE49-F238E27FC236}">
                  <a16:creationId xmlns:a16="http://schemas.microsoft.com/office/drawing/2014/main" id="{F05A0A87-125D-D1CF-D2C3-0E473A5D493E}"/>
                </a:ext>
              </a:extLst>
            </p:cNvPr>
            <p:cNvCxnSpPr>
              <a:stCxn id="3082" idx="1"/>
              <a:endCxn id="14" idx="3"/>
            </p:cNvCxnSpPr>
            <p:nvPr/>
          </p:nvCxnSpPr>
          <p:spPr>
            <a:xfrm rot="10800000">
              <a:off x="9346642" y="3272409"/>
              <a:ext cx="1196593" cy="1245577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7030A0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Connector: Elbow 2096">
              <a:extLst>
                <a:ext uri="{FF2B5EF4-FFF2-40B4-BE49-F238E27FC236}">
                  <a16:creationId xmlns:a16="http://schemas.microsoft.com/office/drawing/2014/main" id="{E513388E-002D-DA86-40C7-CC1520B64A22}"/>
                </a:ext>
              </a:extLst>
            </p:cNvPr>
            <p:cNvCxnSpPr>
              <a:stCxn id="3082" idx="1"/>
              <a:endCxn id="22" idx="3"/>
            </p:cNvCxnSpPr>
            <p:nvPr/>
          </p:nvCxnSpPr>
          <p:spPr>
            <a:xfrm rot="10800000">
              <a:off x="9181864" y="3886859"/>
              <a:ext cx="1361370" cy="631127"/>
            </a:xfrm>
            <a:prstGeom prst="bentConnector3">
              <a:avLst>
                <a:gd name="adj1" fmla="val 44030"/>
              </a:avLst>
            </a:prstGeom>
            <a:ln w="28575">
              <a:solidFill>
                <a:srgbClr val="7030A0"/>
              </a:solidFill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06" name="Arrow: Right 2105">
            <a:extLst>
              <a:ext uri="{FF2B5EF4-FFF2-40B4-BE49-F238E27FC236}">
                <a16:creationId xmlns:a16="http://schemas.microsoft.com/office/drawing/2014/main" id="{00F09DA3-69CB-4730-A3C4-DFAB4911BED2}"/>
              </a:ext>
            </a:extLst>
          </p:cNvPr>
          <p:cNvSpPr/>
          <p:nvPr/>
        </p:nvSpPr>
        <p:spPr bwMode="auto">
          <a:xfrm>
            <a:off x="6661435" y="2566503"/>
            <a:ext cx="1414901" cy="144811"/>
          </a:xfrm>
          <a:prstGeom prst="rightArrow">
            <a:avLst/>
          </a:prstGeom>
          <a:pattFill prst="pct60">
            <a:fgClr>
              <a:srgbClr val="0078D4"/>
            </a:fgClr>
            <a:bgClr>
              <a:schemeClr val="bg1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08" name="Arrow: Right 2107">
            <a:extLst>
              <a:ext uri="{FF2B5EF4-FFF2-40B4-BE49-F238E27FC236}">
                <a16:creationId xmlns:a16="http://schemas.microsoft.com/office/drawing/2014/main" id="{F70E785D-3BBC-F0A8-68F9-3EFFE598F167}"/>
              </a:ext>
            </a:extLst>
          </p:cNvPr>
          <p:cNvSpPr/>
          <p:nvPr/>
        </p:nvSpPr>
        <p:spPr bwMode="auto">
          <a:xfrm>
            <a:off x="6652272" y="3614428"/>
            <a:ext cx="1414901" cy="144811"/>
          </a:xfrm>
          <a:prstGeom prst="rightArrow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09" name="Arrow: Right 2108">
            <a:extLst>
              <a:ext uri="{FF2B5EF4-FFF2-40B4-BE49-F238E27FC236}">
                <a16:creationId xmlns:a16="http://schemas.microsoft.com/office/drawing/2014/main" id="{4DACE4A5-F475-83B3-52DB-4BDF3349F170}"/>
              </a:ext>
            </a:extLst>
          </p:cNvPr>
          <p:cNvSpPr/>
          <p:nvPr/>
        </p:nvSpPr>
        <p:spPr bwMode="auto">
          <a:xfrm>
            <a:off x="6586566" y="4586017"/>
            <a:ext cx="1404000" cy="144811"/>
          </a:xfrm>
          <a:prstGeom prst="rightArrow">
            <a:avLst/>
          </a:prstGeom>
          <a:solidFill>
            <a:srgbClr val="FFA38B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3155" name="Connector: Elbow 3154">
            <a:extLst>
              <a:ext uri="{FF2B5EF4-FFF2-40B4-BE49-F238E27FC236}">
                <a16:creationId xmlns:a16="http://schemas.microsoft.com/office/drawing/2014/main" id="{61AD10E9-3948-5BED-BCE1-15290E5CEC01}"/>
              </a:ext>
            </a:extLst>
          </p:cNvPr>
          <p:cNvCxnSpPr>
            <a:stCxn id="20" idx="1"/>
            <a:endCxn id="10" idx="3"/>
          </p:cNvCxnSpPr>
          <p:nvPr/>
        </p:nvCxnSpPr>
        <p:spPr>
          <a:xfrm rot="10800000" flipV="1">
            <a:off x="1403800" y="2443225"/>
            <a:ext cx="657927" cy="118420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7" name="Connector: Elbow 3156">
            <a:extLst>
              <a:ext uri="{FF2B5EF4-FFF2-40B4-BE49-F238E27FC236}">
                <a16:creationId xmlns:a16="http://schemas.microsoft.com/office/drawing/2014/main" id="{46F9E446-D42C-A38E-8D6C-EEC061864C10}"/>
              </a:ext>
            </a:extLst>
          </p:cNvPr>
          <p:cNvCxnSpPr>
            <a:stCxn id="11" idx="1"/>
            <a:endCxn id="10" idx="3"/>
          </p:cNvCxnSpPr>
          <p:nvPr/>
        </p:nvCxnSpPr>
        <p:spPr>
          <a:xfrm rot="10800000" flipV="1">
            <a:off x="1403799" y="2975011"/>
            <a:ext cx="668000" cy="652424"/>
          </a:xfrm>
          <a:prstGeom prst="bentConnector3">
            <a:avLst>
              <a:gd name="adj1" fmla="val 50713"/>
            </a:avLst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9" name="Connector: Elbow 3158">
            <a:extLst>
              <a:ext uri="{FF2B5EF4-FFF2-40B4-BE49-F238E27FC236}">
                <a16:creationId xmlns:a16="http://schemas.microsoft.com/office/drawing/2014/main" id="{64FA5EC7-88C7-CF06-C1FA-2D2551413001}"/>
              </a:ext>
            </a:extLst>
          </p:cNvPr>
          <p:cNvCxnSpPr>
            <a:cxnSpLocks/>
            <a:stCxn id="15" idx="1"/>
            <a:endCxn id="5174" idx="1"/>
          </p:cNvCxnSpPr>
          <p:nvPr/>
        </p:nvCxnSpPr>
        <p:spPr>
          <a:xfrm rot="10800000">
            <a:off x="1568488" y="1800551"/>
            <a:ext cx="516823" cy="24206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2" name="Straight Connector 3191">
            <a:extLst>
              <a:ext uri="{FF2B5EF4-FFF2-40B4-BE49-F238E27FC236}">
                <a16:creationId xmlns:a16="http://schemas.microsoft.com/office/drawing/2014/main" id="{F02602FD-ADC2-25FB-0E95-A0C85D68BB88}"/>
              </a:ext>
            </a:extLst>
          </p:cNvPr>
          <p:cNvCxnSpPr>
            <a:stCxn id="2058" idx="3"/>
            <a:endCxn id="2056" idx="1"/>
          </p:cNvCxnSpPr>
          <p:nvPr/>
        </p:nvCxnSpPr>
        <p:spPr>
          <a:xfrm>
            <a:off x="7020067" y="1556324"/>
            <a:ext cx="857575" cy="0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  <a:effectLst>
            <a:glow rad="381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83" name="Group 3082">
            <a:extLst>
              <a:ext uri="{FF2B5EF4-FFF2-40B4-BE49-F238E27FC236}">
                <a16:creationId xmlns:a16="http://schemas.microsoft.com/office/drawing/2014/main" id="{50640075-7E87-9949-7AFE-469DA4A4F444}"/>
              </a:ext>
            </a:extLst>
          </p:cNvPr>
          <p:cNvGrpSpPr/>
          <p:nvPr/>
        </p:nvGrpSpPr>
        <p:grpSpPr>
          <a:xfrm>
            <a:off x="339758" y="421348"/>
            <a:ext cx="1512000" cy="189835"/>
            <a:chOff x="422624" y="591416"/>
            <a:chExt cx="1411754" cy="189835"/>
          </a:xfrm>
        </p:grpSpPr>
        <p:cxnSp>
          <p:nvCxnSpPr>
            <p:cNvPr id="3194" name="Straight Connector 3193">
              <a:extLst>
                <a:ext uri="{FF2B5EF4-FFF2-40B4-BE49-F238E27FC236}">
                  <a16:creationId xmlns:a16="http://schemas.microsoft.com/office/drawing/2014/main" id="{668E94D2-6BA8-E13B-341F-5958642368B9}"/>
                </a:ext>
              </a:extLst>
            </p:cNvPr>
            <p:cNvCxnSpPr>
              <a:cxnSpLocks/>
            </p:cNvCxnSpPr>
            <p:nvPr/>
          </p:nvCxnSpPr>
          <p:spPr>
            <a:xfrm>
              <a:off x="422624" y="781251"/>
              <a:ext cx="1411754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5" name="TextBox 3194">
              <a:extLst>
                <a:ext uri="{FF2B5EF4-FFF2-40B4-BE49-F238E27FC236}">
                  <a16:creationId xmlns:a16="http://schemas.microsoft.com/office/drawing/2014/main" id="{9E05CB57-F109-0DD2-53D8-1111CFDF1CFB}"/>
                </a:ext>
              </a:extLst>
            </p:cNvPr>
            <p:cNvSpPr txBox="1"/>
            <p:nvPr/>
          </p:nvSpPr>
          <p:spPr>
            <a:xfrm>
              <a:off x="563924" y="591416"/>
              <a:ext cx="1129155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MS Security Tool</a:t>
              </a:r>
            </a:p>
          </p:txBody>
        </p:sp>
      </p:grpSp>
      <p:grpSp>
        <p:nvGrpSpPr>
          <p:cNvPr id="6268" name="Group 6267">
            <a:extLst>
              <a:ext uri="{FF2B5EF4-FFF2-40B4-BE49-F238E27FC236}">
                <a16:creationId xmlns:a16="http://schemas.microsoft.com/office/drawing/2014/main" id="{113D2378-9E65-9411-3F7C-C635B3D5D741}"/>
              </a:ext>
            </a:extLst>
          </p:cNvPr>
          <p:cNvGrpSpPr/>
          <p:nvPr/>
        </p:nvGrpSpPr>
        <p:grpSpPr>
          <a:xfrm>
            <a:off x="2016755" y="430764"/>
            <a:ext cx="1411754" cy="184666"/>
            <a:chOff x="2128831" y="846678"/>
            <a:chExt cx="1411754" cy="184666"/>
          </a:xfrm>
        </p:grpSpPr>
        <p:cxnSp>
          <p:nvCxnSpPr>
            <p:cNvPr id="3203" name="Straight Connector 3202">
              <a:extLst>
                <a:ext uri="{FF2B5EF4-FFF2-40B4-BE49-F238E27FC236}">
                  <a16:creationId xmlns:a16="http://schemas.microsoft.com/office/drawing/2014/main" id="{7D757214-7F96-88C0-32A5-089CDD3AFE40}"/>
                </a:ext>
              </a:extLst>
            </p:cNvPr>
            <p:cNvCxnSpPr>
              <a:cxnSpLocks/>
            </p:cNvCxnSpPr>
            <p:nvPr/>
          </p:nvCxnSpPr>
          <p:spPr>
            <a:xfrm>
              <a:off x="2128831" y="1027835"/>
              <a:ext cx="1411754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04" name="TextBox 3203">
              <a:extLst>
                <a:ext uri="{FF2B5EF4-FFF2-40B4-BE49-F238E27FC236}">
                  <a16:creationId xmlns:a16="http://schemas.microsoft.com/office/drawing/2014/main" id="{C0B7E3B3-E8C8-B735-FFF7-D4E5A760FABC}"/>
                </a:ext>
              </a:extLst>
            </p:cNvPr>
            <p:cNvSpPr txBox="1"/>
            <p:nvPr/>
          </p:nvSpPr>
          <p:spPr>
            <a:xfrm>
              <a:off x="2401192" y="846678"/>
              <a:ext cx="867032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MCP Servers</a:t>
              </a:r>
            </a:p>
          </p:txBody>
        </p:sp>
      </p:grpSp>
      <p:grpSp>
        <p:nvGrpSpPr>
          <p:cNvPr id="3089" name="Group 3088">
            <a:extLst>
              <a:ext uri="{FF2B5EF4-FFF2-40B4-BE49-F238E27FC236}">
                <a16:creationId xmlns:a16="http://schemas.microsoft.com/office/drawing/2014/main" id="{0083C371-2744-8C47-7BD2-EB30D8D0E1DD}"/>
              </a:ext>
            </a:extLst>
          </p:cNvPr>
          <p:cNvGrpSpPr/>
          <p:nvPr/>
        </p:nvGrpSpPr>
        <p:grpSpPr>
          <a:xfrm>
            <a:off x="5649809" y="421348"/>
            <a:ext cx="1080000" cy="189835"/>
            <a:chOff x="5619645" y="591416"/>
            <a:chExt cx="1411754" cy="189835"/>
          </a:xfrm>
        </p:grpSpPr>
        <p:cxnSp>
          <p:nvCxnSpPr>
            <p:cNvPr id="3206" name="Straight Connector 3205">
              <a:extLst>
                <a:ext uri="{FF2B5EF4-FFF2-40B4-BE49-F238E27FC236}">
                  <a16:creationId xmlns:a16="http://schemas.microsoft.com/office/drawing/2014/main" id="{3C875C3E-EED1-8272-6963-C9C8CC9EA9BC}"/>
                </a:ext>
              </a:extLst>
            </p:cNvPr>
            <p:cNvCxnSpPr>
              <a:cxnSpLocks/>
            </p:cNvCxnSpPr>
            <p:nvPr/>
          </p:nvCxnSpPr>
          <p:spPr>
            <a:xfrm>
              <a:off x="5619645" y="781251"/>
              <a:ext cx="1411754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07" name="TextBox 3206">
              <a:extLst>
                <a:ext uri="{FF2B5EF4-FFF2-40B4-BE49-F238E27FC236}">
                  <a16:creationId xmlns:a16="http://schemas.microsoft.com/office/drawing/2014/main" id="{807E916C-9029-7A27-EB7B-5AB3C9FEE1CC}"/>
                </a:ext>
              </a:extLst>
            </p:cNvPr>
            <p:cNvSpPr txBox="1"/>
            <p:nvPr/>
          </p:nvSpPr>
          <p:spPr>
            <a:xfrm>
              <a:off x="6000113" y="591416"/>
              <a:ext cx="65081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AI Agents</a:t>
              </a:r>
            </a:p>
          </p:txBody>
        </p:sp>
      </p:grpSp>
      <p:grpSp>
        <p:nvGrpSpPr>
          <p:cNvPr id="3092" name="Group 3091">
            <a:extLst>
              <a:ext uri="{FF2B5EF4-FFF2-40B4-BE49-F238E27FC236}">
                <a16:creationId xmlns:a16="http://schemas.microsoft.com/office/drawing/2014/main" id="{CE54D4E0-3845-EB1B-C037-0F4462B78A79}"/>
              </a:ext>
            </a:extLst>
          </p:cNvPr>
          <p:cNvGrpSpPr/>
          <p:nvPr/>
        </p:nvGrpSpPr>
        <p:grpSpPr>
          <a:xfrm>
            <a:off x="7834585" y="421348"/>
            <a:ext cx="1411754" cy="189835"/>
            <a:chOff x="7784101" y="591416"/>
            <a:chExt cx="1411754" cy="189835"/>
          </a:xfrm>
        </p:grpSpPr>
        <p:cxnSp>
          <p:nvCxnSpPr>
            <p:cNvPr id="3209" name="Straight Connector 3208">
              <a:extLst>
                <a:ext uri="{FF2B5EF4-FFF2-40B4-BE49-F238E27FC236}">
                  <a16:creationId xmlns:a16="http://schemas.microsoft.com/office/drawing/2014/main" id="{D5810E67-994D-D2D2-BD9D-C64EF227F916}"/>
                </a:ext>
              </a:extLst>
            </p:cNvPr>
            <p:cNvCxnSpPr>
              <a:cxnSpLocks/>
            </p:cNvCxnSpPr>
            <p:nvPr/>
          </p:nvCxnSpPr>
          <p:spPr>
            <a:xfrm>
              <a:off x="7784101" y="781251"/>
              <a:ext cx="1411754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0" name="TextBox 3209">
              <a:extLst>
                <a:ext uri="{FF2B5EF4-FFF2-40B4-BE49-F238E27FC236}">
                  <a16:creationId xmlns:a16="http://schemas.microsoft.com/office/drawing/2014/main" id="{E0E29C77-131A-E0F0-E436-F456E633AF7B}"/>
                </a:ext>
              </a:extLst>
            </p:cNvPr>
            <p:cNvSpPr txBox="1"/>
            <p:nvPr/>
          </p:nvSpPr>
          <p:spPr>
            <a:xfrm>
              <a:off x="8198232" y="591416"/>
              <a:ext cx="58349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Main UIs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6FA5210-A9A0-78A3-EDC7-A2DCFF4C0AFC}"/>
              </a:ext>
            </a:extLst>
          </p:cNvPr>
          <p:cNvGrpSpPr/>
          <p:nvPr/>
        </p:nvGrpSpPr>
        <p:grpSpPr>
          <a:xfrm>
            <a:off x="10593718" y="3858717"/>
            <a:ext cx="1080000" cy="1425075"/>
            <a:chOff x="10543234" y="4759670"/>
            <a:chExt cx="1080000" cy="1425075"/>
          </a:xfrm>
        </p:grpSpPr>
        <p:pic>
          <p:nvPicPr>
            <p:cNvPr id="3082" name="Picture 10" descr="Boss, businesswoman, executive, female, professional, woman icon ...">
              <a:extLst>
                <a:ext uri="{FF2B5EF4-FFF2-40B4-BE49-F238E27FC236}">
                  <a16:creationId xmlns:a16="http://schemas.microsoft.com/office/drawing/2014/main" id="{4E727921-983D-7E25-3A14-B8A281791F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43234" y="4759670"/>
              <a:ext cx="10800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A8D3E13-BE6F-6EDE-E215-AAADBD74BD0F}"/>
                </a:ext>
              </a:extLst>
            </p:cNvPr>
            <p:cNvSpPr txBox="1"/>
            <p:nvPr/>
          </p:nvSpPr>
          <p:spPr>
            <a:xfrm>
              <a:off x="10543235" y="5707691"/>
              <a:ext cx="1079999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en-US" sz="1400" b="1" noProof="0">
                  <a:solidFill>
                    <a:srgbClr val="7030A0"/>
                  </a:solidFill>
                </a:rPr>
                <a:t>SOC Manager</a:t>
              </a:r>
              <a:endParaRPr lang="en-US" sz="1400" noProof="0">
                <a:solidFill>
                  <a:srgbClr val="7030A0"/>
                </a:solidFill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804B72C-B545-8318-F83B-15087AE8CED5}"/>
              </a:ext>
            </a:extLst>
          </p:cNvPr>
          <p:cNvGrpSpPr/>
          <p:nvPr/>
        </p:nvGrpSpPr>
        <p:grpSpPr>
          <a:xfrm>
            <a:off x="10627034" y="2594598"/>
            <a:ext cx="1013368" cy="1350290"/>
            <a:chOff x="10582985" y="3093459"/>
            <a:chExt cx="1013368" cy="1350290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3B7A19C-8173-283D-987E-B4426E8DB69B}"/>
                </a:ext>
              </a:extLst>
            </p:cNvPr>
            <p:cNvSpPr txBox="1"/>
            <p:nvPr/>
          </p:nvSpPr>
          <p:spPr>
            <a:xfrm>
              <a:off x="10582985" y="3966695"/>
              <a:ext cx="101336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en-US" sz="1400" b="1" noProof="0" dirty="0">
                  <a:solidFill>
                    <a:schemeClr val="accent1"/>
                  </a:solidFill>
                </a:rPr>
                <a:t>SOC Operator</a:t>
              </a:r>
              <a:endParaRPr lang="en-US" sz="1400" noProof="0" dirty="0">
                <a:solidFill>
                  <a:schemeClr val="accent1"/>
                </a:solidFill>
              </a:endParaRP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7A194C3-8161-B4C6-AE07-B0AF99385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46710" y="3093459"/>
              <a:ext cx="885918" cy="885918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28069DB-B299-C260-9E65-9935AA8AACC2}"/>
              </a:ext>
            </a:extLst>
          </p:cNvPr>
          <p:cNvGrpSpPr/>
          <p:nvPr/>
        </p:nvGrpSpPr>
        <p:grpSpPr>
          <a:xfrm>
            <a:off x="10486159" y="1395796"/>
            <a:ext cx="1295118" cy="1144638"/>
            <a:chOff x="10435675" y="1515064"/>
            <a:chExt cx="1295118" cy="1144638"/>
          </a:xfrm>
        </p:grpSpPr>
        <p:pic>
          <p:nvPicPr>
            <p:cNvPr id="3084" name="Picture 12" descr="Man, avatar, businessman, profile, user icon - Download on Iconfinder">
              <a:extLst>
                <a:ext uri="{FF2B5EF4-FFF2-40B4-BE49-F238E27FC236}">
                  <a16:creationId xmlns:a16="http://schemas.microsoft.com/office/drawing/2014/main" id="{BEC30804-F15B-2AA2-A476-D728733F9B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26305" y="1515064"/>
              <a:ext cx="713859" cy="7138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9DB861-466B-D227-AE2E-5DBB68CB6933}"/>
                </a:ext>
              </a:extLst>
            </p:cNvPr>
            <p:cNvSpPr txBox="1"/>
            <p:nvPr/>
          </p:nvSpPr>
          <p:spPr>
            <a:xfrm>
              <a:off x="10435675" y="2182648"/>
              <a:ext cx="1295118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en-US" sz="1400" b="1" noProof="0">
                  <a:solidFill>
                    <a:srgbClr val="00B050"/>
                  </a:solidFill>
                </a:rPr>
                <a:t>Solution Developer</a:t>
              </a:r>
              <a:endParaRPr lang="en-US" sz="1400" noProof="0">
                <a:solidFill>
                  <a:srgbClr val="00B050"/>
                </a:solidFill>
              </a:endParaRPr>
            </a:p>
          </p:txBody>
        </p:sp>
      </p:grpSp>
      <p:grpSp>
        <p:nvGrpSpPr>
          <p:cNvPr id="3094" name="Group 3093">
            <a:extLst>
              <a:ext uri="{FF2B5EF4-FFF2-40B4-BE49-F238E27FC236}">
                <a16:creationId xmlns:a16="http://schemas.microsoft.com/office/drawing/2014/main" id="{C109A0E4-CD2F-3BB8-06E5-756875237A63}"/>
              </a:ext>
            </a:extLst>
          </p:cNvPr>
          <p:cNvGrpSpPr/>
          <p:nvPr/>
        </p:nvGrpSpPr>
        <p:grpSpPr>
          <a:xfrm>
            <a:off x="10466025" y="421348"/>
            <a:ext cx="1411754" cy="369332"/>
            <a:chOff x="10415541" y="591416"/>
            <a:chExt cx="1411754" cy="369332"/>
          </a:xfrm>
        </p:grpSpPr>
        <p:cxnSp>
          <p:nvCxnSpPr>
            <p:cNvPr id="3212" name="Straight Connector 3211">
              <a:extLst>
                <a:ext uri="{FF2B5EF4-FFF2-40B4-BE49-F238E27FC236}">
                  <a16:creationId xmlns:a16="http://schemas.microsoft.com/office/drawing/2014/main" id="{A4D90654-9D59-0F74-996A-4380116A27D3}"/>
                </a:ext>
              </a:extLst>
            </p:cNvPr>
            <p:cNvCxnSpPr>
              <a:cxnSpLocks/>
            </p:cNvCxnSpPr>
            <p:nvPr/>
          </p:nvCxnSpPr>
          <p:spPr>
            <a:xfrm>
              <a:off x="10415541" y="781251"/>
              <a:ext cx="1411754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3" name="TextBox 3212">
              <a:extLst>
                <a:ext uri="{FF2B5EF4-FFF2-40B4-BE49-F238E27FC236}">
                  <a16:creationId xmlns:a16="http://schemas.microsoft.com/office/drawing/2014/main" id="{2DB29579-2AF6-0BD2-32AA-E28B095D595A}"/>
                </a:ext>
              </a:extLst>
            </p:cNvPr>
            <p:cNvSpPr txBox="1"/>
            <p:nvPr/>
          </p:nvSpPr>
          <p:spPr>
            <a:xfrm>
              <a:off x="10644461" y="591416"/>
              <a:ext cx="953915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 noProof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SOC Personas</a:t>
              </a:r>
            </a:p>
            <a:p>
              <a:pPr algn="ctr"/>
              <a:r>
                <a:rPr lang="en-US" sz="1200" noProof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(simplified)</a:t>
              </a:r>
            </a:p>
          </p:txBody>
        </p:sp>
      </p:grpSp>
      <p:grpSp>
        <p:nvGrpSpPr>
          <p:cNvPr id="3091" name="Group 3090">
            <a:extLst>
              <a:ext uri="{FF2B5EF4-FFF2-40B4-BE49-F238E27FC236}">
                <a16:creationId xmlns:a16="http://schemas.microsoft.com/office/drawing/2014/main" id="{5C7F0BFB-A02F-D52E-A807-41E4DA8F278F}"/>
              </a:ext>
            </a:extLst>
          </p:cNvPr>
          <p:cNvGrpSpPr/>
          <p:nvPr/>
        </p:nvGrpSpPr>
        <p:grpSpPr>
          <a:xfrm>
            <a:off x="6681691" y="737570"/>
            <a:ext cx="1160815" cy="369332"/>
            <a:chOff x="6631207" y="846678"/>
            <a:chExt cx="1160815" cy="369332"/>
          </a:xfrm>
        </p:grpSpPr>
        <p:cxnSp>
          <p:nvCxnSpPr>
            <p:cNvPr id="3215" name="Straight Connector 3214">
              <a:extLst>
                <a:ext uri="{FF2B5EF4-FFF2-40B4-BE49-F238E27FC236}">
                  <a16:creationId xmlns:a16="http://schemas.microsoft.com/office/drawing/2014/main" id="{AA3D2459-2783-1B99-FB3B-20C41F9A6BEC}"/>
                </a:ext>
              </a:extLst>
            </p:cNvPr>
            <p:cNvCxnSpPr>
              <a:cxnSpLocks/>
            </p:cNvCxnSpPr>
            <p:nvPr/>
          </p:nvCxnSpPr>
          <p:spPr>
            <a:xfrm>
              <a:off x="6631207" y="1027835"/>
              <a:ext cx="1160815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6" name="TextBox 3215">
              <a:extLst>
                <a:ext uri="{FF2B5EF4-FFF2-40B4-BE49-F238E27FC236}">
                  <a16:creationId xmlns:a16="http://schemas.microsoft.com/office/drawing/2014/main" id="{04B5FBAB-349F-6523-F5CE-E27568419A21}"/>
                </a:ext>
              </a:extLst>
            </p:cNvPr>
            <p:cNvSpPr txBox="1"/>
            <p:nvPr/>
          </p:nvSpPr>
          <p:spPr>
            <a:xfrm>
              <a:off x="6758798" y="846678"/>
              <a:ext cx="905633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Development</a:t>
              </a:r>
            </a:p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Environment</a:t>
              </a:r>
            </a:p>
          </p:txBody>
        </p:sp>
      </p:grpSp>
      <p:sp>
        <p:nvSpPr>
          <p:cNvPr id="3146" name="TextBox 3145">
            <a:extLst>
              <a:ext uri="{FF2B5EF4-FFF2-40B4-BE49-F238E27FC236}">
                <a16:creationId xmlns:a16="http://schemas.microsoft.com/office/drawing/2014/main" id="{C8C501D9-2C56-AFFA-0503-D75B4C005D47}"/>
              </a:ext>
            </a:extLst>
          </p:cNvPr>
          <p:cNvSpPr txBox="1"/>
          <p:nvPr/>
        </p:nvSpPr>
        <p:spPr>
          <a:xfrm>
            <a:off x="1229644" y="5328867"/>
            <a:ext cx="9091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/>
              <a:t>Graph API</a:t>
            </a:r>
            <a:endParaRPr lang="en-US" sz="1200" b="1" noProof="0"/>
          </a:p>
        </p:txBody>
      </p:sp>
      <p:cxnSp>
        <p:nvCxnSpPr>
          <p:cNvPr id="3161" name="Straight Connector 3160">
            <a:extLst>
              <a:ext uri="{FF2B5EF4-FFF2-40B4-BE49-F238E27FC236}">
                <a16:creationId xmlns:a16="http://schemas.microsoft.com/office/drawing/2014/main" id="{1CAD7549-19DA-4786-CA24-EE45DAC150E3}"/>
              </a:ext>
            </a:extLst>
          </p:cNvPr>
          <p:cNvCxnSpPr/>
          <p:nvPr/>
        </p:nvCxnSpPr>
        <p:spPr>
          <a:xfrm>
            <a:off x="2142178" y="3767321"/>
            <a:ext cx="1152000" cy="0"/>
          </a:xfrm>
          <a:prstGeom prst="line">
            <a:avLst/>
          </a:prstGeom>
          <a:noFill/>
          <a:ln w="317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grpSp>
        <p:nvGrpSpPr>
          <p:cNvPr id="3256" name="Group 3255">
            <a:extLst>
              <a:ext uri="{FF2B5EF4-FFF2-40B4-BE49-F238E27FC236}">
                <a16:creationId xmlns:a16="http://schemas.microsoft.com/office/drawing/2014/main" id="{2A08DC2D-F368-5EEB-F48B-EE9F88EDB746}"/>
              </a:ext>
            </a:extLst>
          </p:cNvPr>
          <p:cNvGrpSpPr/>
          <p:nvPr/>
        </p:nvGrpSpPr>
        <p:grpSpPr>
          <a:xfrm>
            <a:off x="436098" y="4017022"/>
            <a:ext cx="1046056" cy="571802"/>
            <a:chOff x="160709" y="4137593"/>
            <a:chExt cx="1046056" cy="571802"/>
          </a:xfrm>
        </p:grpSpPr>
        <p:pic>
          <p:nvPicPr>
            <p:cNvPr id="5122" name="Picture 2" descr="Microsoft Purview Jumpstart">
              <a:extLst>
                <a:ext uri="{FF2B5EF4-FFF2-40B4-BE49-F238E27FC236}">
                  <a16:creationId xmlns:a16="http://schemas.microsoft.com/office/drawing/2014/main" id="{3DF44740-85F9-4CC9-CC3A-8F83068E35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46" y="4137593"/>
              <a:ext cx="360000" cy="3545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78" name="TextBox 3177">
              <a:extLst>
                <a:ext uri="{FF2B5EF4-FFF2-40B4-BE49-F238E27FC236}">
                  <a16:creationId xmlns:a16="http://schemas.microsoft.com/office/drawing/2014/main" id="{7B006111-206B-1064-4770-49A51ECD6F26}"/>
                </a:ext>
              </a:extLst>
            </p:cNvPr>
            <p:cNvSpPr txBox="1"/>
            <p:nvPr/>
          </p:nvSpPr>
          <p:spPr>
            <a:xfrm>
              <a:off x="160709" y="4432396"/>
              <a:ext cx="10460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/>
                <a:t>MS Purview</a:t>
              </a:r>
              <a:endParaRPr lang="en-US" sz="1200" b="1" noProof="0"/>
            </a:p>
          </p:txBody>
        </p:sp>
      </p:grpSp>
      <p:cxnSp>
        <p:nvCxnSpPr>
          <p:cNvPr id="3184" name="Connector: Elbow 3183">
            <a:extLst>
              <a:ext uri="{FF2B5EF4-FFF2-40B4-BE49-F238E27FC236}">
                <a16:creationId xmlns:a16="http://schemas.microsoft.com/office/drawing/2014/main" id="{81FA726A-F8CC-DB10-6DC7-317969EB6399}"/>
              </a:ext>
            </a:extLst>
          </p:cNvPr>
          <p:cNvCxnSpPr>
            <a:cxnSpLocks/>
            <a:stCxn id="5159" idx="2"/>
            <a:endCxn id="5167" idx="0"/>
          </p:cNvCxnSpPr>
          <p:nvPr/>
        </p:nvCxnSpPr>
        <p:spPr>
          <a:xfrm rot="5400000">
            <a:off x="678076" y="2739550"/>
            <a:ext cx="562103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6" name="Connector: Elbow 3185">
            <a:extLst>
              <a:ext uri="{FF2B5EF4-FFF2-40B4-BE49-F238E27FC236}">
                <a16:creationId xmlns:a16="http://schemas.microsoft.com/office/drawing/2014/main" id="{52A23133-0CD4-251E-BE6E-C62F91DD4BE9}"/>
              </a:ext>
            </a:extLst>
          </p:cNvPr>
          <p:cNvCxnSpPr>
            <a:stCxn id="5122" idx="1"/>
            <a:endCxn id="32" idx="1"/>
          </p:cNvCxnSpPr>
          <p:nvPr/>
        </p:nvCxnSpPr>
        <p:spPr>
          <a:xfrm rot="10800000">
            <a:off x="779127" y="1322200"/>
            <a:ext cx="12509" cy="2872114"/>
          </a:xfrm>
          <a:prstGeom prst="bentConnector3">
            <a:avLst>
              <a:gd name="adj1" fmla="val 2993517"/>
            </a:avLst>
          </a:prstGeom>
          <a:ln>
            <a:solidFill>
              <a:srgbClr val="FFA38B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31" name="Picture 3230">
            <a:extLst>
              <a:ext uri="{FF2B5EF4-FFF2-40B4-BE49-F238E27FC236}">
                <a16:creationId xmlns:a16="http://schemas.microsoft.com/office/drawing/2014/main" id="{4010178B-ABA1-9F08-FB5D-E9AFA17CD98D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94864" y="5457436"/>
            <a:ext cx="360000" cy="365294"/>
          </a:xfrm>
          <a:prstGeom prst="rect">
            <a:avLst/>
          </a:prstGeom>
        </p:spPr>
      </p:pic>
      <p:sp>
        <p:nvSpPr>
          <p:cNvPr id="3232" name="TextBox 3231">
            <a:extLst>
              <a:ext uri="{FF2B5EF4-FFF2-40B4-BE49-F238E27FC236}">
                <a16:creationId xmlns:a16="http://schemas.microsoft.com/office/drawing/2014/main" id="{2E2A42FA-F27C-EBF8-36CF-E659970CE3D5}"/>
              </a:ext>
            </a:extLst>
          </p:cNvPr>
          <p:cNvSpPr txBox="1">
            <a:spLocks noChangeAspect="1"/>
          </p:cNvSpPr>
          <p:nvPr/>
        </p:nvSpPr>
        <p:spPr>
          <a:xfrm>
            <a:off x="5833485" y="5563139"/>
            <a:ext cx="75528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Logic App</a:t>
            </a:r>
            <a:endParaRPr lang="en-US" sz="1000" b="1" i="1"/>
          </a:p>
        </p:txBody>
      </p:sp>
      <p:pic>
        <p:nvPicPr>
          <p:cNvPr id="5124" name="Picture 4" descr="Microsoft Azure Logo">
            <a:extLst>
              <a:ext uri="{FF2B5EF4-FFF2-40B4-BE49-F238E27FC236}">
                <a16:creationId xmlns:a16="http://schemas.microsoft.com/office/drawing/2014/main" id="{A27498C4-432C-5B85-4E63-6BB91747B6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63" t="919" r="21131" b="919"/>
          <a:stretch>
            <a:fillRect/>
          </a:stretch>
        </p:blipFill>
        <p:spPr bwMode="auto">
          <a:xfrm>
            <a:off x="6607736" y="5467253"/>
            <a:ext cx="360000" cy="345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33" name="TextBox 3232">
            <a:extLst>
              <a:ext uri="{FF2B5EF4-FFF2-40B4-BE49-F238E27FC236}">
                <a16:creationId xmlns:a16="http://schemas.microsoft.com/office/drawing/2014/main" id="{960BC3B9-CE58-5B28-7B48-21AD7C52BA92}"/>
              </a:ext>
            </a:extLst>
          </p:cNvPr>
          <p:cNvSpPr txBox="1"/>
          <p:nvPr/>
        </p:nvSpPr>
        <p:spPr>
          <a:xfrm>
            <a:off x="6978923" y="5440028"/>
            <a:ext cx="67553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b="1" noProof="0"/>
              <a:t>Microsoft Azure</a:t>
            </a:r>
            <a:endParaRPr lang="en-US" sz="1000" noProof="0"/>
          </a:p>
        </p:txBody>
      </p:sp>
      <p:cxnSp>
        <p:nvCxnSpPr>
          <p:cNvPr id="3243" name="Connector: Elbow 3242">
            <a:extLst>
              <a:ext uri="{FF2B5EF4-FFF2-40B4-BE49-F238E27FC236}">
                <a16:creationId xmlns:a16="http://schemas.microsoft.com/office/drawing/2014/main" id="{860E9706-8B83-7419-B736-2CFE66EC34F6}"/>
              </a:ext>
            </a:extLst>
          </p:cNvPr>
          <p:cNvCxnSpPr>
            <a:cxnSpLocks/>
            <a:stCxn id="2076" idx="2"/>
            <a:endCxn id="2072" idx="3"/>
          </p:cNvCxnSpPr>
          <p:nvPr/>
        </p:nvCxnSpPr>
        <p:spPr>
          <a:xfrm rot="5400000">
            <a:off x="6735063" y="3066260"/>
            <a:ext cx="1929863" cy="196337"/>
          </a:xfrm>
          <a:prstGeom prst="bentConnector2">
            <a:avLst/>
          </a:prstGeom>
          <a:ln w="3175">
            <a:solidFill>
              <a:srgbClr val="00B050"/>
            </a:solidFill>
            <a:prstDash val="sysDot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2" name="Connector: Elbow 3251">
            <a:extLst>
              <a:ext uri="{FF2B5EF4-FFF2-40B4-BE49-F238E27FC236}">
                <a16:creationId xmlns:a16="http://schemas.microsoft.com/office/drawing/2014/main" id="{110B9F7C-B91B-87CC-DDEC-6472982AA707}"/>
              </a:ext>
            </a:extLst>
          </p:cNvPr>
          <p:cNvCxnSpPr>
            <a:cxnSpLocks/>
            <a:stCxn id="2076" idx="2"/>
            <a:endCxn id="3233" idx="3"/>
          </p:cNvCxnSpPr>
          <p:nvPr/>
        </p:nvCxnSpPr>
        <p:spPr>
          <a:xfrm rot="5400000">
            <a:off x="6006015" y="3847936"/>
            <a:ext cx="3440586" cy="143709"/>
          </a:xfrm>
          <a:prstGeom prst="bentConnector2">
            <a:avLst/>
          </a:prstGeom>
          <a:ln w="3175">
            <a:solidFill>
              <a:srgbClr val="00B050"/>
            </a:solidFill>
            <a:prstDash val="sysDot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57" name="Group 3256">
            <a:extLst>
              <a:ext uri="{FF2B5EF4-FFF2-40B4-BE49-F238E27FC236}">
                <a16:creationId xmlns:a16="http://schemas.microsoft.com/office/drawing/2014/main" id="{1DC9B2C1-1C10-7783-A67A-69059C4E6849}"/>
              </a:ext>
            </a:extLst>
          </p:cNvPr>
          <p:cNvGrpSpPr/>
          <p:nvPr/>
        </p:nvGrpSpPr>
        <p:grpSpPr>
          <a:xfrm>
            <a:off x="495698" y="5637980"/>
            <a:ext cx="926857" cy="600136"/>
            <a:chOff x="98320" y="5839713"/>
            <a:chExt cx="926857" cy="600136"/>
          </a:xfrm>
        </p:grpSpPr>
        <p:pic>
          <p:nvPicPr>
            <p:cNvPr id="3174" name="Picture 3173">
              <a:extLst>
                <a:ext uri="{FF2B5EF4-FFF2-40B4-BE49-F238E27FC236}">
                  <a16:creationId xmlns:a16="http://schemas.microsoft.com/office/drawing/2014/main" id="{7320D9D7-255D-D166-4643-D30F6851B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4709" b="1309"/>
            <a:stretch>
              <a:fillRect/>
            </a:stretch>
          </p:blipFill>
          <p:spPr>
            <a:xfrm>
              <a:off x="363749" y="5839713"/>
              <a:ext cx="396000" cy="375312"/>
            </a:xfrm>
            <a:prstGeom prst="rect">
              <a:avLst/>
            </a:prstGeom>
          </p:spPr>
        </p:pic>
        <p:sp>
          <p:nvSpPr>
            <p:cNvPr id="3177" name="TextBox 3176">
              <a:extLst>
                <a:ext uri="{FF2B5EF4-FFF2-40B4-BE49-F238E27FC236}">
                  <a16:creationId xmlns:a16="http://schemas.microsoft.com/office/drawing/2014/main" id="{DBF498DC-AD56-D8F3-7BA6-F78D750B2C88}"/>
                </a:ext>
              </a:extLst>
            </p:cNvPr>
            <p:cNvSpPr txBox="1"/>
            <p:nvPr/>
          </p:nvSpPr>
          <p:spPr>
            <a:xfrm>
              <a:off x="98320" y="6162850"/>
              <a:ext cx="9268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/>
                <a:t>MS Intune</a:t>
              </a:r>
              <a:endParaRPr lang="en-US" sz="1200" b="1" noProof="0"/>
            </a:p>
          </p:txBody>
        </p:sp>
      </p:grpSp>
      <p:cxnSp>
        <p:nvCxnSpPr>
          <p:cNvPr id="3261" name="Connector: Elbow 3260">
            <a:extLst>
              <a:ext uri="{FF2B5EF4-FFF2-40B4-BE49-F238E27FC236}">
                <a16:creationId xmlns:a16="http://schemas.microsoft.com/office/drawing/2014/main" id="{77DB11D6-0C2E-0938-C2AA-F31B6935AB69}"/>
              </a:ext>
            </a:extLst>
          </p:cNvPr>
          <p:cNvCxnSpPr>
            <a:stCxn id="2052" idx="1"/>
            <a:endCxn id="2050" idx="3"/>
          </p:cNvCxnSpPr>
          <p:nvPr/>
        </p:nvCxnSpPr>
        <p:spPr>
          <a:xfrm rot="10800000">
            <a:off x="1139126" y="4887838"/>
            <a:ext cx="396772" cy="337779"/>
          </a:xfrm>
          <a:prstGeom prst="bentConnector3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8" name="Connector: Elbow 5127">
            <a:extLst>
              <a:ext uri="{FF2B5EF4-FFF2-40B4-BE49-F238E27FC236}">
                <a16:creationId xmlns:a16="http://schemas.microsoft.com/office/drawing/2014/main" id="{7BABC7D5-1350-B9E8-E4ED-040A92C2478A}"/>
              </a:ext>
            </a:extLst>
          </p:cNvPr>
          <p:cNvCxnSpPr>
            <a:stCxn id="6" idx="1"/>
            <a:endCxn id="2052" idx="3"/>
          </p:cNvCxnSpPr>
          <p:nvPr/>
        </p:nvCxnSpPr>
        <p:spPr>
          <a:xfrm rot="10800000">
            <a:off x="1895899" y="5225617"/>
            <a:ext cx="453543" cy="2616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1" name="TextBox 5130">
            <a:extLst>
              <a:ext uri="{FF2B5EF4-FFF2-40B4-BE49-F238E27FC236}">
                <a16:creationId xmlns:a16="http://schemas.microsoft.com/office/drawing/2014/main" id="{D71D0AF2-09D3-F7E4-DB47-33A24A1406BD}"/>
              </a:ext>
            </a:extLst>
          </p:cNvPr>
          <p:cNvSpPr txBox="1">
            <a:spLocks noChangeAspect="1"/>
          </p:cNvSpPr>
          <p:nvPr/>
        </p:nvSpPr>
        <p:spPr>
          <a:xfrm>
            <a:off x="2401920" y="3374312"/>
            <a:ext cx="1116000" cy="246221"/>
          </a:xfrm>
          <a:custGeom>
            <a:avLst/>
            <a:gdLst>
              <a:gd name="csX0" fmla="*/ 0 w 1116000"/>
              <a:gd name="csY0" fmla="*/ 0 h 246221"/>
              <a:gd name="csX1" fmla="*/ 546840 w 1116000"/>
              <a:gd name="csY1" fmla="*/ 0 h 246221"/>
              <a:gd name="csX2" fmla="*/ 1116000 w 1116000"/>
              <a:gd name="csY2" fmla="*/ 0 h 246221"/>
              <a:gd name="csX3" fmla="*/ 1116000 w 1116000"/>
              <a:gd name="csY3" fmla="*/ 246221 h 246221"/>
              <a:gd name="csX4" fmla="*/ 546840 w 1116000"/>
              <a:gd name="csY4" fmla="*/ 246221 h 246221"/>
              <a:gd name="csX5" fmla="*/ 0 w 1116000"/>
              <a:gd name="csY5" fmla="*/ 246221 h 246221"/>
              <a:gd name="csX6" fmla="*/ 0 w 1116000"/>
              <a:gd name="csY6" fmla="*/ 0 h 2462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16000" h="246221" extrusionOk="0">
                <a:moveTo>
                  <a:pt x="0" y="0"/>
                </a:moveTo>
                <a:cubicBezTo>
                  <a:pt x="204843" y="-19869"/>
                  <a:pt x="409173" y="43294"/>
                  <a:pt x="546840" y="0"/>
                </a:cubicBezTo>
                <a:cubicBezTo>
                  <a:pt x="684507" y="-43294"/>
                  <a:pt x="845395" y="10977"/>
                  <a:pt x="1116000" y="0"/>
                </a:cubicBezTo>
                <a:cubicBezTo>
                  <a:pt x="1141994" y="106097"/>
                  <a:pt x="1092755" y="178086"/>
                  <a:pt x="1116000" y="246221"/>
                </a:cubicBezTo>
                <a:cubicBezTo>
                  <a:pt x="843769" y="258160"/>
                  <a:pt x="799665" y="191129"/>
                  <a:pt x="546840" y="246221"/>
                </a:cubicBezTo>
                <a:cubicBezTo>
                  <a:pt x="294015" y="301313"/>
                  <a:pt x="152847" y="195621"/>
                  <a:pt x="0" y="246221"/>
                </a:cubicBezTo>
                <a:cubicBezTo>
                  <a:pt x="-13570" y="185161"/>
                  <a:pt x="27889" y="70289"/>
                  <a:pt x="0" y="0"/>
                </a:cubicBezTo>
                <a:close/>
              </a:path>
            </a:pathLst>
          </a:custGeom>
          <a:noFill/>
          <a:ln w="3175">
            <a:noFill/>
            <a:prstDash val="dash"/>
            <a:extLst>
              <a:ext uri="{C807C97D-BFC1-408E-A445-0C87EB9F89A2}">
                <ask:lineSketchStyleProps xmlns:ask="http://schemas.microsoft.com/office/drawing/2018/sketchyshapes" sd="4838117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800" b="1">
                <a:solidFill>
                  <a:schemeClr val="bg1">
                    <a:lumMod val="50000"/>
                  </a:schemeClr>
                </a:solidFill>
              </a:rPr>
              <a:t>Entity Analyzer</a:t>
            </a:r>
          </a:p>
          <a:p>
            <a:r>
              <a:rPr lang="en-US" sz="800">
                <a:solidFill>
                  <a:schemeClr val="bg1">
                    <a:lumMod val="50000"/>
                  </a:schemeClr>
                </a:solidFill>
              </a:rPr>
              <a:t>Tool</a:t>
            </a:r>
          </a:p>
        </p:txBody>
      </p:sp>
      <p:pic>
        <p:nvPicPr>
          <p:cNvPr id="3144" name="Picture 3143">
            <a:extLst>
              <a:ext uri="{FF2B5EF4-FFF2-40B4-BE49-F238E27FC236}">
                <a16:creationId xmlns:a16="http://schemas.microsoft.com/office/drawing/2014/main" id="{FD859981-1A2C-465A-13FC-4980FA1452D5}"/>
              </a:ext>
            </a:extLst>
          </p:cNvPr>
          <p:cNvPicPr>
            <a:picLocks noChangeAspect="1"/>
          </p:cNvPicPr>
          <p:nvPr/>
        </p:nvPicPr>
        <p:blipFill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77414" y="3012841"/>
            <a:ext cx="360000" cy="375000"/>
          </a:xfrm>
          <a:prstGeom prst="rect">
            <a:avLst/>
          </a:prstGeom>
        </p:spPr>
      </p:pic>
      <p:sp>
        <p:nvSpPr>
          <p:cNvPr id="3147" name="TextBox 3146">
            <a:extLst>
              <a:ext uri="{FF2B5EF4-FFF2-40B4-BE49-F238E27FC236}">
                <a16:creationId xmlns:a16="http://schemas.microsoft.com/office/drawing/2014/main" id="{6EF9A180-D887-F657-388B-6E23037ECD99}"/>
              </a:ext>
            </a:extLst>
          </p:cNvPr>
          <p:cNvSpPr txBox="1">
            <a:spLocks noChangeAspect="1"/>
          </p:cNvSpPr>
          <p:nvPr/>
        </p:nvSpPr>
        <p:spPr>
          <a:xfrm>
            <a:off x="5400214" y="3356994"/>
            <a:ext cx="9144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Agent </a:t>
            </a:r>
          </a:p>
          <a:p>
            <a:pPr algn="ctr"/>
            <a:r>
              <a:rPr lang="en-US" sz="1000" b="1"/>
              <a:t>Flow</a:t>
            </a:r>
            <a:endParaRPr lang="en-US" sz="1000" b="1" i="1"/>
          </a:p>
        </p:txBody>
      </p:sp>
      <p:grpSp>
        <p:nvGrpSpPr>
          <p:cNvPr id="3086" name="Group 3085">
            <a:extLst>
              <a:ext uri="{FF2B5EF4-FFF2-40B4-BE49-F238E27FC236}">
                <a16:creationId xmlns:a16="http://schemas.microsoft.com/office/drawing/2014/main" id="{CE87FB81-3895-F606-5CFB-F8AA385610DB}"/>
              </a:ext>
            </a:extLst>
          </p:cNvPr>
          <p:cNvGrpSpPr/>
          <p:nvPr/>
        </p:nvGrpSpPr>
        <p:grpSpPr>
          <a:xfrm>
            <a:off x="5193370" y="737570"/>
            <a:ext cx="1080000" cy="369332"/>
            <a:chOff x="4970166" y="846678"/>
            <a:chExt cx="1150552" cy="369332"/>
          </a:xfrm>
        </p:grpSpPr>
        <p:cxnSp>
          <p:nvCxnSpPr>
            <p:cNvPr id="3150" name="Straight Connector 3149">
              <a:extLst>
                <a:ext uri="{FF2B5EF4-FFF2-40B4-BE49-F238E27FC236}">
                  <a16:creationId xmlns:a16="http://schemas.microsoft.com/office/drawing/2014/main" id="{7757B729-2511-118E-13FA-F5A37C47BE27}"/>
                </a:ext>
              </a:extLst>
            </p:cNvPr>
            <p:cNvCxnSpPr>
              <a:cxnSpLocks/>
            </p:cNvCxnSpPr>
            <p:nvPr/>
          </p:nvCxnSpPr>
          <p:spPr>
            <a:xfrm>
              <a:off x="4970166" y="1027835"/>
              <a:ext cx="1150552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1" name="TextBox 3150">
              <a:extLst>
                <a:ext uri="{FF2B5EF4-FFF2-40B4-BE49-F238E27FC236}">
                  <a16:creationId xmlns:a16="http://schemas.microsoft.com/office/drawing/2014/main" id="{79C534D0-62F7-0E29-9370-FA2F487365DE}"/>
                </a:ext>
              </a:extLst>
            </p:cNvPr>
            <p:cNvSpPr txBox="1"/>
            <p:nvPr/>
          </p:nvSpPr>
          <p:spPr>
            <a:xfrm>
              <a:off x="5054281" y="846678"/>
              <a:ext cx="997145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noProof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Agent Orchestrators</a:t>
              </a:r>
            </a:p>
          </p:txBody>
        </p:sp>
      </p:grpSp>
      <p:sp>
        <p:nvSpPr>
          <p:cNvPr id="3182" name="Rectangle 3181">
            <a:extLst>
              <a:ext uri="{FF2B5EF4-FFF2-40B4-BE49-F238E27FC236}">
                <a16:creationId xmlns:a16="http://schemas.microsoft.com/office/drawing/2014/main" id="{41E896B6-0F6D-589E-98B1-48ED52CED8BE}"/>
              </a:ext>
            </a:extLst>
          </p:cNvPr>
          <p:cNvSpPr/>
          <p:nvPr/>
        </p:nvSpPr>
        <p:spPr bwMode="auto">
          <a:xfrm>
            <a:off x="6176986" y="3488956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21" name="TextBox 3220">
            <a:extLst>
              <a:ext uri="{FF2B5EF4-FFF2-40B4-BE49-F238E27FC236}">
                <a16:creationId xmlns:a16="http://schemas.microsoft.com/office/drawing/2014/main" id="{A572FBBB-F855-F0E6-CEE8-AAA81D4E8E81}"/>
              </a:ext>
            </a:extLst>
          </p:cNvPr>
          <p:cNvSpPr txBox="1"/>
          <p:nvPr/>
        </p:nvSpPr>
        <p:spPr>
          <a:xfrm>
            <a:off x="7006942" y="4907174"/>
            <a:ext cx="675530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b="1" noProof="0"/>
              <a:t>Power Automate</a:t>
            </a:r>
            <a:endParaRPr lang="en-US" sz="1000" noProof="0"/>
          </a:p>
        </p:txBody>
      </p:sp>
      <p:pic>
        <p:nvPicPr>
          <p:cNvPr id="6146" name="Picture 2" descr="Power BI Desktop - Download">
            <a:extLst>
              <a:ext uri="{FF2B5EF4-FFF2-40B4-BE49-F238E27FC236}">
                <a16:creationId xmlns:a16="http://schemas.microsoft.com/office/drawing/2014/main" id="{C707325B-FAEC-F154-1330-465C3FD20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806" y="4927229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8" name="Picture 3237">
            <a:extLst>
              <a:ext uri="{FF2B5EF4-FFF2-40B4-BE49-F238E27FC236}">
                <a16:creationId xmlns:a16="http://schemas.microsoft.com/office/drawing/2014/main" id="{65C9D7EB-ED91-2770-7632-0F62295842C3}"/>
              </a:ext>
            </a:extLst>
          </p:cNvPr>
          <p:cNvPicPr>
            <a:picLocks noChangeAspect="1"/>
          </p:cNvPicPr>
          <p:nvPr/>
        </p:nvPicPr>
        <p:blipFill>
          <a:blip r:embed="rId27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</a:blip>
          <a:srcRect t="7116" b="5000"/>
          <a:stretch>
            <a:fillRect/>
          </a:stretch>
        </p:blipFill>
        <p:spPr>
          <a:xfrm>
            <a:off x="5532004" y="4928981"/>
            <a:ext cx="485720" cy="365295"/>
          </a:xfrm>
          <a:prstGeom prst="rect">
            <a:avLst/>
          </a:prstGeom>
        </p:spPr>
      </p:pic>
      <p:sp>
        <p:nvSpPr>
          <p:cNvPr id="3240" name="TextBox 3239">
            <a:extLst>
              <a:ext uri="{FF2B5EF4-FFF2-40B4-BE49-F238E27FC236}">
                <a16:creationId xmlns:a16="http://schemas.microsoft.com/office/drawing/2014/main" id="{B37BF7C5-6309-3488-26CC-ACB89B05CAD3}"/>
              </a:ext>
            </a:extLst>
          </p:cNvPr>
          <p:cNvSpPr txBox="1">
            <a:spLocks noChangeAspect="1"/>
          </p:cNvSpPr>
          <p:nvPr/>
        </p:nvSpPr>
        <p:spPr>
          <a:xfrm>
            <a:off x="5869264" y="5064820"/>
            <a:ext cx="504000" cy="84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Flow</a:t>
            </a:r>
            <a:endParaRPr lang="en-US" sz="1000" b="1" i="1"/>
          </a:p>
        </p:txBody>
      </p:sp>
      <p:pic>
        <p:nvPicPr>
          <p:cNvPr id="5126" name="Picture 5125">
            <a:extLst>
              <a:ext uri="{FF2B5EF4-FFF2-40B4-BE49-F238E27FC236}">
                <a16:creationId xmlns:a16="http://schemas.microsoft.com/office/drawing/2014/main" id="{FA153839-8586-DC61-2483-28EE48A60B43}"/>
              </a:ext>
            </a:extLst>
          </p:cNvPr>
          <p:cNvPicPr>
            <a:picLocks noChangeAspect="1"/>
          </p:cNvPicPr>
          <p:nvPr/>
        </p:nvPicPr>
        <p:blipFill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77414" y="2065849"/>
            <a:ext cx="360000" cy="360000"/>
          </a:xfrm>
          <a:prstGeom prst="rect">
            <a:avLst/>
          </a:prstGeom>
        </p:spPr>
      </p:pic>
      <p:sp>
        <p:nvSpPr>
          <p:cNvPr id="5129" name="TextBox 5128">
            <a:extLst>
              <a:ext uri="{FF2B5EF4-FFF2-40B4-BE49-F238E27FC236}">
                <a16:creationId xmlns:a16="http://schemas.microsoft.com/office/drawing/2014/main" id="{2C6D5A46-89D2-D303-5DA8-FD16C4618D20}"/>
              </a:ext>
            </a:extLst>
          </p:cNvPr>
          <p:cNvSpPr txBox="1">
            <a:spLocks noChangeAspect="1"/>
          </p:cNvSpPr>
          <p:nvPr/>
        </p:nvSpPr>
        <p:spPr>
          <a:xfrm>
            <a:off x="5560732" y="2384631"/>
            <a:ext cx="59336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b="1"/>
              <a:t>Workflow</a:t>
            </a:r>
            <a:endParaRPr lang="en-US" sz="1000" b="1" i="1"/>
          </a:p>
        </p:txBody>
      </p:sp>
      <p:grpSp>
        <p:nvGrpSpPr>
          <p:cNvPr id="5183" name="Group 5182">
            <a:extLst>
              <a:ext uri="{FF2B5EF4-FFF2-40B4-BE49-F238E27FC236}">
                <a16:creationId xmlns:a16="http://schemas.microsoft.com/office/drawing/2014/main" id="{B0B5C1ED-3D7E-1AEC-BA94-AC60FD8CEEB5}"/>
              </a:ext>
            </a:extLst>
          </p:cNvPr>
          <p:cNvGrpSpPr/>
          <p:nvPr/>
        </p:nvGrpSpPr>
        <p:grpSpPr>
          <a:xfrm>
            <a:off x="372267" y="1776100"/>
            <a:ext cx="1173719" cy="682399"/>
            <a:chOff x="321783" y="1895368"/>
            <a:chExt cx="1173719" cy="682399"/>
          </a:xfrm>
        </p:grpSpPr>
        <p:sp>
          <p:nvSpPr>
            <p:cNvPr id="5159" name="TextBox 5158">
              <a:extLst>
                <a:ext uri="{FF2B5EF4-FFF2-40B4-BE49-F238E27FC236}">
                  <a16:creationId xmlns:a16="http://schemas.microsoft.com/office/drawing/2014/main" id="{B89AB335-FA67-B07C-101A-D306F15609D0}"/>
                </a:ext>
              </a:extLst>
            </p:cNvPr>
            <p:cNvSpPr txBox="1"/>
            <p:nvPr/>
          </p:nvSpPr>
          <p:spPr>
            <a:xfrm>
              <a:off x="321783" y="2300768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noProof="0"/>
                <a:t>Sentinel SIEM</a:t>
              </a:r>
              <a:endParaRPr lang="en-US" sz="1200" noProof="0"/>
            </a:p>
          </p:txBody>
        </p:sp>
        <p:pic>
          <p:nvPicPr>
            <p:cNvPr id="5165" name="Picture 5164">
              <a:extLst>
                <a:ext uri="{FF2B5EF4-FFF2-40B4-BE49-F238E27FC236}">
                  <a16:creationId xmlns:a16="http://schemas.microsoft.com/office/drawing/2014/main" id="{95DEB3E8-27F9-36CF-20EF-FADB7285D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728642" y="1895368"/>
              <a:ext cx="360000" cy="440899"/>
            </a:xfrm>
            <a:prstGeom prst="rect">
              <a:avLst/>
            </a:prstGeom>
          </p:spPr>
        </p:pic>
      </p:grpSp>
      <p:grpSp>
        <p:nvGrpSpPr>
          <p:cNvPr id="2053" name="Group 2052">
            <a:extLst>
              <a:ext uri="{FF2B5EF4-FFF2-40B4-BE49-F238E27FC236}">
                <a16:creationId xmlns:a16="http://schemas.microsoft.com/office/drawing/2014/main" id="{6D9245AB-68D1-EEC9-1BF5-2A39212D460A}"/>
              </a:ext>
            </a:extLst>
          </p:cNvPr>
          <p:cNvGrpSpPr/>
          <p:nvPr/>
        </p:nvGrpSpPr>
        <p:grpSpPr>
          <a:xfrm>
            <a:off x="514453" y="3020602"/>
            <a:ext cx="889346" cy="837665"/>
            <a:chOff x="463969" y="3139870"/>
            <a:chExt cx="889346" cy="837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329AF63-D34F-2858-0E2A-F6DF3C2B565A}"/>
                </a:ext>
              </a:extLst>
            </p:cNvPr>
            <p:cNvSpPr txBox="1"/>
            <p:nvPr/>
          </p:nvSpPr>
          <p:spPr>
            <a:xfrm>
              <a:off x="463969" y="3515870"/>
              <a:ext cx="8893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noProof="0"/>
                <a:t>Sentinel</a:t>
              </a:r>
            </a:p>
            <a:p>
              <a:pPr algn="ctr"/>
              <a:r>
                <a:rPr lang="en-US" sz="1200" b="1"/>
                <a:t>Data Lake</a:t>
              </a:r>
              <a:endParaRPr lang="en-US" sz="1200" b="1" noProof="0"/>
            </a:p>
          </p:txBody>
        </p:sp>
        <p:pic>
          <p:nvPicPr>
            <p:cNvPr id="5167" name="Picture 5166">
              <a:extLst>
                <a:ext uri="{FF2B5EF4-FFF2-40B4-BE49-F238E27FC236}">
                  <a16:creationId xmlns:a16="http://schemas.microsoft.com/office/drawing/2014/main" id="{596DBE38-A066-99D8-CEFF-7D5A2F4D8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728642" y="3139870"/>
              <a:ext cx="360000" cy="440899"/>
            </a:xfrm>
            <a:prstGeom prst="rect">
              <a:avLst/>
            </a:prstGeom>
          </p:spPr>
        </p:pic>
      </p:grpSp>
      <p:sp>
        <p:nvSpPr>
          <p:cNvPr id="5174" name="Left Bracket 5173">
            <a:extLst>
              <a:ext uri="{FF2B5EF4-FFF2-40B4-BE49-F238E27FC236}">
                <a16:creationId xmlns:a16="http://schemas.microsoft.com/office/drawing/2014/main" id="{631B9386-9DAF-6067-5A33-8A28C147D2DE}"/>
              </a:ext>
            </a:extLst>
          </p:cNvPr>
          <p:cNvSpPr/>
          <p:nvPr/>
        </p:nvSpPr>
        <p:spPr>
          <a:xfrm rot="10800000">
            <a:off x="1409299" y="1098591"/>
            <a:ext cx="159188" cy="1403921"/>
          </a:xfrm>
          <a:prstGeom prst="leftBracket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85" name="Group 3084">
            <a:extLst>
              <a:ext uri="{FF2B5EF4-FFF2-40B4-BE49-F238E27FC236}">
                <a16:creationId xmlns:a16="http://schemas.microsoft.com/office/drawing/2014/main" id="{5053F539-4BF8-DB58-1562-EB3DD55D6C1D}"/>
              </a:ext>
            </a:extLst>
          </p:cNvPr>
          <p:cNvGrpSpPr/>
          <p:nvPr/>
        </p:nvGrpSpPr>
        <p:grpSpPr>
          <a:xfrm>
            <a:off x="4247681" y="421348"/>
            <a:ext cx="1150552" cy="369332"/>
            <a:chOff x="3709517" y="591416"/>
            <a:chExt cx="1150552" cy="369332"/>
          </a:xfrm>
        </p:grpSpPr>
        <p:cxnSp>
          <p:nvCxnSpPr>
            <p:cNvPr id="2074" name="Straight Connector 2073">
              <a:extLst>
                <a:ext uri="{FF2B5EF4-FFF2-40B4-BE49-F238E27FC236}">
                  <a16:creationId xmlns:a16="http://schemas.microsoft.com/office/drawing/2014/main" id="{DC6D2E51-7FA7-8A6D-9A91-62E08134E1C8}"/>
                </a:ext>
              </a:extLst>
            </p:cNvPr>
            <p:cNvCxnSpPr>
              <a:cxnSpLocks/>
            </p:cNvCxnSpPr>
            <p:nvPr/>
          </p:nvCxnSpPr>
          <p:spPr>
            <a:xfrm>
              <a:off x="3709517" y="781251"/>
              <a:ext cx="1150552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5" name="TextBox 2074">
              <a:extLst>
                <a:ext uri="{FF2B5EF4-FFF2-40B4-BE49-F238E27FC236}">
                  <a16:creationId xmlns:a16="http://schemas.microsoft.com/office/drawing/2014/main" id="{B811EEA5-1DB3-29F8-C0C8-CD927DF0EC6A}"/>
                </a:ext>
              </a:extLst>
            </p:cNvPr>
            <p:cNvSpPr txBox="1"/>
            <p:nvPr/>
          </p:nvSpPr>
          <p:spPr>
            <a:xfrm>
              <a:off x="3793632" y="591416"/>
              <a:ext cx="982322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noProof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AI Environments</a:t>
              </a:r>
            </a:p>
          </p:txBody>
        </p:sp>
      </p:grpSp>
      <p:cxnSp>
        <p:nvCxnSpPr>
          <p:cNvPr id="2079" name="Connector: Elbow 2078">
            <a:extLst>
              <a:ext uri="{FF2B5EF4-FFF2-40B4-BE49-F238E27FC236}">
                <a16:creationId xmlns:a16="http://schemas.microsoft.com/office/drawing/2014/main" id="{57303466-51E5-0007-1603-2C77639EB633}"/>
              </a:ext>
            </a:extLst>
          </p:cNvPr>
          <p:cNvCxnSpPr>
            <a:cxnSpLocks/>
            <a:stCxn id="3231" idx="2"/>
            <a:endCxn id="3098" idx="1"/>
          </p:cNvCxnSpPr>
          <p:nvPr/>
        </p:nvCxnSpPr>
        <p:spPr>
          <a:xfrm rot="5400000" flipH="1">
            <a:off x="1325967" y="1373833"/>
            <a:ext cx="3902056" cy="4995738"/>
          </a:xfrm>
          <a:prstGeom prst="bentConnector4">
            <a:avLst>
              <a:gd name="adj1" fmla="val -20960"/>
              <a:gd name="adj2" fmla="val 112101"/>
            </a:avLst>
          </a:prstGeom>
          <a:ln w="19050"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2" name="Connector: Elbow 2091">
            <a:extLst>
              <a:ext uri="{FF2B5EF4-FFF2-40B4-BE49-F238E27FC236}">
                <a16:creationId xmlns:a16="http://schemas.microsoft.com/office/drawing/2014/main" id="{965A7B40-A729-995D-70F5-F0FF28D5E247}"/>
              </a:ext>
            </a:extLst>
          </p:cNvPr>
          <p:cNvCxnSpPr>
            <a:cxnSpLocks/>
            <a:stCxn id="6163" idx="2"/>
            <a:endCxn id="5165" idx="1"/>
          </p:cNvCxnSpPr>
          <p:nvPr/>
        </p:nvCxnSpPr>
        <p:spPr>
          <a:xfrm rot="5400000" flipH="1">
            <a:off x="3266382" y="-490705"/>
            <a:ext cx="2930539" cy="7905051"/>
          </a:xfrm>
          <a:prstGeom prst="bentConnector4">
            <a:avLst>
              <a:gd name="adj1" fmla="val -55417"/>
              <a:gd name="adj2" fmla="val 105784"/>
            </a:avLst>
          </a:prstGeom>
          <a:ln>
            <a:solidFill>
              <a:srgbClr val="00B05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7" name="Connector: Elbow 2106">
            <a:extLst>
              <a:ext uri="{FF2B5EF4-FFF2-40B4-BE49-F238E27FC236}">
                <a16:creationId xmlns:a16="http://schemas.microsoft.com/office/drawing/2014/main" id="{DA491349-B37A-FE05-2F39-C007A51BC2B1}"/>
              </a:ext>
            </a:extLst>
          </p:cNvPr>
          <p:cNvCxnSpPr>
            <a:stCxn id="3231" idx="1"/>
            <a:endCxn id="2096" idx="0"/>
          </p:cNvCxnSpPr>
          <p:nvPr/>
        </p:nvCxnSpPr>
        <p:spPr>
          <a:xfrm rot="10800000" flipV="1">
            <a:off x="5208272" y="5640083"/>
            <a:ext cx="386592" cy="246162"/>
          </a:xfrm>
          <a:prstGeom prst="bentConnector2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1" name="Connector: Elbow 2110">
            <a:extLst>
              <a:ext uri="{FF2B5EF4-FFF2-40B4-BE49-F238E27FC236}">
                <a16:creationId xmlns:a16="http://schemas.microsoft.com/office/drawing/2014/main" id="{99BA2BE4-CFD1-CFD0-AF01-F2F3E40931FB}"/>
              </a:ext>
            </a:extLst>
          </p:cNvPr>
          <p:cNvCxnSpPr>
            <a:cxnSpLocks/>
            <a:stCxn id="3231" idx="1"/>
            <a:endCxn id="3105" idx="0"/>
          </p:cNvCxnSpPr>
          <p:nvPr/>
        </p:nvCxnSpPr>
        <p:spPr>
          <a:xfrm rot="10800000" flipV="1">
            <a:off x="4663764" y="5640082"/>
            <a:ext cx="931101" cy="247877"/>
          </a:xfrm>
          <a:prstGeom prst="bentConnector2">
            <a:avLst/>
          </a:prstGeom>
          <a:ln>
            <a:solidFill>
              <a:srgbClr val="C03BC4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5" name="Connector: Elbow 6144">
            <a:extLst>
              <a:ext uri="{FF2B5EF4-FFF2-40B4-BE49-F238E27FC236}">
                <a16:creationId xmlns:a16="http://schemas.microsoft.com/office/drawing/2014/main" id="{01EAAB9D-8252-F95B-DB8C-36EEA6E3C535}"/>
              </a:ext>
            </a:extLst>
          </p:cNvPr>
          <p:cNvCxnSpPr>
            <a:cxnSpLocks/>
            <a:stCxn id="3238" idx="1"/>
            <a:endCxn id="2096" idx="0"/>
          </p:cNvCxnSpPr>
          <p:nvPr/>
        </p:nvCxnSpPr>
        <p:spPr>
          <a:xfrm rot="10800000" flipV="1">
            <a:off x="5208272" y="5111629"/>
            <a:ext cx="323732" cy="774616"/>
          </a:xfrm>
          <a:prstGeom prst="bentConnector2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0" name="Connector: Elbow 6149">
            <a:extLst>
              <a:ext uri="{FF2B5EF4-FFF2-40B4-BE49-F238E27FC236}">
                <a16:creationId xmlns:a16="http://schemas.microsoft.com/office/drawing/2014/main" id="{2B4AC697-1220-C8BB-D82E-7B045A1B70BC}"/>
              </a:ext>
            </a:extLst>
          </p:cNvPr>
          <p:cNvCxnSpPr>
            <a:cxnSpLocks/>
            <a:stCxn id="3238" idx="1"/>
            <a:endCxn id="3105" idx="0"/>
          </p:cNvCxnSpPr>
          <p:nvPr/>
        </p:nvCxnSpPr>
        <p:spPr>
          <a:xfrm rot="10800000" flipV="1">
            <a:off x="4663764" y="5111628"/>
            <a:ext cx="868241" cy="776331"/>
          </a:xfrm>
          <a:prstGeom prst="bentConnector2">
            <a:avLst/>
          </a:prstGeom>
          <a:ln>
            <a:solidFill>
              <a:srgbClr val="C03BC4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6" name="TextBox 6155">
            <a:extLst>
              <a:ext uri="{FF2B5EF4-FFF2-40B4-BE49-F238E27FC236}">
                <a16:creationId xmlns:a16="http://schemas.microsoft.com/office/drawing/2014/main" id="{19470246-8C82-6CD4-B812-D4E5079E00D5}"/>
              </a:ext>
            </a:extLst>
          </p:cNvPr>
          <p:cNvSpPr txBox="1"/>
          <p:nvPr/>
        </p:nvSpPr>
        <p:spPr>
          <a:xfrm rot="16200000">
            <a:off x="5574348" y="6058595"/>
            <a:ext cx="53219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800"/>
              <a:t>Connectors</a:t>
            </a:r>
          </a:p>
        </p:txBody>
      </p:sp>
      <p:sp>
        <p:nvSpPr>
          <p:cNvPr id="6157" name="TextBox 6156">
            <a:extLst>
              <a:ext uri="{FF2B5EF4-FFF2-40B4-BE49-F238E27FC236}">
                <a16:creationId xmlns:a16="http://schemas.microsoft.com/office/drawing/2014/main" id="{4638502C-B5D0-4753-2F5A-3C197247F6DB}"/>
              </a:ext>
            </a:extLst>
          </p:cNvPr>
          <p:cNvSpPr txBox="1"/>
          <p:nvPr/>
        </p:nvSpPr>
        <p:spPr>
          <a:xfrm rot="16200000">
            <a:off x="8420028" y="5070401"/>
            <a:ext cx="3670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800" dirty="0"/>
              <a:t>Plug-ins</a:t>
            </a:r>
          </a:p>
        </p:txBody>
      </p:sp>
      <p:grpSp>
        <p:nvGrpSpPr>
          <p:cNvPr id="3119" name="Group 3118">
            <a:extLst>
              <a:ext uri="{FF2B5EF4-FFF2-40B4-BE49-F238E27FC236}">
                <a16:creationId xmlns:a16="http://schemas.microsoft.com/office/drawing/2014/main" id="{8C184D6E-A8B9-73E3-1D28-DD41C483613E}"/>
              </a:ext>
            </a:extLst>
          </p:cNvPr>
          <p:cNvGrpSpPr/>
          <p:nvPr/>
        </p:nvGrpSpPr>
        <p:grpSpPr>
          <a:xfrm>
            <a:off x="4904219" y="5750059"/>
            <a:ext cx="603146" cy="760040"/>
            <a:chOff x="4508295" y="5869327"/>
            <a:chExt cx="603146" cy="760040"/>
          </a:xfrm>
        </p:grpSpPr>
        <p:pic>
          <p:nvPicPr>
            <p:cNvPr id="2096" name="Picture 4" descr="Microsoft Copilot Logo Download in SVG Vector or PNG File Format">
              <a:extLst>
                <a:ext uri="{FF2B5EF4-FFF2-40B4-BE49-F238E27FC236}">
                  <a16:creationId xmlns:a16="http://schemas.microsoft.com/office/drawing/2014/main" id="{AEEB63F7-127C-2E82-9438-2424221D1C6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10" t="10120" r="5836" b="10831"/>
            <a:stretch>
              <a:fillRect/>
            </a:stretch>
          </p:blipFill>
          <p:spPr bwMode="auto">
            <a:xfrm>
              <a:off x="4655185" y="6005513"/>
              <a:ext cx="314325" cy="285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98" name="TextBox 2097">
              <a:extLst>
                <a:ext uri="{FF2B5EF4-FFF2-40B4-BE49-F238E27FC236}">
                  <a16:creationId xmlns:a16="http://schemas.microsoft.com/office/drawing/2014/main" id="{1F919A16-C7CD-4A01-B355-F56289371CB6}"/>
                </a:ext>
              </a:extLst>
            </p:cNvPr>
            <p:cNvSpPr txBox="1"/>
            <p:nvPr/>
          </p:nvSpPr>
          <p:spPr>
            <a:xfrm>
              <a:off x="4508295" y="6229257"/>
              <a:ext cx="603146" cy="4001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000" b="1" noProof="0"/>
                <a:t>Security Copilot</a:t>
              </a:r>
              <a:endParaRPr lang="en-US" sz="1000" noProof="0"/>
            </a:p>
          </p:txBody>
        </p:sp>
        <p:grpSp>
          <p:nvGrpSpPr>
            <p:cNvPr id="6177" name="Group 6176">
              <a:extLst>
                <a:ext uri="{FF2B5EF4-FFF2-40B4-BE49-F238E27FC236}">
                  <a16:creationId xmlns:a16="http://schemas.microsoft.com/office/drawing/2014/main" id="{BD015660-CCCE-C9F2-80B3-F6379BDE247C}"/>
                </a:ext>
              </a:extLst>
            </p:cNvPr>
            <p:cNvGrpSpPr/>
            <p:nvPr/>
          </p:nvGrpSpPr>
          <p:grpSpPr>
            <a:xfrm>
              <a:off x="4578894" y="5869327"/>
              <a:ext cx="119082" cy="229515"/>
              <a:chOff x="4147658" y="2026523"/>
              <a:chExt cx="119082" cy="229515"/>
            </a:xfrm>
          </p:grpSpPr>
          <p:pic>
            <p:nvPicPr>
              <p:cNvPr id="6178" name="Picture 28" descr="Human brain icon - vector Stock Vector | Adobe Stock">
                <a:extLst>
                  <a:ext uri="{FF2B5EF4-FFF2-40B4-BE49-F238E27FC236}">
                    <a16:creationId xmlns:a16="http://schemas.microsoft.com/office/drawing/2014/main" id="{BAE9CDDC-D3A4-BE08-02C4-0302A98CF47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0">
                <a:clrChange>
                  <a:clrFrom>
                    <a:srgbClr val="FAFAFA"/>
                  </a:clrFrom>
                  <a:clrTo>
                    <a:srgbClr val="FAFAFA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902" t="11594" r="15579" b="11594"/>
              <a:stretch>
                <a:fillRect/>
              </a:stretch>
            </p:blipFill>
            <p:spPr bwMode="auto">
              <a:xfrm>
                <a:off x="4147658" y="2026523"/>
                <a:ext cx="108000" cy="1210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179" name="TextBox 6178">
                <a:extLst>
                  <a:ext uri="{FF2B5EF4-FFF2-40B4-BE49-F238E27FC236}">
                    <a16:creationId xmlns:a16="http://schemas.microsoft.com/office/drawing/2014/main" id="{C4F3B68A-F7A3-511A-3996-B4A225DCB7C2}"/>
                  </a:ext>
                </a:extLst>
              </p:cNvPr>
              <p:cNvSpPr txBox="1"/>
              <p:nvPr/>
            </p:nvSpPr>
            <p:spPr>
              <a:xfrm>
                <a:off x="4151965" y="2102150"/>
                <a:ext cx="114775" cy="15388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400" b="1" spc="40" noProof="0"/>
                  <a:t>LLM</a:t>
                </a:r>
                <a:endParaRPr lang="en-US" sz="600" b="1" spc="40" noProof="0"/>
              </a:p>
            </p:txBody>
          </p:sp>
        </p:grpSp>
      </p:grpSp>
      <p:cxnSp>
        <p:nvCxnSpPr>
          <p:cNvPr id="3096" name="Connector: Elbow 3095">
            <a:extLst>
              <a:ext uri="{FF2B5EF4-FFF2-40B4-BE49-F238E27FC236}">
                <a16:creationId xmlns:a16="http://schemas.microsoft.com/office/drawing/2014/main" id="{2AF5D96A-F1F2-948C-C7E4-48DC909DBC98}"/>
              </a:ext>
            </a:extLst>
          </p:cNvPr>
          <p:cNvCxnSpPr>
            <a:cxnSpLocks/>
            <a:stCxn id="2076" idx="2"/>
            <a:endCxn id="2057" idx="3"/>
          </p:cNvCxnSpPr>
          <p:nvPr/>
        </p:nvCxnSpPr>
        <p:spPr>
          <a:xfrm rot="5400000">
            <a:off x="6255966" y="3587339"/>
            <a:ext cx="2930038" cy="154354"/>
          </a:xfrm>
          <a:prstGeom prst="bentConnector2">
            <a:avLst/>
          </a:prstGeom>
          <a:ln w="3175">
            <a:solidFill>
              <a:srgbClr val="00B050"/>
            </a:solidFill>
            <a:prstDash val="sysDot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8" name="Rectangle 3097">
            <a:extLst>
              <a:ext uri="{FF2B5EF4-FFF2-40B4-BE49-F238E27FC236}">
                <a16:creationId xmlns:a16="http://schemas.microsoft.com/office/drawing/2014/main" id="{D38A57F1-EBFD-CC07-C705-4CD7549DA51E}"/>
              </a:ext>
            </a:extLst>
          </p:cNvPr>
          <p:cNvSpPr/>
          <p:nvPr/>
        </p:nvSpPr>
        <p:spPr bwMode="auto">
          <a:xfrm>
            <a:off x="779126" y="1846480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099" name="Rectangle 3098">
            <a:extLst>
              <a:ext uri="{FF2B5EF4-FFF2-40B4-BE49-F238E27FC236}">
                <a16:creationId xmlns:a16="http://schemas.microsoft.com/office/drawing/2014/main" id="{F3CA39F6-6E2E-B13C-9D02-77F6C85DCB91}"/>
              </a:ext>
            </a:extLst>
          </p:cNvPr>
          <p:cNvSpPr/>
          <p:nvPr/>
        </p:nvSpPr>
        <p:spPr bwMode="auto">
          <a:xfrm>
            <a:off x="5683656" y="5449556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3102" name="Connector: Elbow 3101">
            <a:extLst>
              <a:ext uri="{FF2B5EF4-FFF2-40B4-BE49-F238E27FC236}">
                <a16:creationId xmlns:a16="http://schemas.microsoft.com/office/drawing/2014/main" id="{0D09808D-3B19-A671-2259-796934387EC8}"/>
              </a:ext>
            </a:extLst>
          </p:cNvPr>
          <p:cNvCxnSpPr>
            <a:cxnSpLocks/>
            <a:stCxn id="3099" idx="1"/>
            <a:endCxn id="35" idx="1"/>
          </p:cNvCxnSpPr>
          <p:nvPr/>
        </p:nvCxnSpPr>
        <p:spPr>
          <a:xfrm rot="10800000">
            <a:off x="5513272" y="2685392"/>
            <a:ext cx="170385" cy="2838358"/>
          </a:xfrm>
          <a:prstGeom prst="bentConnector3">
            <a:avLst>
              <a:gd name="adj1" fmla="val 235409"/>
            </a:avLst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20" name="Group 3119">
            <a:extLst>
              <a:ext uri="{FF2B5EF4-FFF2-40B4-BE49-F238E27FC236}">
                <a16:creationId xmlns:a16="http://schemas.microsoft.com/office/drawing/2014/main" id="{17AC5E7C-DC57-97FB-1E18-7C9457F03396}"/>
              </a:ext>
            </a:extLst>
          </p:cNvPr>
          <p:cNvGrpSpPr/>
          <p:nvPr/>
        </p:nvGrpSpPr>
        <p:grpSpPr>
          <a:xfrm>
            <a:off x="4306477" y="5750059"/>
            <a:ext cx="673933" cy="760040"/>
            <a:chOff x="3819113" y="5869327"/>
            <a:chExt cx="673933" cy="760040"/>
          </a:xfrm>
        </p:grpSpPr>
        <p:sp>
          <p:nvSpPr>
            <p:cNvPr id="2101" name="TextBox 2100">
              <a:extLst>
                <a:ext uri="{FF2B5EF4-FFF2-40B4-BE49-F238E27FC236}">
                  <a16:creationId xmlns:a16="http://schemas.microsoft.com/office/drawing/2014/main" id="{9452A4B9-8BD2-E904-F365-D58BFC064979}"/>
                </a:ext>
              </a:extLst>
            </p:cNvPr>
            <p:cNvSpPr txBox="1"/>
            <p:nvPr/>
          </p:nvSpPr>
          <p:spPr>
            <a:xfrm>
              <a:off x="3819113" y="6229257"/>
              <a:ext cx="673933" cy="4001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000" b="1" noProof="0"/>
                <a:t>LLM in Azure</a:t>
              </a:r>
              <a:endParaRPr lang="en-US" sz="1000" noProof="0"/>
            </a:p>
          </p:txBody>
        </p:sp>
        <p:pic>
          <p:nvPicPr>
            <p:cNvPr id="3105" name="Picture 3104">
              <a:extLst>
                <a:ext uri="{FF2B5EF4-FFF2-40B4-BE49-F238E27FC236}">
                  <a16:creationId xmlns:a16="http://schemas.microsoft.com/office/drawing/2014/main" id="{28A0556F-8994-FFDE-64AC-17B803ADB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4044850" y="6007228"/>
              <a:ext cx="263098" cy="267769"/>
            </a:xfrm>
            <a:prstGeom prst="rect">
              <a:avLst/>
            </a:prstGeom>
          </p:spPr>
        </p:pic>
        <p:grpSp>
          <p:nvGrpSpPr>
            <p:cNvPr id="3111" name="Group 3110">
              <a:extLst>
                <a:ext uri="{FF2B5EF4-FFF2-40B4-BE49-F238E27FC236}">
                  <a16:creationId xmlns:a16="http://schemas.microsoft.com/office/drawing/2014/main" id="{3C2F3FB5-02C3-F51D-EF1E-6987ECDECFF3}"/>
                </a:ext>
              </a:extLst>
            </p:cNvPr>
            <p:cNvGrpSpPr/>
            <p:nvPr/>
          </p:nvGrpSpPr>
          <p:grpSpPr>
            <a:xfrm>
              <a:off x="3916906" y="5869327"/>
              <a:ext cx="119082" cy="229515"/>
              <a:chOff x="4147658" y="2026523"/>
              <a:chExt cx="119082" cy="229515"/>
            </a:xfrm>
          </p:grpSpPr>
          <p:pic>
            <p:nvPicPr>
              <p:cNvPr id="3113" name="Picture 28" descr="Human brain icon - vector Stock Vector | Adobe Stock">
                <a:extLst>
                  <a:ext uri="{FF2B5EF4-FFF2-40B4-BE49-F238E27FC236}">
                    <a16:creationId xmlns:a16="http://schemas.microsoft.com/office/drawing/2014/main" id="{99016517-6551-8E5F-8443-0D11E7DFD6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0">
                <a:clrChange>
                  <a:clrFrom>
                    <a:srgbClr val="FAFAFA"/>
                  </a:clrFrom>
                  <a:clrTo>
                    <a:srgbClr val="FAFAFA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902" t="11594" r="15579" b="11594"/>
              <a:stretch>
                <a:fillRect/>
              </a:stretch>
            </p:blipFill>
            <p:spPr bwMode="auto">
              <a:xfrm>
                <a:off x="4147658" y="2026523"/>
                <a:ext cx="108000" cy="1210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114" name="TextBox 3113">
                <a:extLst>
                  <a:ext uri="{FF2B5EF4-FFF2-40B4-BE49-F238E27FC236}">
                    <a16:creationId xmlns:a16="http://schemas.microsoft.com/office/drawing/2014/main" id="{97EC6DED-0B6F-8AD5-A49B-E976DB4DA206}"/>
                  </a:ext>
                </a:extLst>
              </p:cNvPr>
              <p:cNvSpPr txBox="1"/>
              <p:nvPr/>
            </p:nvSpPr>
            <p:spPr>
              <a:xfrm>
                <a:off x="4151965" y="2102150"/>
                <a:ext cx="114775" cy="15388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400" b="1" spc="40" noProof="0"/>
                  <a:t>LLM</a:t>
                </a:r>
                <a:endParaRPr lang="en-US" sz="600" b="1" spc="40" noProof="0"/>
              </a:p>
            </p:txBody>
          </p:sp>
        </p:grpSp>
      </p:grpSp>
      <p:grpSp>
        <p:nvGrpSpPr>
          <p:cNvPr id="3116" name="Group 3115">
            <a:extLst>
              <a:ext uri="{FF2B5EF4-FFF2-40B4-BE49-F238E27FC236}">
                <a16:creationId xmlns:a16="http://schemas.microsoft.com/office/drawing/2014/main" id="{CB50DB1A-59BD-3D46-5B97-0F647991B15F}"/>
              </a:ext>
            </a:extLst>
          </p:cNvPr>
          <p:cNvGrpSpPr/>
          <p:nvPr/>
        </p:nvGrpSpPr>
        <p:grpSpPr>
          <a:xfrm>
            <a:off x="6462874" y="4079556"/>
            <a:ext cx="119082" cy="229515"/>
            <a:chOff x="4147658" y="2026523"/>
            <a:chExt cx="119082" cy="229515"/>
          </a:xfrm>
        </p:grpSpPr>
        <p:pic>
          <p:nvPicPr>
            <p:cNvPr id="3117" name="Picture 28" descr="Human brain icon - vector Stock Vector | Adobe Stock">
              <a:extLst>
                <a:ext uri="{FF2B5EF4-FFF2-40B4-BE49-F238E27FC236}">
                  <a16:creationId xmlns:a16="http://schemas.microsoft.com/office/drawing/2014/main" id="{05A3D0ED-CDC8-17B8-E1D0-3575D50D1D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0">
              <a:clrChange>
                <a:clrFrom>
                  <a:srgbClr val="FAFAFA"/>
                </a:clrFrom>
                <a:clrTo>
                  <a:srgbClr val="FAFAF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02" t="11594" r="15579" b="11594"/>
            <a:stretch>
              <a:fillRect/>
            </a:stretch>
          </p:blipFill>
          <p:spPr bwMode="auto">
            <a:xfrm>
              <a:off x="4147658" y="2026523"/>
              <a:ext cx="108000" cy="1210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18" name="TextBox 3117">
              <a:extLst>
                <a:ext uri="{FF2B5EF4-FFF2-40B4-BE49-F238E27FC236}">
                  <a16:creationId xmlns:a16="http://schemas.microsoft.com/office/drawing/2014/main" id="{C1E3D50A-7733-4621-11A4-55918BB47349}"/>
                </a:ext>
              </a:extLst>
            </p:cNvPr>
            <p:cNvSpPr txBox="1"/>
            <p:nvPr/>
          </p:nvSpPr>
          <p:spPr>
            <a:xfrm>
              <a:off x="4151965" y="2102150"/>
              <a:ext cx="114775" cy="153888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400" b="1" spc="40" noProof="0"/>
                <a:t>LLM</a:t>
              </a:r>
              <a:endParaRPr lang="en-US" sz="600" b="1" spc="40" noProof="0"/>
            </a:p>
          </p:txBody>
        </p:sp>
      </p:grpSp>
      <p:grpSp>
        <p:nvGrpSpPr>
          <p:cNvPr id="3128" name="Group 3127">
            <a:extLst>
              <a:ext uri="{FF2B5EF4-FFF2-40B4-BE49-F238E27FC236}">
                <a16:creationId xmlns:a16="http://schemas.microsoft.com/office/drawing/2014/main" id="{747FD317-BBCE-9675-95E8-BF01D658A38F}"/>
              </a:ext>
            </a:extLst>
          </p:cNvPr>
          <p:cNvGrpSpPr/>
          <p:nvPr/>
        </p:nvGrpSpPr>
        <p:grpSpPr>
          <a:xfrm>
            <a:off x="6419604" y="3160264"/>
            <a:ext cx="119082" cy="229515"/>
            <a:chOff x="4147658" y="2026523"/>
            <a:chExt cx="119082" cy="229515"/>
          </a:xfrm>
        </p:grpSpPr>
        <p:pic>
          <p:nvPicPr>
            <p:cNvPr id="3129" name="Picture 28" descr="Human brain icon - vector Stock Vector | Adobe Stock">
              <a:extLst>
                <a:ext uri="{FF2B5EF4-FFF2-40B4-BE49-F238E27FC236}">
                  <a16:creationId xmlns:a16="http://schemas.microsoft.com/office/drawing/2014/main" id="{E661962E-D089-247A-0654-747813E08D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0">
              <a:clrChange>
                <a:clrFrom>
                  <a:srgbClr val="FAFAFA"/>
                </a:clrFrom>
                <a:clrTo>
                  <a:srgbClr val="FAFAF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02" t="11594" r="15579" b="11594"/>
            <a:stretch>
              <a:fillRect/>
            </a:stretch>
          </p:blipFill>
          <p:spPr bwMode="auto">
            <a:xfrm>
              <a:off x="4147658" y="2026523"/>
              <a:ext cx="108000" cy="1210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31" name="TextBox 3130">
              <a:extLst>
                <a:ext uri="{FF2B5EF4-FFF2-40B4-BE49-F238E27FC236}">
                  <a16:creationId xmlns:a16="http://schemas.microsoft.com/office/drawing/2014/main" id="{F301F0F3-941C-316D-3C0D-8F95D136ADEF}"/>
                </a:ext>
              </a:extLst>
            </p:cNvPr>
            <p:cNvSpPr txBox="1"/>
            <p:nvPr/>
          </p:nvSpPr>
          <p:spPr>
            <a:xfrm>
              <a:off x="4151965" y="2102150"/>
              <a:ext cx="114775" cy="153888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400" b="1" spc="40" noProof="0"/>
                <a:t>LLM</a:t>
              </a:r>
              <a:endParaRPr lang="en-US" sz="600" b="1" spc="40" noProof="0"/>
            </a:p>
          </p:txBody>
        </p:sp>
      </p:grpSp>
      <p:grpSp>
        <p:nvGrpSpPr>
          <p:cNvPr id="6483" name="Group 6482">
            <a:extLst>
              <a:ext uri="{FF2B5EF4-FFF2-40B4-BE49-F238E27FC236}">
                <a16:creationId xmlns:a16="http://schemas.microsoft.com/office/drawing/2014/main" id="{9EDAF8F2-C004-0521-F755-1D3DCF19C1EE}"/>
              </a:ext>
            </a:extLst>
          </p:cNvPr>
          <p:cNvGrpSpPr/>
          <p:nvPr/>
        </p:nvGrpSpPr>
        <p:grpSpPr>
          <a:xfrm>
            <a:off x="8076336" y="2253785"/>
            <a:ext cx="1503098" cy="1825500"/>
            <a:chOff x="8025852" y="2312093"/>
            <a:chExt cx="1503098" cy="18255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6AB583E-A2E6-0B10-5075-9F7E4EFC2156}"/>
                </a:ext>
              </a:extLst>
            </p:cNvPr>
            <p:cNvGrpSpPr/>
            <p:nvPr/>
          </p:nvGrpSpPr>
          <p:grpSpPr>
            <a:xfrm>
              <a:off x="8064572" y="2354809"/>
              <a:ext cx="526069" cy="1745385"/>
              <a:chOff x="9802926" y="2295431"/>
              <a:chExt cx="526069" cy="1745385"/>
            </a:xfrm>
          </p:grpSpPr>
          <p:pic>
            <p:nvPicPr>
              <p:cNvPr id="3076" name="Picture 4" descr="Azure App Service: Types, Benefits and Overview">
                <a:extLst>
                  <a:ext uri="{FF2B5EF4-FFF2-40B4-BE49-F238E27FC236}">
                    <a16:creationId xmlns:a16="http://schemas.microsoft.com/office/drawing/2014/main" id="{F034D846-C6E7-F1F7-3EE3-8286AC7B85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20723" y="2295431"/>
                <a:ext cx="490475" cy="4904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" name="Picture 2" descr="Microsoft Teams Logo, symbol, meaning, history, PNG, brand">
                <a:extLst>
                  <a:ext uri="{FF2B5EF4-FFF2-40B4-BE49-F238E27FC236}">
                    <a16:creationId xmlns:a16="http://schemas.microsoft.com/office/drawing/2014/main" id="{65657AC1-61C2-362D-F623-A24E30552F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989" r="16989"/>
              <a:stretch>
                <a:fillRect/>
              </a:stretch>
            </p:blipFill>
            <p:spPr bwMode="auto">
              <a:xfrm>
                <a:off x="9802926" y="2927970"/>
                <a:ext cx="526069" cy="448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4" descr="Microsoft Copilot Logo Download in SVG Vector or PNG File Format">
                <a:extLst>
                  <a:ext uri="{FF2B5EF4-FFF2-40B4-BE49-F238E27FC236}">
                    <a16:creationId xmlns:a16="http://schemas.microsoft.com/office/drawing/2014/main" id="{57A6B87D-89C7-A815-0250-337F2973B9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02926" y="3514746"/>
                <a:ext cx="526069" cy="5260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13CB67E-C29C-BD3A-1D8B-8357B391C965}"/>
                </a:ext>
              </a:extLst>
            </p:cNvPr>
            <p:cNvSpPr txBox="1"/>
            <p:nvPr/>
          </p:nvSpPr>
          <p:spPr>
            <a:xfrm>
              <a:off x="8572845" y="2373045"/>
              <a:ext cx="73694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sz="1000" b="1" noProof="0"/>
                <a:t>Other channels</a:t>
              </a:r>
              <a:endParaRPr lang="en-US" sz="1000" noProof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70736E0-96A1-CC2C-D30D-333EEE9E1057}"/>
                </a:ext>
              </a:extLst>
            </p:cNvPr>
            <p:cNvSpPr txBox="1"/>
            <p:nvPr/>
          </p:nvSpPr>
          <p:spPr>
            <a:xfrm>
              <a:off x="8590641" y="3088337"/>
              <a:ext cx="756000" cy="246221"/>
            </a:xfrm>
            <a:prstGeom prst="rect">
              <a:avLst/>
            </a:prstGeom>
            <a:noFill/>
          </p:spPr>
          <p:txBody>
            <a:bodyPr wrap="square" rIns="0" rtlCol="0" anchor="ctr" anchorCtr="0">
              <a:spAutoFit/>
            </a:bodyPr>
            <a:lstStyle/>
            <a:p>
              <a:r>
                <a:rPr lang="en-US" sz="1000" b="1" noProof="0"/>
                <a:t>MS Teams</a:t>
              </a:r>
              <a:endParaRPr lang="en-US" sz="1000" noProof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D497C88-5847-4C2C-2BDC-FF66C4361472}"/>
                </a:ext>
              </a:extLst>
            </p:cNvPr>
            <p:cNvSpPr txBox="1"/>
            <p:nvPr/>
          </p:nvSpPr>
          <p:spPr>
            <a:xfrm>
              <a:off x="8605864" y="3625843"/>
              <a:ext cx="576000" cy="400110"/>
            </a:xfrm>
            <a:prstGeom prst="rect">
              <a:avLst/>
            </a:prstGeom>
            <a:noFill/>
          </p:spPr>
          <p:txBody>
            <a:bodyPr wrap="square" rIns="0" rtlCol="0" anchor="ctr" anchorCtr="0">
              <a:spAutoFit/>
            </a:bodyPr>
            <a:lstStyle/>
            <a:p>
              <a:r>
                <a:rPr lang="en-US" sz="1000" b="1" noProof="0"/>
                <a:t>Copilot Chat</a:t>
              </a:r>
              <a:endParaRPr lang="en-US" sz="1000" noProof="0"/>
            </a:p>
          </p:txBody>
        </p:sp>
        <p:sp>
          <p:nvSpPr>
            <p:cNvPr id="2102" name="Left Bracket 2101">
              <a:extLst>
                <a:ext uri="{FF2B5EF4-FFF2-40B4-BE49-F238E27FC236}">
                  <a16:creationId xmlns:a16="http://schemas.microsoft.com/office/drawing/2014/main" id="{4A63C2A9-EF08-6F6E-93ED-08F28BF7D0C9}"/>
                </a:ext>
              </a:extLst>
            </p:cNvPr>
            <p:cNvSpPr/>
            <p:nvPr/>
          </p:nvSpPr>
          <p:spPr>
            <a:xfrm>
              <a:off x="8025852" y="2312093"/>
              <a:ext cx="123514" cy="1825500"/>
            </a:xfrm>
            <a:prstGeom prst="leftBracket">
              <a:avLst/>
            </a:prstGeom>
            <a:ln w="28575">
              <a:solidFill>
                <a:schemeClr val="accent1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00" name="Straight Arrow Connector 2099">
              <a:extLst>
                <a:ext uri="{FF2B5EF4-FFF2-40B4-BE49-F238E27FC236}">
                  <a16:creationId xmlns:a16="http://schemas.microsoft.com/office/drawing/2014/main" id="{3D9764B7-3963-A63F-C242-4CB0C1E927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8950" y="2550564"/>
              <a:ext cx="360000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  <a:headEnd type="none" w="lg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11" name="Group 6210">
              <a:extLst>
                <a:ext uri="{FF2B5EF4-FFF2-40B4-BE49-F238E27FC236}">
                  <a16:creationId xmlns:a16="http://schemas.microsoft.com/office/drawing/2014/main" id="{519FCA70-0A64-AB23-862B-3716DD2C388D}"/>
                </a:ext>
              </a:extLst>
            </p:cNvPr>
            <p:cNvGrpSpPr/>
            <p:nvPr/>
          </p:nvGrpSpPr>
          <p:grpSpPr>
            <a:xfrm>
              <a:off x="8468497" y="3556976"/>
              <a:ext cx="119082" cy="229515"/>
              <a:chOff x="4147658" y="2026523"/>
              <a:chExt cx="119082" cy="229515"/>
            </a:xfrm>
          </p:grpSpPr>
          <p:pic>
            <p:nvPicPr>
              <p:cNvPr id="6212" name="Picture 28" descr="Human brain icon - vector Stock Vector | Adobe Stock">
                <a:extLst>
                  <a:ext uri="{FF2B5EF4-FFF2-40B4-BE49-F238E27FC236}">
                    <a16:creationId xmlns:a16="http://schemas.microsoft.com/office/drawing/2014/main" id="{383EBD77-5E9D-F11F-D85E-A3538189DE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0">
                <a:clrChange>
                  <a:clrFrom>
                    <a:srgbClr val="FAFAFA"/>
                  </a:clrFrom>
                  <a:clrTo>
                    <a:srgbClr val="FAFAFA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902" t="11594" r="15579" b="11594"/>
              <a:stretch>
                <a:fillRect/>
              </a:stretch>
            </p:blipFill>
            <p:spPr bwMode="auto">
              <a:xfrm>
                <a:off x="4147658" y="2026523"/>
                <a:ext cx="108000" cy="1210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213" name="TextBox 6212">
                <a:extLst>
                  <a:ext uri="{FF2B5EF4-FFF2-40B4-BE49-F238E27FC236}">
                    <a16:creationId xmlns:a16="http://schemas.microsoft.com/office/drawing/2014/main" id="{ABE0CB02-9121-F7D7-F1FB-F10D7967BFE4}"/>
                  </a:ext>
                </a:extLst>
              </p:cNvPr>
              <p:cNvSpPr txBox="1"/>
              <p:nvPr/>
            </p:nvSpPr>
            <p:spPr>
              <a:xfrm>
                <a:off x="4151965" y="2102150"/>
                <a:ext cx="114775" cy="153888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r>
                  <a:rPr lang="en-US" sz="400" b="1" spc="40" noProof="0"/>
                  <a:t>LLM</a:t>
                </a:r>
                <a:endParaRPr lang="en-US" sz="600" b="1" spc="40" noProof="0"/>
              </a:p>
            </p:txBody>
          </p:sp>
        </p:grpSp>
      </p:grpSp>
      <p:grpSp>
        <p:nvGrpSpPr>
          <p:cNvPr id="6214" name="Group 6213">
            <a:extLst>
              <a:ext uri="{FF2B5EF4-FFF2-40B4-BE49-F238E27FC236}">
                <a16:creationId xmlns:a16="http://schemas.microsoft.com/office/drawing/2014/main" id="{272BA23D-F16F-926A-2323-53DF2DAC1944}"/>
              </a:ext>
            </a:extLst>
          </p:cNvPr>
          <p:cNvGrpSpPr/>
          <p:nvPr/>
        </p:nvGrpSpPr>
        <p:grpSpPr>
          <a:xfrm>
            <a:off x="8404830" y="4375637"/>
            <a:ext cx="119082" cy="229515"/>
            <a:chOff x="4147658" y="2026523"/>
            <a:chExt cx="119082" cy="229515"/>
          </a:xfrm>
        </p:grpSpPr>
        <p:pic>
          <p:nvPicPr>
            <p:cNvPr id="6215" name="Picture 28" descr="Human brain icon - vector Stock Vector | Adobe Stock">
              <a:extLst>
                <a:ext uri="{FF2B5EF4-FFF2-40B4-BE49-F238E27FC236}">
                  <a16:creationId xmlns:a16="http://schemas.microsoft.com/office/drawing/2014/main" id="{DA57ADB6-7506-F52D-7E54-5412CE7D1B2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0">
              <a:clrChange>
                <a:clrFrom>
                  <a:srgbClr val="FAFAFA"/>
                </a:clrFrom>
                <a:clrTo>
                  <a:srgbClr val="FAFAF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02" t="11594" r="15579" b="11594"/>
            <a:stretch>
              <a:fillRect/>
            </a:stretch>
          </p:blipFill>
          <p:spPr bwMode="auto">
            <a:xfrm>
              <a:off x="4147658" y="2026523"/>
              <a:ext cx="108000" cy="1210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216" name="TextBox 6215">
              <a:extLst>
                <a:ext uri="{FF2B5EF4-FFF2-40B4-BE49-F238E27FC236}">
                  <a16:creationId xmlns:a16="http://schemas.microsoft.com/office/drawing/2014/main" id="{50BDCAE6-B76F-1746-500B-4855D093D9DC}"/>
                </a:ext>
              </a:extLst>
            </p:cNvPr>
            <p:cNvSpPr txBox="1"/>
            <p:nvPr/>
          </p:nvSpPr>
          <p:spPr>
            <a:xfrm>
              <a:off x="4151965" y="2102150"/>
              <a:ext cx="114775" cy="153888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400" b="1" spc="40" noProof="0"/>
                <a:t>LLM</a:t>
              </a:r>
              <a:endParaRPr lang="en-US" sz="600" b="1" spc="40" noProof="0"/>
            </a:p>
          </p:txBody>
        </p:sp>
      </p:grpSp>
      <p:grpSp>
        <p:nvGrpSpPr>
          <p:cNvPr id="6217" name="Group 6216">
            <a:extLst>
              <a:ext uri="{FF2B5EF4-FFF2-40B4-BE49-F238E27FC236}">
                <a16:creationId xmlns:a16="http://schemas.microsoft.com/office/drawing/2014/main" id="{06F0B1C9-394F-062B-21FC-B6B77836002E}"/>
              </a:ext>
            </a:extLst>
          </p:cNvPr>
          <p:cNvGrpSpPr/>
          <p:nvPr/>
        </p:nvGrpSpPr>
        <p:grpSpPr>
          <a:xfrm>
            <a:off x="7006942" y="1280104"/>
            <a:ext cx="119082" cy="229515"/>
            <a:chOff x="4147658" y="2026523"/>
            <a:chExt cx="119082" cy="229515"/>
          </a:xfrm>
        </p:grpSpPr>
        <p:pic>
          <p:nvPicPr>
            <p:cNvPr id="6218" name="Picture 28" descr="Human brain icon - vector Stock Vector | Adobe Stock">
              <a:extLst>
                <a:ext uri="{FF2B5EF4-FFF2-40B4-BE49-F238E27FC236}">
                  <a16:creationId xmlns:a16="http://schemas.microsoft.com/office/drawing/2014/main" id="{8B6E1C3A-E96E-8AC5-D637-05D742C491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0">
              <a:clrChange>
                <a:clrFrom>
                  <a:srgbClr val="FAFAFA"/>
                </a:clrFrom>
                <a:clrTo>
                  <a:srgbClr val="FAFAF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02" t="11594" r="15579" b="11594"/>
            <a:stretch>
              <a:fillRect/>
            </a:stretch>
          </p:blipFill>
          <p:spPr bwMode="auto">
            <a:xfrm>
              <a:off x="4147658" y="2026523"/>
              <a:ext cx="108000" cy="1210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219" name="TextBox 6218">
              <a:extLst>
                <a:ext uri="{FF2B5EF4-FFF2-40B4-BE49-F238E27FC236}">
                  <a16:creationId xmlns:a16="http://schemas.microsoft.com/office/drawing/2014/main" id="{7A8BE729-97F1-6339-A54B-77BC7BE37802}"/>
                </a:ext>
              </a:extLst>
            </p:cNvPr>
            <p:cNvSpPr txBox="1"/>
            <p:nvPr/>
          </p:nvSpPr>
          <p:spPr>
            <a:xfrm>
              <a:off x="4151965" y="2102150"/>
              <a:ext cx="114775" cy="153888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400" b="1" spc="40" noProof="0"/>
                <a:t>LLM</a:t>
              </a:r>
              <a:endParaRPr lang="en-US" sz="600" b="1" spc="40" noProof="0"/>
            </a:p>
          </p:txBody>
        </p:sp>
      </p:grpSp>
      <p:sp>
        <p:nvSpPr>
          <p:cNvPr id="6222" name="Rectangle 6221">
            <a:extLst>
              <a:ext uri="{FF2B5EF4-FFF2-40B4-BE49-F238E27FC236}">
                <a16:creationId xmlns:a16="http://schemas.microsoft.com/office/drawing/2014/main" id="{35259867-2CBA-DF59-B11D-F25BC1148909}"/>
              </a:ext>
            </a:extLst>
          </p:cNvPr>
          <p:cNvSpPr/>
          <p:nvPr/>
        </p:nvSpPr>
        <p:spPr bwMode="auto">
          <a:xfrm>
            <a:off x="779126" y="1159598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6227" name="Connector: Elbow 6226">
            <a:extLst>
              <a:ext uri="{FF2B5EF4-FFF2-40B4-BE49-F238E27FC236}">
                <a16:creationId xmlns:a16="http://schemas.microsoft.com/office/drawing/2014/main" id="{F3FD3D99-0049-6D07-07A7-3F5B0EF14A3E}"/>
              </a:ext>
            </a:extLst>
          </p:cNvPr>
          <p:cNvCxnSpPr>
            <a:cxnSpLocks/>
            <a:stCxn id="6163" idx="2"/>
            <a:endCxn id="6222" idx="1"/>
          </p:cNvCxnSpPr>
          <p:nvPr/>
        </p:nvCxnSpPr>
        <p:spPr>
          <a:xfrm rot="5400000" flipH="1">
            <a:off x="2885003" y="-872084"/>
            <a:ext cx="3693297" cy="7905051"/>
          </a:xfrm>
          <a:prstGeom prst="bentConnector4">
            <a:avLst>
              <a:gd name="adj1" fmla="val -43844"/>
              <a:gd name="adj2" fmla="val 105784"/>
            </a:avLst>
          </a:prstGeom>
          <a:ln>
            <a:solidFill>
              <a:srgbClr val="00B05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30" name="TextBox 6229">
            <a:extLst>
              <a:ext uri="{FF2B5EF4-FFF2-40B4-BE49-F238E27FC236}">
                <a16:creationId xmlns:a16="http://schemas.microsoft.com/office/drawing/2014/main" id="{51178095-B902-ED22-625D-CAF3EB2AB629}"/>
              </a:ext>
            </a:extLst>
          </p:cNvPr>
          <p:cNvSpPr txBox="1"/>
          <p:nvPr/>
        </p:nvSpPr>
        <p:spPr>
          <a:xfrm rot="16200000">
            <a:off x="355375" y="3970601"/>
            <a:ext cx="26289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800"/>
              <a:t>Alerts</a:t>
            </a:r>
          </a:p>
        </p:txBody>
      </p:sp>
      <p:cxnSp>
        <p:nvCxnSpPr>
          <p:cNvPr id="6249" name="Connector: Elbow 6248">
            <a:extLst>
              <a:ext uri="{FF2B5EF4-FFF2-40B4-BE49-F238E27FC236}">
                <a16:creationId xmlns:a16="http://schemas.microsoft.com/office/drawing/2014/main" id="{4583C5C9-7E19-DA5C-73BA-96C508663C7F}"/>
              </a:ext>
            </a:extLst>
          </p:cNvPr>
          <p:cNvCxnSpPr>
            <a:stCxn id="2098" idx="3"/>
          </p:cNvCxnSpPr>
          <p:nvPr/>
        </p:nvCxnSpPr>
        <p:spPr>
          <a:xfrm>
            <a:off x="5507365" y="6310044"/>
            <a:ext cx="67535" cy="239294"/>
          </a:xfrm>
          <a:prstGeom prst="bentConnector2">
            <a:avLst/>
          </a:prstGeom>
          <a:ln>
            <a:solidFill>
              <a:srgbClr val="00B050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50" name="TextBox 6249">
            <a:extLst>
              <a:ext uri="{FF2B5EF4-FFF2-40B4-BE49-F238E27FC236}">
                <a16:creationId xmlns:a16="http://schemas.microsoft.com/office/drawing/2014/main" id="{6E21D89F-9F56-B0DB-E153-08F750EA5FE6}"/>
              </a:ext>
            </a:extLst>
          </p:cNvPr>
          <p:cNvSpPr txBox="1"/>
          <p:nvPr/>
        </p:nvSpPr>
        <p:spPr>
          <a:xfrm rot="16200000">
            <a:off x="5348460" y="6042039"/>
            <a:ext cx="3670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800"/>
              <a:t>Plug-ins</a:t>
            </a:r>
          </a:p>
        </p:txBody>
      </p:sp>
      <p:cxnSp>
        <p:nvCxnSpPr>
          <p:cNvPr id="6258" name="Connector: Elbow 6257">
            <a:extLst>
              <a:ext uri="{FF2B5EF4-FFF2-40B4-BE49-F238E27FC236}">
                <a16:creationId xmlns:a16="http://schemas.microsoft.com/office/drawing/2014/main" id="{60E9FFC6-3971-449F-FFD4-1793E6925DF8}"/>
              </a:ext>
            </a:extLst>
          </p:cNvPr>
          <p:cNvCxnSpPr>
            <a:cxnSpLocks/>
            <a:stCxn id="2058" idx="1"/>
          </p:cNvCxnSpPr>
          <p:nvPr/>
        </p:nvCxnSpPr>
        <p:spPr>
          <a:xfrm rot="10800000" flipV="1">
            <a:off x="3424209" y="1556323"/>
            <a:ext cx="3235859" cy="307775"/>
          </a:xfrm>
          <a:prstGeom prst="bentConnector3">
            <a:avLst>
              <a:gd name="adj1" fmla="val 93800"/>
            </a:avLst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1" name="Connector: Elbow 6260">
            <a:extLst>
              <a:ext uri="{FF2B5EF4-FFF2-40B4-BE49-F238E27FC236}">
                <a16:creationId xmlns:a16="http://schemas.microsoft.com/office/drawing/2014/main" id="{213B362E-B94E-C43E-5584-F7E9B0615698}"/>
              </a:ext>
            </a:extLst>
          </p:cNvPr>
          <p:cNvCxnSpPr>
            <a:cxnSpLocks/>
            <a:stCxn id="2058" idx="1"/>
            <a:endCxn id="6336" idx="3"/>
          </p:cNvCxnSpPr>
          <p:nvPr/>
        </p:nvCxnSpPr>
        <p:spPr>
          <a:xfrm rot="10800000" flipV="1">
            <a:off x="3423265" y="1556324"/>
            <a:ext cx="3236802" cy="821130"/>
          </a:xfrm>
          <a:prstGeom prst="bentConnector3">
            <a:avLst>
              <a:gd name="adj1" fmla="val 93876"/>
            </a:avLst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4" name="Connector: Elbow 6263">
            <a:extLst>
              <a:ext uri="{FF2B5EF4-FFF2-40B4-BE49-F238E27FC236}">
                <a16:creationId xmlns:a16="http://schemas.microsoft.com/office/drawing/2014/main" id="{69AC9880-9FD5-F551-1FF2-75B1DF2B6E04}"/>
              </a:ext>
            </a:extLst>
          </p:cNvPr>
          <p:cNvCxnSpPr>
            <a:cxnSpLocks/>
            <a:stCxn id="2058" idx="1"/>
            <a:endCxn id="6345" idx="3"/>
          </p:cNvCxnSpPr>
          <p:nvPr/>
        </p:nvCxnSpPr>
        <p:spPr>
          <a:xfrm rot="10800000" flipV="1">
            <a:off x="3423265" y="1556324"/>
            <a:ext cx="3236802" cy="1320248"/>
          </a:xfrm>
          <a:prstGeom prst="bentConnector3">
            <a:avLst>
              <a:gd name="adj1" fmla="val 93817"/>
            </a:avLst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6" name="Connector: Elbow 6275">
            <a:extLst>
              <a:ext uri="{FF2B5EF4-FFF2-40B4-BE49-F238E27FC236}">
                <a16:creationId xmlns:a16="http://schemas.microsoft.com/office/drawing/2014/main" id="{FA22E2D2-4B96-9575-1DA5-047985DCE554}"/>
              </a:ext>
            </a:extLst>
          </p:cNvPr>
          <p:cNvCxnSpPr>
            <a:cxnSpLocks/>
            <a:stCxn id="2058" idx="1"/>
            <a:endCxn id="6360" idx="3"/>
          </p:cNvCxnSpPr>
          <p:nvPr/>
        </p:nvCxnSpPr>
        <p:spPr>
          <a:xfrm rot="10800000" flipV="1">
            <a:off x="3423265" y="1556323"/>
            <a:ext cx="3236802" cy="3745817"/>
          </a:xfrm>
          <a:prstGeom prst="bentConnector3">
            <a:avLst>
              <a:gd name="adj1" fmla="val 93847"/>
            </a:avLst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9" name="Connector: Elbow 6278">
            <a:extLst>
              <a:ext uri="{FF2B5EF4-FFF2-40B4-BE49-F238E27FC236}">
                <a16:creationId xmlns:a16="http://schemas.microsoft.com/office/drawing/2014/main" id="{81CAE607-9450-E5C3-E3C9-A24EC628FE06}"/>
              </a:ext>
            </a:extLst>
          </p:cNvPr>
          <p:cNvCxnSpPr>
            <a:cxnSpLocks/>
            <a:stCxn id="2077" idx="1"/>
            <a:endCxn id="6337" idx="3"/>
          </p:cNvCxnSpPr>
          <p:nvPr/>
        </p:nvCxnSpPr>
        <p:spPr>
          <a:xfrm rot="10800000">
            <a:off x="3423266" y="2449105"/>
            <a:ext cx="2406515" cy="126536"/>
          </a:xfrm>
          <a:prstGeom prst="bentConnector3">
            <a:avLst>
              <a:gd name="adj1" fmla="val 58840"/>
            </a:avLst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6" name="Connector: Elbow 6285">
            <a:extLst>
              <a:ext uri="{FF2B5EF4-FFF2-40B4-BE49-F238E27FC236}">
                <a16:creationId xmlns:a16="http://schemas.microsoft.com/office/drawing/2014/main" id="{34CC0438-E3B4-8913-E974-C9EC8447428D}"/>
              </a:ext>
            </a:extLst>
          </p:cNvPr>
          <p:cNvCxnSpPr>
            <a:cxnSpLocks/>
            <a:stCxn id="2077" idx="1"/>
            <a:endCxn id="6346" idx="3"/>
          </p:cNvCxnSpPr>
          <p:nvPr/>
        </p:nvCxnSpPr>
        <p:spPr>
          <a:xfrm rot="10800000" flipV="1">
            <a:off x="3423266" y="2575641"/>
            <a:ext cx="2406515" cy="372582"/>
          </a:xfrm>
          <a:prstGeom prst="bentConnector3">
            <a:avLst>
              <a:gd name="adj1" fmla="val 58839"/>
            </a:avLst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8" name="Connector: Elbow 6287">
            <a:extLst>
              <a:ext uri="{FF2B5EF4-FFF2-40B4-BE49-F238E27FC236}">
                <a16:creationId xmlns:a16="http://schemas.microsoft.com/office/drawing/2014/main" id="{555C9673-8565-EFE0-4364-EFEFDC60A67A}"/>
              </a:ext>
            </a:extLst>
          </p:cNvPr>
          <p:cNvCxnSpPr>
            <a:cxnSpLocks/>
            <a:stCxn id="2077" idx="1"/>
            <a:endCxn id="6362" idx="3"/>
          </p:cNvCxnSpPr>
          <p:nvPr/>
        </p:nvCxnSpPr>
        <p:spPr>
          <a:xfrm rot="10800000" flipV="1">
            <a:off x="3423266" y="2575640"/>
            <a:ext cx="2406515" cy="2870983"/>
          </a:xfrm>
          <a:prstGeom prst="bentConnector3">
            <a:avLst>
              <a:gd name="adj1" fmla="val 58839"/>
            </a:avLst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5" name="Connector: Elbow 6294">
            <a:extLst>
              <a:ext uri="{FF2B5EF4-FFF2-40B4-BE49-F238E27FC236}">
                <a16:creationId xmlns:a16="http://schemas.microsoft.com/office/drawing/2014/main" id="{E093654C-B303-3EEF-E37C-FEA9D4315243}"/>
              </a:ext>
            </a:extLst>
          </p:cNvPr>
          <p:cNvCxnSpPr>
            <a:cxnSpLocks/>
            <a:stCxn id="6426" idx="1"/>
            <a:endCxn id="6338" idx="3"/>
          </p:cNvCxnSpPr>
          <p:nvPr/>
        </p:nvCxnSpPr>
        <p:spPr>
          <a:xfrm rot="10800000">
            <a:off x="3423265" y="2521937"/>
            <a:ext cx="2350100" cy="1159514"/>
          </a:xfrm>
          <a:prstGeom prst="bentConnector3">
            <a:avLst>
              <a:gd name="adj1" fmla="val 66258"/>
            </a:avLst>
          </a:prstGeom>
          <a:ln>
            <a:solidFill>
              <a:schemeClr val="accent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7" name="Connector: Elbow 6296">
            <a:extLst>
              <a:ext uri="{FF2B5EF4-FFF2-40B4-BE49-F238E27FC236}">
                <a16:creationId xmlns:a16="http://schemas.microsoft.com/office/drawing/2014/main" id="{4D5A3942-B912-D3EB-7D2E-CA557B669B06}"/>
              </a:ext>
            </a:extLst>
          </p:cNvPr>
          <p:cNvCxnSpPr>
            <a:cxnSpLocks/>
            <a:endCxn id="6347" idx="3"/>
          </p:cNvCxnSpPr>
          <p:nvPr/>
        </p:nvCxnSpPr>
        <p:spPr>
          <a:xfrm rot="10800000">
            <a:off x="3423266" y="3021055"/>
            <a:ext cx="2339493" cy="661426"/>
          </a:xfrm>
          <a:prstGeom prst="bentConnector3">
            <a:avLst>
              <a:gd name="adj1" fmla="val 66172"/>
            </a:avLst>
          </a:prstGeom>
          <a:ln>
            <a:solidFill>
              <a:schemeClr val="accent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1" name="Connector: Elbow 6300">
            <a:extLst>
              <a:ext uri="{FF2B5EF4-FFF2-40B4-BE49-F238E27FC236}">
                <a16:creationId xmlns:a16="http://schemas.microsoft.com/office/drawing/2014/main" id="{3D523F6D-9666-5A08-7AFA-A9E13E43CED7}"/>
              </a:ext>
            </a:extLst>
          </p:cNvPr>
          <p:cNvCxnSpPr>
            <a:cxnSpLocks/>
            <a:stCxn id="50" idx="1"/>
            <a:endCxn id="6339" idx="3"/>
          </p:cNvCxnSpPr>
          <p:nvPr/>
        </p:nvCxnSpPr>
        <p:spPr>
          <a:xfrm rot="10800000">
            <a:off x="3423265" y="2593695"/>
            <a:ext cx="2704042" cy="1742102"/>
          </a:xfrm>
          <a:prstGeom prst="bentConnector3">
            <a:avLst>
              <a:gd name="adj1" fmla="val 78063"/>
            </a:avLst>
          </a:prstGeom>
          <a:ln>
            <a:solidFill>
              <a:srgbClr val="FF5C39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4" name="Connector: Elbow 6303">
            <a:extLst>
              <a:ext uri="{FF2B5EF4-FFF2-40B4-BE49-F238E27FC236}">
                <a16:creationId xmlns:a16="http://schemas.microsoft.com/office/drawing/2014/main" id="{1CEAEE46-861B-D5C4-6E45-2C1ADE79C580}"/>
              </a:ext>
            </a:extLst>
          </p:cNvPr>
          <p:cNvCxnSpPr>
            <a:cxnSpLocks/>
            <a:stCxn id="50" idx="1"/>
            <a:endCxn id="6348" idx="3"/>
          </p:cNvCxnSpPr>
          <p:nvPr/>
        </p:nvCxnSpPr>
        <p:spPr>
          <a:xfrm rot="10800000">
            <a:off x="3423265" y="3092813"/>
            <a:ext cx="2704042" cy="1242984"/>
          </a:xfrm>
          <a:prstGeom prst="bentConnector3">
            <a:avLst>
              <a:gd name="adj1" fmla="val 78121"/>
            </a:avLst>
          </a:prstGeom>
          <a:ln>
            <a:solidFill>
              <a:srgbClr val="FF5C39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33" name="Group 6332">
            <a:extLst>
              <a:ext uri="{FF2B5EF4-FFF2-40B4-BE49-F238E27FC236}">
                <a16:creationId xmlns:a16="http://schemas.microsoft.com/office/drawing/2014/main" id="{B8625470-2712-8E18-1745-4194A9452FC1}"/>
              </a:ext>
            </a:extLst>
          </p:cNvPr>
          <p:cNvGrpSpPr/>
          <p:nvPr/>
        </p:nvGrpSpPr>
        <p:grpSpPr>
          <a:xfrm>
            <a:off x="3264305" y="1828236"/>
            <a:ext cx="158960" cy="288000"/>
            <a:chOff x="3838300" y="1085213"/>
            <a:chExt cx="138712" cy="595548"/>
          </a:xfrm>
        </p:grpSpPr>
        <p:sp>
          <p:nvSpPr>
            <p:cNvPr id="6329" name="Rectangle 6328">
              <a:extLst>
                <a:ext uri="{FF2B5EF4-FFF2-40B4-BE49-F238E27FC236}">
                  <a16:creationId xmlns:a16="http://schemas.microsoft.com/office/drawing/2014/main" id="{400EE6F9-C9E4-06DE-9339-C08B2C324DE4}"/>
                </a:ext>
              </a:extLst>
            </p:cNvPr>
            <p:cNvSpPr/>
            <p:nvPr/>
          </p:nvSpPr>
          <p:spPr bwMode="auto">
            <a:xfrm>
              <a:off x="3838300" y="108521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30" name="Rectangle 6329">
              <a:extLst>
                <a:ext uri="{FF2B5EF4-FFF2-40B4-BE49-F238E27FC236}">
                  <a16:creationId xmlns:a16="http://schemas.microsoft.com/office/drawing/2014/main" id="{29DDA88B-FFC7-4663-C0E4-82F667FA43D3}"/>
                </a:ext>
              </a:extLst>
            </p:cNvPr>
            <p:cNvSpPr/>
            <p:nvPr/>
          </p:nvSpPr>
          <p:spPr bwMode="auto">
            <a:xfrm>
              <a:off x="3838300" y="1233379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31" name="Rectangle 6330">
              <a:extLst>
                <a:ext uri="{FF2B5EF4-FFF2-40B4-BE49-F238E27FC236}">
                  <a16:creationId xmlns:a16="http://schemas.microsoft.com/office/drawing/2014/main" id="{3EB54828-111D-DDD3-2198-00C3662BB4FB}"/>
                </a:ext>
              </a:extLst>
            </p:cNvPr>
            <p:cNvSpPr/>
            <p:nvPr/>
          </p:nvSpPr>
          <p:spPr bwMode="auto">
            <a:xfrm>
              <a:off x="3838300" y="1383985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32" name="Rectangle 6331">
              <a:extLst>
                <a:ext uri="{FF2B5EF4-FFF2-40B4-BE49-F238E27FC236}">
                  <a16:creationId xmlns:a16="http://schemas.microsoft.com/office/drawing/2014/main" id="{68EB335C-E46C-898A-4DF1-B717BD9D39A0}"/>
                </a:ext>
              </a:extLst>
            </p:cNvPr>
            <p:cNvSpPr/>
            <p:nvPr/>
          </p:nvSpPr>
          <p:spPr bwMode="auto">
            <a:xfrm>
              <a:off x="3838300" y="153237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6335" name="Group 6334">
            <a:extLst>
              <a:ext uri="{FF2B5EF4-FFF2-40B4-BE49-F238E27FC236}">
                <a16:creationId xmlns:a16="http://schemas.microsoft.com/office/drawing/2014/main" id="{5BA1F5FE-151C-B40B-2CAC-ADC2FF7A2ED8}"/>
              </a:ext>
            </a:extLst>
          </p:cNvPr>
          <p:cNvGrpSpPr/>
          <p:nvPr/>
        </p:nvGrpSpPr>
        <p:grpSpPr>
          <a:xfrm>
            <a:off x="3264305" y="2341574"/>
            <a:ext cx="158960" cy="288000"/>
            <a:chOff x="3838300" y="1085213"/>
            <a:chExt cx="138712" cy="595548"/>
          </a:xfrm>
        </p:grpSpPr>
        <p:sp>
          <p:nvSpPr>
            <p:cNvPr id="6336" name="Rectangle 6335">
              <a:extLst>
                <a:ext uri="{FF2B5EF4-FFF2-40B4-BE49-F238E27FC236}">
                  <a16:creationId xmlns:a16="http://schemas.microsoft.com/office/drawing/2014/main" id="{E3EA05E9-93B7-3EFA-C3B6-5AD54A663F0C}"/>
                </a:ext>
              </a:extLst>
            </p:cNvPr>
            <p:cNvSpPr/>
            <p:nvPr/>
          </p:nvSpPr>
          <p:spPr bwMode="auto">
            <a:xfrm>
              <a:off x="3838300" y="108521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37" name="Rectangle 6336">
              <a:extLst>
                <a:ext uri="{FF2B5EF4-FFF2-40B4-BE49-F238E27FC236}">
                  <a16:creationId xmlns:a16="http://schemas.microsoft.com/office/drawing/2014/main" id="{4EF63CCA-DF4C-89FE-3FF1-85B4D1A6E225}"/>
                </a:ext>
              </a:extLst>
            </p:cNvPr>
            <p:cNvSpPr/>
            <p:nvPr/>
          </p:nvSpPr>
          <p:spPr bwMode="auto">
            <a:xfrm>
              <a:off x="3838300" y="1233379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38" name="Rectangle 6337">
              <a:extLst>
                <a:ext uri="{FF2B5EF4-FFF2-40B4-BE49-F238E27FC236}">
                  <a16:creationId xmlns:a16="http://schemas.microsoft.com/office/drawing/2014/main" id="{AF189A7C-61F1-4480-4B96-89E2619D941F}"/>
                </a:ext>
              </a:extLst>
            </p:cNvPr>
            <p:cNvSpPr/>
            <p:nvPr/>
          </p:nvSpPr>
          <p:spPr bwMode="auto">
            <a:xfrm>
              <a:off x="3838300" y="1383985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39" name="Rectangle 6338">
              <a:extLst>
                <a:ext uri="{FF2B5EF4-FFF2-40B4-BE49-F238E27FC236}">
                  <a16:creationId xmlns:a16="http://schemas.microsoft.com/office/drawing/2014/main" id="{B1816E8A-E74C-4B85-C24B-60015DD437FE}"/>
                </a:ext>
              </a:extLst>
            </p:cNvPr>
            <p:cNvSpPr/>
            <p:nvPr/>
          </p:nvSpPr>
          <p:spPr bwMode="auto">
            <a:xfrm>
              <a:off x="3838300" y="153237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6344" name="Group 6343">
            <a:extLst>
              <a:ext uri="{FF2B5EF4-FFF2-40B4-BE49-F238E27FC236}">
                <a16:creationId xmlns:a16="http://schemas.microsoft.com/office/drawing/2014/main" id="{95330263-6B99-DD10-DDC2-0125CAD56716}"/>
              </a:ext>
            </a:extLst>
          </p:cNvPr>
          <p:cNvGrpSpPr/>
          <p:nvPr/>
        </p:nvGrpSpPr>
        <p:grpSpPr>
          <a:xfrm>
            <a:off x="3264305" y="2840692"/>
            <a:ext cx="158960" cy="288000"/>
            <a:chOff x="3838300" y="1085213"/>
            <a:chExt cx="138712" cy="595548"/>
          </a:xfrm>
        </p:grpSpPr>
        <p:sp>
          <p:nvSpPr>
            <p:cNvPr id="6345" name="Rectangle 6344">
              <a:extLst>
                <a:ext uri="{FF2B5EF4-FFF2-40B4-BE49-F238E27FC236}">
                  <a16:creationId xmlns:a16="http://schemas.microsoft.com/office/drawing/2014/main" id="{A98002CC-9562-FC1F-76F1-DC6948EAF7CD}"/>
                </a:ext>
              </a:extLst>
            </p:cNvPr>
            <p:cNvSpPr/>
            <p:nvPr/>
          </p:nvSpPr>
          <p:spPr bwMode="auto">
            <a:xfrm>
              <a:off x="3838300" y="108521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46" name="Rectangle 6345">
              <a:extLst>
                <a:ext uri="{FF2B5EF4-FFF2-40B4-BE49-F238E27FC236}">
                  <a16:creationId xmlns:a16="http://schemas.microsoft.com/office/drawing/2014/main" id="{6FC7BE91-CDED-EBF6-600D-1EA39A9A4EE7}"/>
                </a:ext>
              </a:extLst>
            </p:cNvPr>
            <p:cNvSpPr/>
            <p:nvPr/>
          </p:nvSpPr>
          <p:spPr bwMode="auto">
            <a:xfrm>
              <a:off x="3838300" y="1233379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47" name="Rectangle 6346">
              <a:extLst>
                <a:ext uri="{FF2B5EF4-FFF2-40B4-BE49-F238E27FC236}">
                  <a16:creationId xmlns:a16="http://schemas.microsoft.com/office/drawing/2014/main" id="{7720DA0C-7F0F-13EC-A1FC-0B20D80F9B69}"/>
                </a:ext>
              </a:extLst>
            </p:cNvPr>
            <p:cNvSpPr/>
            <p:nvPr/>
          </p:nvSpPr>
          <p:spPr bwMode="auto">
            <a:xfrm>
              <a:off x="3838300" y="1383985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48" name="Rectangle 6347">
              <a:extLst>
                <a:ext uri="{FF2B5EF4-FFF2-40B4-BE49-F238E27FC236}">
                  <a16:creationId xmlns:a16="http://schemas.microsoft.com/office/drawing/2014/main" id="{41DE4F60-A4B3-B0F5-C70A-8620A3F846AF}"/>
                </a:ext>
              </a:extLst>
            </p:cNvPr>
            <p:cNvSpPr/>
            <p:nvPr/>
          </p:nvSpPr>
          <p:spPr bwMode="auto">
            <a:xfrm>
              <a:off x="3838300" y="153237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6353" name="Group 6352">
            <a:extLst>
              <a:ext uri="{FF2B5EF4-FFF2-40B4-BE49-F238E27FC236}">
                <a16:creationId xmlns:a16="http://schemas.microsoft.com/office/drawing/2014/main" id="{31C90E0E-1AC2-3B3D-B895-5D35578B24E6}"/>
              </a:ext>
            </a:extLst>
          </p:cNvPr>
          <p:cNvGrpSpPr/>
          <p:nvPr/>
        </p:nvGrpSpPr>
        <p:grpSpPr>
          <a:xfrm>
            <a:off x="3264305" y="3360713"/>
            <a:ext cx="158960" cy="288000"/>
            <a:chOff x="3838300" y="1085213"/>
            <a:chExt cx="138712" cy="595548"/>
          </a:xfrm>
        </p:grpSpPr>
        <p:sp>
          <p:nvSpPr>
            <p:cNvPr id="6354" name="Rectangle 6353">
              <a:extLst>
                <a:ext uri="{FF2B5EF4-FFF2-40B4-BE49-F238E27FC236}">
                  <a16:creationId xmlns:a16="http://schemas.microsoft.com/office/drawing/2014/main" id="{4080F184-1E3C-DC57-5875-A34C8091DA27}"/>
                </a:ext>
              </a:extLst>
            </p:cNvPr>
            <p:cNvSpPr/>
            <p:nvPr/>
          </p:nvSpPr>
          <p:spPr bwMode="auto">
            <a:xfrm>
              <a:off x="3838300" y="108521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55" name="Rectangle 6354">
              <a:extLst>
                <a:ext uri="{FF2B5EF4-FFF2-40B4-BE49-F238E27FC236}">
                  <a16:creationId xmlns:a16="http://schemas.microsoft.com/office/drawing/2014/main" id="{57DACD96-BD95-911E-3981-EB3E149AC23C}"/>
                </a:ext>
              </a:extLst>
            </p:cNvPr>
            <p:cNvSpPr/>
            <p:nvPr/>
          </p:nvSpPr>
          <p:spPr bwMode="auto">
            <a:xfrm>
              <a:off x="3838300" y="1233379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56" name="Rectangle 6355">
              <a:extLst>
                <a:ext uri="{FF2B5EF4-FFF2-40B4-BE49-F238E27FC236}">
                  <a16:creationId xmlns:a16="http://schemas.microsoft.com/office/drawing/2014/main" id="{DA41BFB6-0C68-CDCF-4475-0DA81BE9DECF}"/>
                </a:ext>
              </a:extLst>
            </p:cNvPr>
            <p:cNvSpPr/>
            <p:nvPr/>
          </p:nvSpPr>
          <p:spPr bwMode="auto">
            <a:xfrm>
              <a:off x="3838300" y="1383985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57" name="Rectangle 6356">
              <a:extLst>
                <a:ext uri="{FF2B5EF4-FFF2-40B4-BE49-F238E27FC236}">
                  <a16:creationId xmlns:a16="http://schemas.microsoft.com/office/drawing/2014/main" id="{6A2CDD59-6F72-270A-758F-9C118F23158F}"/>
                </a:ext>
              </a:extLst>
            </p:cNvPr>
            <p:cNvSpPr/>
            <p:nvPr/>
          </p:nvSpPr>
          <p:spPr bwMode="auto">
            <a:xfrm>
              <a:off x="3838300" y="153237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6359" name="Group 6358">
            <a:extLst>
              <a:ext uri="{FF2B5EF4-FFF2-40B4-BE49-F238E27FC236}">
                <a16:creationId xmlns:a16="http://schemas.microsoft.com/office/drawing/2014/main" id="{7825EF00-5D4E-E3C7-D0E1-DECCFEF65EF1}"/>
              </a:ext>
            </a:extLst>
          </p:cNvPr>
          <p:cNvGrpSpPr/>
          <p:nvPr/>
        </p:nvGrpSpPr>
        <p:grpSpPr>
          <a:xfrm>
            <a:off x="3264305" y="5266261"/>
            <a:ext cx="158960" cy="288000"/>
            <a:chOff x="3838300" y="1085213"/>
            <a:chExt cx="138712" cy="595548"/>
          </a:xfrm>
        </p:grpSpPr>
        <p:sp>
          <p:nvSpPr>
            <p:cNvPr id="6360" name="Rectangle 6359">
              <a:extLst>
                <a:ext uri="{FF2B5EF4-FFF2-40B4-BE49-F238E27FC236}">
                  <a16:creationId xmlns:a16="http://schemas.microsoft.com/office/drawing/2014/main" id="{71DD210E-52C2-A1BB-3D8D-EC296BEED925}"/>
                </a:ext>
              </a:extLst>
            </p:cNvPr>
            <p:cNvSpPr/>
            <p:nvPr/>
          </p:nvSpPr>
          <p:spPr bwMode="auto">
            <a:xfrm>
              <a:off x="3838300" y="108521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61" name="Rectangle 6360">
              <a:extLst>
                <a:ext uri="{FF2B5EF4-FFF2-40B4-BE49-F238E27FC236}">
                  <a16:creationId xmlns:a16="http://schemas.microsoft.com/office/drawing/2014/main" id="{D7679522-40E5-F5F0-4E36-0DEB681B39F5}"/>
                </a:ext>
              </a:extLst>
            </p:cNvPr>
            <p:cNvSpPr/>
            <p:nvPr/>
          </p:nvSpPr>
          <p:spPr bwMode="auto">
            <a:xfrm>
              <a:off x="3838300" y="1233379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62" name="Rectangle 6361">
              <a:extLst>
                <a:ext uri="{FF2B5EF4-FFF2-40B4-BE49-F238E27FC236}">
                  <a16:creationId xmlns:a16="http://schemas.microsoft.com/office/drawing/2014/main" id="{1C44C8C6-A904-603F-9F82-9CD35C2FCDA8}"/>
                </a:ext>
              </a:extLst>
            </p:cNvPr>
            <p:cNvSpPr/>
            <p:nvPr/>
          </p:nvSpPr>
          <p:spPr bwMode="auto">
            <a:xfrm>
              <a:off x="3838300" y="1383985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63" name="Rectangle 6362">
              <a:extLst>
                <a:ext uri="{FF2B5EF4-FFF2-40B4-BE49-F238E27FC236}">
                  <a16:creationId xmlns:a16="http://schemas.microsoft.com/office/drawing/2014/main" id="{95F11C66-CB9E-755A-45F0-8CB8424CDEDB}"/>
                </a:ext>
              </a:extLst>
            </p:cNvPr>
            <p:cNvSpPr/>
            <p:nvPr/>
          </p:nvSpPr>
          <p:spPr bwMode="auto">
            <a:xfrm>
              <a:off x="3838300" y="153237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6366" name="Rectangle 6365">
            <a:extLst>
              <a:ext uri="{FF2B5EF4-FFF2-40B4-BE49-F238E27FC236}">
                <a16:creationId xmlns:a16="http://schemas.microsoft.com/office/drawing/2014/main" id="{A433C0C5-1A89-9E1B-7D26-FBC56E85A5ED}"/>
              </a:ext>
            </a:extLst>
          </p:cNvPr>
          <p:cNvSpPr/>
          <p:nvPr/>
        </p:nvSpPr>
        <p:spPr bwMode="auto">
          <a:xfrm>
            <a:off x="5694773" y="5505984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6370" name="Connector: Elbow 6369">
            <a:extLst>
              <a:ext uri="{FF2B5EF4-FFF2-40B4-BE49-F238E27FC236}">
                <a16:creationId xmlns:a16="http://schemas.microsoft.com/office/drawing/2014/main" id="{2E94D09C-E27B-FAD4-DF73-DAF5BE9D9C7A}"/>
              </a:ext>
            </a:extLst>
          </p:cNvPr>
          <p:cNvCxnSpPr>
            <a:stCxn id="6366" idx="1"/>
            <a:endCxn id="6355" idx="3"/>
          </p:cNvCxnSpPr>
          <p:nvPr/>
        </p:nvCxnSpPr>
        <p:spPr>
          <a:xfrm rot="10800000">
            <a:off x="3423265" y="3468244"/>
            <a:ext cx="2271508" cy="2111934"/>
          </a:xfrm>
          <a:prstGeom prst="bentConnector3">
            <a:avLst>
              <a:gd name="adj1" fmla="val 82637"/>
            </a:avLst>
          </a:prstGeom>
          <a:ln>
            <a:solidFill>
              <a:srgbClr val="FFB90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96" name="TextBox 6395">
            <a:extLst>
              <a:ext uri="{FF2B5EF4-FFF2-40B4-BE49-F238E27FC236}">
                <a16:creationId xmlns:a16="http://schemas.microsoft.com/office/drawing/2014/main" id="{D97C61E1-A2DF-52DA-886E-DB340811BA65}"/>
              </a:ext>
            </a:extLst>
          </p:cNvPr>
          <p:cNvSpPr txBox="1"/>
          <p:nvPr/>
        </p:nvSpPr>
        <p:spPr>
          <a:xfrm rot="16200000">
            <a:off x="694232" y="2499547"/>
            <a:ext cx="48482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/>
              <a:t>Data Mirroring and Ingestion</a:t>
            </a:r>
          </a:p>
        </p:txBody>
      </p:sp>
      <p:sp>
        <p:nvSpPr>
          <p:cNvPr id="6422" name="Rectangle 6421">
            <a:extLst>
              <a:ext uri="{FF2B5EF4-FFF2-40B4-BE49-F238E27FC236}">
                <a16:creationId xmlns:a16="http://schemas.microsoft.com/office/drawing/2014/main" id="{A6504E10-7193-49EA-FAE2-8FDDAE0DD152}"/>
              </a:ext>
            </a:extLst>
          </p:cNvPr>
          <p:cNvSpPr/>
          <p:nvPr/>
        </p:nvSpPr>
        <p:spPr bwMode="auto">
          <a:xfrm>
            <a:off x="6121264" y="4312591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6424" name="Connector: Elbow 6423">
            <a:extLst>
              <a:ext uri="{FF2B5EF4-FFF2-40B4-BE49-F238E27FC236}">
                <a16:creationId xmlns:a16="http://schemas.microsoft.com/office/drawing/2014/main" id="{D05F1F42-1E26-8CA2-EB9C-9822ED4488A2}"/>
              </a:ext>
            </a:extLst>
          </p:cNvPr>
          <p:cNvCxnSpPr>
            <a:stCxn id="6422" idx="1"/>
            <a:endCxn id="2096" idx="0"/>
          </p:cNvCxnSpPr>
          <p:nvPr/>
        </p:nvCxnSpPr>
        <p:spPr>
          <a:xfrm rot="10800000" flipV="1">
            <a:off x="5208272" y="4386785"/>
            <a:ext cx="912992" cy="1499460"/>
          </a:xfrm>
          <a:prstGeom prst="bentConnector2">
            <a:avLst/>
          </a:prstGeom>
          <a:ln>
            <a:solidFill>
              <a:srgbClr val="C03BC4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26" name="Rectangle 6425">
            <a:extLst>
              <a:ext uri="{FF2B5EF4-FFF2-40B4-BE49-F238E27FC236}">
                <a16:creationId xmlns:a16="http://schemas.microsoft.com/office/drawing/2014/main" id="{6B3C3962-33C1-DB7B-3AEB-73FBFCFD4225}"/>
              </a:ext>
            </a:extLst>
          </p:cNvPr>
          <p:cNvSpPr/>
          <p:nvPr/>
        </p:nvSpPr>
        <p:spPr bwMode="auto">
          <a:xfrm>
            <a:off x="5773365" y="3607257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427" name="Rectangle 6426">
            <a:extLst>
              <a:ext uri="{FF2B5EF4-FFF2-40B4-BE49-F238E27FC236}">
                <a16:creationId xmlns:a16="http://schemas.microsoft.com/office/drawing/2014/main" id="{E2E40DC3-155D-86C8-8B5F-5EF4B0B5ABCC}"/>
              </a:ext>
            </a:extLst>
          </p:cNvPr>
          <p:cNvSpPr/>
          <p:nvPr/>
        </p:nvSpPr>
        <p:spPr bwMode="auto">
          <a:xfrm>
            <a:off x="5663522" y="4977390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6431" name="Connector: Elbow 6430">
            <a:extLst>
              <a:ext uri="{FF2B5EF4-FFF2-40B4-BE49-F238E27FC236}">
                <a16:creationId xmlns:a16="http://schemas.microsoft.com/office/drawing/2014/main" id="{64C0A438-C1EE-2D66-F95E-3940B5E3F54A}"/>
              </a:ext>
            </a:extLst>
          </p:cNvPr>
          <p:cNvCxnSpPr>
            <a:cxnSpLocks/>
            <a:stCxn id="3238" idx="1"/>
            <a:endCxn id="35" idx="1"/>
          </p:cNvCxnSpPr>
          <p:nvPr/>
        </p:nvCxnSpPr>
        <p:spPr>
          <a:xfrm rot="10800000">
            <a:off x="5513272" y="2685393"/>
            <a:ext cx="18733" cy="2426237"/>
          </a:xfrm>
          <a:prstGeom prst="bentConnector3">
            <a:avLst>
              <a:gd name="adj1" fmla="val 1320306"/>
            </a:avLst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35" name="Rectangle 6434">
            <a:extLst>
              <a:ext uri="{FF2B5EF4-FFF2-40B4-BE49-F238E27FC236}">
                <a16:creationId xmlns:a16="http://schemas.microsoft.com/office/drawing/2014/main" id="{A42FE992-88DB-0A57-FA84-6BE21C6E9773}"/>
              </a:ext>
            </a:extLst>
          </p:cNvPr>
          <p:cNvSpPr/>
          <p:nvPr/>
        </p:nvSpPr>
        <p:spPr bwMode="auto">
          <a:xfrm>
            <a:off x="6183712" y="4371521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6438" name="Straight Arrow Connector 6437">
            <a:extLst>
              <a:ext uri="{FF2B5EF4-FFF2-40B4-BE49-F238E27FC236}">
                <a16:creationId xmlns:a16="http://schemas.microsoft.com/office/drawing/2014/main" id="{7826E710-C89E-DB0E-D1E3-4B720F234AE8}"/>
              </a:ext>
            </a:extLst>
          </p:cNvPr>
          <p:cNvCxnSpPr/>
          <p:nvPr/>
        </p:nvCxnSpPr>
        <p:spPr>
          <a:xfrm>
            <a:off x="314644" y="5840138"/>
            <a:ext cx="386080" cy="0"/>
          </a:xfrm>
          <a:prstGeom prst="straightConnector1">
            <a:avLst/>
          </a:prstGeom>
          <a:ln>
            <a:solidFill>
              <a:srgbClr val="00B05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9" name="Straight Arrow Connector 6438">
            <a:extLst>
              <a:ext uri="{FF2B5EF4-FFF2-40B4-BE49-F238E27FC236}">
                <a16:creationId xmlns:a16="http://schemas.microsoft.com/office/drawing/2014/main" id="{B4912E9F-6E8C-BE7A-C406-720ED4593250}"/>
              </a:ext>
            </a:extLst>
          </p:cNvPr>
          <p:cNvCxnSpPr/>
          <p:nvPr/>
        </p:nvCxnSpPr>
        <p:spPr>
          <a:xfrm>
            <a:off x="314221" y="4912555"/>
            <a:ext cx="386080" cy="0"/>
          </a:xfrm>
          <a:prstGeom prst="straightConnector1">
            <a:avLst/>
          </a:prstGeom>
          <a:ln>
            <a:solidFill>
              <a:srgbClr val="00B05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0" name="Straight Arrow Connector 6439">
            <a:extLst>
              <a:ext uri="{FF2B5EF4-FFF2-40B4-BE49-F238E27FC236}">
                <a16:creationId xmlns:a16="http://schemas.microsoft.com/office/drawing/2014/main" id="{2CE54EBA-E5EB-8121-EC29-EAF19B91978E}"/>
              </a:ext>
            </a:extLst>
          </p:cNvPr>
          <p:cNvCxnSpPr/>
          <p:nvPr/>
        </p:nvCxnSpPr>
        <p:spPr>
          <a:xfrm>
            <a:off x="314221" y="4278615"/>
            <a:ext cx="386080" cy="0"/>
          </a:xfrm>
          <a:prstGeom prst="straightConnector1">
            <a:avLst/>
          </a:prstGeom>
          <a:ln>
            <a:solidFill>
              <a:srgbClr val="00B05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44" name="Rectangle 6443">
            <a:extLst>
              <a:ext uri="{FF2B5EF4-FFF2-40B4-BE49-F238E27FC236}">
                <a16:creationId xmlns:a16="http://schemas.microsoft.com/office/drawing/2014/main" id="{6B2D7677-D277-3989-FA95-D2AA169BEF85}"/>
              </a:ext>
            </a:extLst>
          </p:cNvPr>
          <p:cNvSpPr/>
          <p:nvPr/>
        </p:nvSpPr>
        <p:spPr bwMode="auto">
          <a:xfrm>
            <a:off x="5609006" y="5674342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6446" name="Connector: Elbow 6445">
            <a:extLst>
              <a:ext uri="{FF2B5EF4-FFF2-40B4-BE49-F238E27FC236}">
                <a16:creationId xmlns:a16="http://schemas.microsoft.com/office/drawing/2014/main" id="{4B12639F-331D-B948-0E70-D582008DE3D0}"/>
              </a:ext>
            </a:extLst>
          </p:cNvPr>
          <p:cNvCxnSpPr>
            <a:cxnSpLocks/>
            <a:stCxn id="2096" idx="3"/>
            <a:endCxn id="6444" idx="1"/>
          </p:cNvCxnSpPr>
          <p:nvPr/>
        </p:nvCxnSpPr>
        <p:spPr>
          <a:xfrm flipV="1">
            <a:off x="5365434" y="5748536"/>
            <a:ext cx="243572" cy="280584"/>
          </a:xfrm>
          <a:prstGeom prst="bentConnector3">
            <a:avLst>
              <a:gd name="adj1" fmla="val 50000"/>
            </a:avLst>
          </a:prstGeom>
          <a:ln>
            <a:solidFill>
              <a:srgbClr val="00B050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1" name="Straight Arrow Connector 6490">
            <a:extLst>
              <a:ext uri="{FF2B5EF4-FFF2-40B4-BE49-F238E27FC236}">
                <a16:creationId xmlns:a16="http://schemas.microsoft.com/office/drawing/2014/main" id="{4164F1FB-0592-848C-D3B0-79A971247CB5}"/>
              </a:ext>
            </a:extLst>
          </p:cNvPr>
          <p:cNvCxnSpPr>
            <a:cxnSpLocks/>
          </p:cNvCxnSpPr>
          <p:nvPr/>
        </p:nvCxnSpPr>
        <p:spPr>
          <a:xfrm flipV="1">
            <a:off x="2578920" y="3135665"/>
            <a:ext cx="0" cy="20786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94" name="Picture 6493">
            <a:extLst>
              <a:ext uri="{FF2B5EF4-FFF2-40B4-BE49-F238E27FC236}">
                <a16:creationId xmlns:a16="http://schemas.microsoft.com/office/drawing/2014/main" id="{2A93BF49-E96A-EFFB-9910-A98FCAB960B8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173023" y="3418994"/>
            <a:ext cx="149050" cy="154190"/>
          </a:xfrm>
          <a:prstGeom prst="rect">
            <a:avLst/>
          </a:prstGeom>
        </p:spPr>
      </p:pic>
      <p:pic>
        <p:nvPicPr>
          <p:cNvPr id="6496" name="Picture 12" descr="Class - Homepage">
            <a:extLst>
              <a:ext uri="{FF2B5EF4-FFF2-40B4-BE49-F238E27FC236}">
                <a16:creationId xmlns:a16="http://schemas.microsoft.com/office/drawing/2014/main" id="{3D4B11C9-13D8-89A4-617E-D28FC89C0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985" y="1429496"/>
            <a:ext cx="240930" cy="21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97" name="TextBox 6496">
            <a:extLst>
              <a:ext uri="{FF2B5EF4-FFF2-40B4-BE49-F238E27FC236}">
                <a16:creationId xmlns:a16="http://schemas.microsoft.com/office/drawing/2014/main" id="{513F7AD9-8CAB-675C-D7A6-F2A3D681CC49}"/>
              </a:ext>
            </a:extLst>
          </p:cNvPr>
          <p:cNvSpPr txBox="1">
            <a:spLocks noChangeAspect="1"/>
          </p:cNvSpPr>
          <p:nvPr/>
        </p:nvSpPr>
        <p:spPr>
          <a:xfrm>
            <a:off x="2427594" y="1383241"/>
            <a:ext cx="972000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000" b="1" dirty="0">
                <a:solidFill>
                  <a:schemeClr val="bg1">
                    <a:lumMod val="50000"/>
                  </a:schemeClr>
                </a:solidFill>
              </a:rPr>
              <a:t>Graph</a:t>
            </a:r>
          </a:p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Toolset</a:t>
            </a:r>
          </a:p>
        </p:txBody>
      </p:sp>
      <p:grpSp>
        <p:nvGrpSpPr>
          <p:cNvPr id="6501" name="Group 6500">
            <a:extLst>
              <a:ext uri="{FF2B5EF4-FFF2-40B4-BE49-F238E27FC236}">
                <a16:creationId xmlns:a16="http://schemas.microsoft.com/office/drawing/2014/main" id="{0E3D41FF-046F-C10F-08C2-FE278A89C58F}"/>
              </a:ext>
            </a:extLst>
          </p:cNvPr>
          <p:cNvGrpSpPr/>
          <p:nvPr/>
        </p:nvGrpSpPr>
        <p:grpSpPr>
          <a:xfrm>
            <a:off x="3265248" y="1448761"/>
            <a:ext cx="158960" cy="288000"/>
            <a:chOff x="3838300" y="1085213"/>
            <a:chExt cx="138712" cy="595548"/>
          </a:xfrm>
        </p:grpSpPr>
        <p:sp>
          <p:nvSpPr>
            <p:cNvPr id="6502" name="Rectangle 6501">
              <a:extLst>
                <a:ext uri="{FF2B5EF4-FFF2-40B4-BE49-F238E27FC236}">
                  <a16:creationId xmlns:a16="http://schemas.microsoft.com/office/drawing/2014/main" id="{599C04AC-6677-21DB-16E9-F11A232755FE}"/>
                </a:ext>
              </a:extLst>
            </p:cNvPr>
            <p:cNvSpPr/>
            <p:nvPr/>
          </p:nvSpPr>
          <p:spPr bwMode="auto">
            <a:xfrm>
              <a:off x="3838300" y="108521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503" name="Rectangle 6502">
              <a:extLst>
                <a:ext uri="{FF2B5EF4-FFF2-40B4-BE49-F238E27FC236}">
                  <a16:creationId xmlns:a16="http://schemas.microsoft.com/office/drawing/2014/main" id="{022C0BB2-A90A-1A12-2E4A-64CF55857966}"/>
                </a:ext>
              </a:extLst>
            </p:cNvPr>
            <p:cNvSpPr/>
            <p:nvPr/>
          </p:nvSpPr>
          <p:spPr bwMode="auto">
            <a:xfrm>
              <a:off x="3838300" y="1233379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504" name="Rectangle 6503">
              <a:extLst>
                <a:ext uri="{FF2B5EF4-FFF2-40B4-BE49-F238E27FC236}">
                  <a16:creationId xmlns:a16="http://schemas.microsoft.com/office/drawing/2014/main" id="{4C3C9542-5028-C5C3-D3BE-E4A05BB2EE2D}"/>
                </a:ext>
              </a:extLst>
            </p:cNvPr>
            <p:cNvSpPr/>
            <p:nvPr/>
          </p:nvSpPr>
          <p:spPr bwMode="auto">
            <a:xfrm>
              <a:off x="3838300" y="1383985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505" name="Rectangle 6504">
              <a:extLst>
                <a:ext uri="{FF2B5EF4-FFF2-40B4-BE49-F238E27FC236}">
                  <a16:creationId xmlns:a16="http://schemas.microsoft.com/office/drawing/2014/main" id="{FFA7D73D-7EFF-1084-1FFE-CEE94F226436}"/>
                </a:ext>
              </a:extLst>
            </p:cNvPr>
            <p:cNvSpPr/>
            <p:nvPr/>
          </p:nvSpPr>
          <p:spPr bwMode="auto">
            <a:xfrm>
              <a:off x="3838300" y="1532373"/>
              <a:ext cx="138712" cy="148388"/>
            </a:xfrm>
            <a:prstGeom prst="rect">
              <a:avLst/>
            </a:prstGeom>
            <a:noFill/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pic>
        <p:nvPicPr>
          <p:cNvPr id="6511" name="Picture 4" descr="Microsoft Copilot Logo Download in SVG Vector or PNG File Format">
            <a:extLst>
              <a:ext uri="{FF2B5EF4-FFF2-40B4-BE49-F238E27FC236}">
                <a16:creationId xmlns:a16="http://schemas.microsoft.com/office/drawing/2014/main" id="{BB9791C0-C6AD-1ADB-4714-42188F068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00" y="695924"/>
            <a:ext cx="361487" cy="36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12" name="TextBox 6511">
            <a:extLst>
              <a:ext uri="{FF2B5EF4-FFF2-40B4-BE49-F238E27FC236}">
                <a16:creationId xmlns:a16="http://schemas.microsoft.com/office/drawing/2014/main" id="{AD468D7B-E61A-557A-5FBF-A6C32E42ECDA}"/>
              </a:ext>
            </a:extLst>
          </p:cNvPr>
          <p:cNvSpPr txBox="1"/>
          <p:nvPr/>
        </p:nvSpPr>
        <p:spPr>
          <a:xfrm>
            <a:off x="426564" y="676612"/>
            <a:ext cx="603146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1000" b="1" noProof="0">
                <a:solidFill>
                  <a:schemeClr val="bg1">
                    <a:lumMod val="50000"/>
                  </a:schemeClr>
                </a:solidFill>
              </a:rPr>
              <a:t>Security Copilot</a:t>
            </a:r>
            <a:endParaRPr lang="en-US" sz="1000" noProof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514" name="Connector: Elbow 6513">
            <a:extLst>
              <a:ext uri="{FF2B5EF4-FFF2-40B4-BE49-F238E27FC236}">
                <a16:creationId xmlns:a16="http://schemas.microsoft.com/office/drawing/2014/main" id="{938542E3-028D-EA5C-2684-0F8D33538231}"/>
              </a:ext>
            </a:extLst>
          </p:cNvPr>
          <p:cNvCxnSpPr>
            <a:cxnSpLocks/>
            <a:stCxn id="30" idx="1"/>
            <a:endCxn id="6511" idx="3"/>
          </p:cNvCxnSpPr>
          <p:nvPr/>
        </p:nvCxnSpPr>
        <p:spPr>
          <a:xfrm rot="10800000">
            <a:off x="1410388" y="876669"/>
            <a:ext cx="728417" cy="20304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prstDash val="sys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5" name="Connector: Elbow 6524">
            <a:extLst>
              <a:ext uri="{FF2B5EF4-FFF2-40B4-BE49-F238E27FC236}">
                <a16:creationId xmlns:a16="http://schemas.microsoft.com/office/drawing/2014/main" id="{041224DB-EF09-CDDC-BB7D-91D8E5144C4C}"/>
              </a:ext>
            </a:extLst>
          </p:cNvPr>
          <p:cNvCxnSpPr>
            <a:cxnSpLocks/>
            <a:stCxn id="40" idx="1"/>
            <a:endCxn id="2096" idx="0"/>
          </p:cNvCxnSpPr>
          <p:nvPr/>
        </p:nvCxnSpPr>
        <p:spPr>
          <a:xfrm rot="10800000" flipV="1">
            <a:off x="5208272" y="2828229"/>
            <a:ext cx="304998" cy="3058015"/>
          </a:xfrm>
          <a:prstGeom prst="bentConnector2">
            <a:avLst/>
          </a:prstGeom>
          <a:ln>
            <a:solidFill>
              <a:srgbClr val="C03BC4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29" name="Rectangle 6528">
            <a:extLst>
              <a:ext uri="{FF2B5EF4-FFF2-40B4-BE49-F238E27FC236}">
                <a16:creationId xmlns:a16="http://schemas.microsoft.com/office/drawing/2014/main" id="{45EAFAD2-6369-35AC-E997-C5B7156304BD}"/>
              </a:ext>
            </a:extLst>
          </p:cNvPr>
          <p:cNvSpPr/>
          <p:nvPr/>
        </p:nvSpPr>
        <p:spPr bwMode="auto">
          <a:xfrm>
            <a:off x="5550349" y="3053027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539" name="Rectangle 6538">
            <a:extLst>
              <a:ext uri="{FF2B5EF4-FFF2-40B4-BE49-F238E27FC236}">
                <a16:creationId xmlns:a16="http://schemas.microsoft.com/office/drawing/2014/main" id="{1DD934FA-4CFF-A560-4157-2181A05F04FD}"/>
              </a:ext>
            </a:extLst>
          </p:cNvPr>
          <p:cNvSpPr/>
          <p:nvPr/>
        </p:nvSpPr>
        <p:spPr bwMode="auto">
          <a:xfrm>
            <a:off x="5563817" y="5160978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16D307B-1E6C-E346-3F42-22C237D80A22}"/>
              </a:ext>
            </a:extLst>
          </p:cNvPr>
          <p:cNvGrpSpPr/>
          <p:nvPr/>
        </p:nvGrpSpPr>
        <p:grpSpPr>
          <a:xfrm>
            <a:off x="6407965" y="2227954"/>
            <a:ext cx="119082" cy="229515"/>
            <a:chOff x="4147658" y="2026523"/>
            <a:chExt cx="119082" cy="229515"/>
          </a:xfrm>
        </p:grpSpPr>
        <p:pic>
          <p:nvPicPr>
            <p:cNvPr id="27" name="Picture 28" descr="Human brain icon - vector Stock Vector | Adobe Stock">
              <a:extLst>
                <a:ext uri="{FF2B5EF4-FFF2-40B4-BE49-F238E27FC236}">
                  <a16:creationId xmlns:a16="http://schemas.microsoft.com/office/drawing/2014/main" id="{BE66326C-A34C-1FE4-2F16-961CF1BCEB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0">
              <a:clrChange>
                <a:clrFrom>
                  <a:srgbClr val="FAFAFA"/>
                </a:clrFrom>
                <a:clrTo>
                  <a:srgbClr val="FAFAF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02" t="11594" r="15579" b="11594"/>
            <a:stretch>
              <a:fillRect/>
            </a:stretch>
          </p:blipFill>
          <p:spPr bwMode="auto">
            <a:xfrm>
              <a:off x="4147658" y="2026523"/>
              <a:ext cx="108000" cy="1210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8FCBF6E-0FFA-9DE7-D3B7-348A03C5303F}"/>
                </a:ext>
              </a:extLst>
            </p:cNvPr>
            <p:cNvSpPr txBox="1"/>
            <p:nvPr/>
          </p:nvSpPr>
          <p:spPr>
            <a:xfrm>
              <a:off x="4151965" y="2102150"/>
              <a:ext cx="114775" cy="153888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400" b="1" spc="40" noProof="0"/>
                <a:t>LLM</a:t>
              </a:r>
              <a:endParaRPr lang="en-US" sz="600" b="1" spc="40" noProof="0"/>
            </a:p>
          </p:txBody>
        </p:sp>
      </p:grpSp>
      <p:sp>
        <p:nvSpPr>
          <p:cNvPr id="29" name="Left Bracket 28">
            <a:extLst>
              <a:ext uri="{FF2B5EF4-FFF2-40B4-BE49-F238E27FC236}">
                <a16:creationId xmlns:a16="http://schemas.microsoft.com/office/drawing/2014/main" id="{E3937C52-2CE8-A432-091A-0EF0129C143D}"/>
              </a:ext>
            </a:extLst>
          </p:cNvPr>
          <p:cNvSpPr/>
          <p:nvPr/>
        </p:nvSpPr>
        <p:spPr>
          <a:xfrm>
            <a:off x="5551372" y="2114137"/>
            <a:ext cx="52752" cy="1764000"/>
          </a:xfrm>
          <a:prstGeom prst="leftBracket">
            <a:avLst/>
          </a:prstGeom>
          <a:noFill/>
          <a:ln w="28575">
            <a:solidFill>
              <a:schemeClr val="bg1">
                <a:lumMod val="65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54A85D-DF75-BEF8-64FC-DFE0190F5448}"/>
              </a:ext>
            </a:extLst>
          </p:cNvPr>
          <p:cNvSpPr/>
          <p:nvPr/>
        </p:nvSpPr>
        <p:spPr bwMode="auto">
          <a:xfrm>
            <a:off x="5513271" y="2611198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37BBCF2-11BB-5E30-2854-DADCB4D3898E}"/>
              </a:ext>
            </a:extLst>
          </p:cNvPr>
          <p:cNvSpPr/>
          <p:nvPr/>
        </p:nvSpPr>
        <p:spPr bwMode="auto">
          <a:xfrm>
            <a:off x="5513270" y="2754036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77" name="Rectangle 2076">
            <a:extLst>
              <a:ext uri="{FF2B5EF4-FFF2-40B4-BE49-F238E27FC236}">
                <a16:creationId xmlns:a16="http://schemas.microsoft.com/office/drawing/2014/main" id="{79630EBA-192C-F3EF-D26A-7460A82B4CB1}"/>
              </a:ext>
            </a:extLst>
          </p:cNvPr>
          <p:cNvSpPr/>
          <p:nvPr/>
        </p:nvSpPr>
        <p:spPr bwMode="auto">
          <a:xfrm>
            <a:off x="5829780" y="2501447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6176" name="Straight Arrow Connector 6175">
            <a:extLst>
              <a:ext uri="{FF2B5EF4-FFF2-40B4-BE49-F238E27FC236}">
                <a16:creationId xmlns:a16="http://schemas.microsoft.com/office/drawing/2014/main" id="{986E0CD8-55CF-DFF9-9226-68C5B8EA00E9}"/>
              </a:ext>
            </a:extLst>
          </p:cNvPr>
          <p:cNvCxnSpPr>
            <a:cxnSpLocks/>
          </p:cNvCxnSpPr>
          <p:nvPr/>
        </p:nvCxnSpPr>
        <p:spPr>
          <a:xfrm flipH="1">
            <a:off x="4913144" y="4329415"/>
            <a:ext cx="72120" cy="0"/>
          </a:xfrm>
          <a:prstGeom prst="straightConnector1">
            <a:avLst/>
          </a:prstGeom>
          <a:ln>
            <a:solidFill>
              <a:srgbClr val="FF5C39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0" name="Straight Arrow Connector 6179">
            <a:extLst>
              <a:ext uri="{FF2B5EF4-FFF2-40B4-BE49-F238E27FC236}">
                <a16:creationId xmlns:a16="http://schemas.microsoft.com/office/drawing/2014/main" id="{5C107DFC-8271-8BF5-8262-B83362A51C70}"/>
              </a:ext>
            </a:extLst>
          </p:cNvPr>
          <p:cNvCxnSpPr>
            <a:cxnSpLocks/>
          </p:cNvCxnSpPr>
          <p:nvPr/>
        </p:nvCxnSpPr>
        <p:spPr>
          <a:xfrm flipH="1">
            <a:off x="4997969" y="3675002"/>
            <a:ext cx="72120" cy="0"/>
          </a:xfrm>
          <a:prstGeom prst="straightConnector1">
            <a:avLst/>
          </a:prstGeom>
          <a:ln>
            <a:solidFill>
              <a:schemeClr val="accent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1" name="Straight Arrow Connector 6180">
            <a:extLst>
              <a:ext uri="{FF2B5EF4-FFF2-40B4-BE49-F238E27FC236}">
                <a16:creationId xmlns:a16="http://schemas.microsoft.com/office/drawing/2014/main" id="{82EB371B-87E2-493A-B54F-67EF96EAA1DA}"/>
              </a:ext>
            </a:extLst>
          </p:cNvPr>
          <p:cNvCxnSpPr>
            <a:cxnSpLocks/>
          </p:cNvCxnSpPr>
          <p:nvPr/>
        </p:nvCxnSpPr>
        <p:spPr>
          <a:xfrm flipH="1">
            <a:off x="5330332" y="4385009"/>
            <a:ext cx="72120" cy="0"/>
          </a:xfrm>
          <a:prstGeom prst="straightConnector1">
            <a:avLst/>
          </a:prstGeom>
          <a:ln>
            <a:solidFill>
              <a:srgbClr val="C03BC4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2" name="Straight Arrow Connector 6181">
            <a:extLst>
              <a:ext uri="{FF2B5EF4-FFF2-40B4-BE49-F238E27FC236}">
                <a16:creationId xmlns:a16="http://schemas.microsoft.com/office/drawing/2014/main" id="{0E54C424-DAA7-9295-C645-1608AEFD7147}"/>
              </a:ext>
            </a:extLst>
          </p:cNvPr>
          <p:cNvCxnSpPr>
            <a:cxnSpLocks/>
          </p:cNvCxnSpPr>
          <p:nvPr/>
        </p:nvCxnSpPr>
        <p:spPr>
          <a:xfrm flipH="1">
            <a:off x="5332276" y="5113579"/>
            <a:ext cx="72120" cy="0"/>
          </a:xfrm>
          <a:prstGeom prst="straightConnector1">
            <a:avLst/>
          </a:prstGeom>
          <a:ln>
            <a:solidFill>
              <a:srgbClr val="C03BC4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4" name="Straight Arrow Connector 6183">
            <a:extLst>
              <a:ext uri="{FF2B5EF4-FFF2-40B4-BE49-F238E27FC236}">
                <a16:creationId xmlns:a16="http://schemas.microsoft.com/office/drawing/2014/main" id="{7168EBF2-AFBC-763C-EAAB-381FA6233947}"/>
              </a:ext>
            </a:extLst>
          </p:cNvPr>
          <p:cNvCxnSpPr>
            <a:cxnSpLocks/>
          </p:cNvCxnSpPr>
          <p:nvPr/>
        </p:nvCxnSpPr>
        <p:spPr>
          <a:xfrm flipH="1">
            <a:off x="5332276" y="5523750"/>
            <a:ext cx="7212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5" name="Straight Arrow Connector 6184">
            <a:extLst>
              <a:ext uri="{FF2B5EF4-FFF2-40B4-BE49-F238E27FC236}">
                <a16:creationId xmlns:a16="http://schemas.microsoft.com/office/drawing/2014/main" id="{A2419D21-F630-569E-DDC7-617E06AACA9A}"/>
              </a:ext>
            </a:extLst>
          </p:cNvPr>
          <p:cNvCxnSpPr>
            <a:cxnSpLocks/>
          </p:cNvCxnSpPr>
          <p:nvPr/>
        </p:nvCxnSpPr>
        <p:spPr>
          <a:xfrm flipH="1">
            <a:off x="4998922" y="5579014"/>
            <a:ext cx="72120" cy="0"/>
          </a:xfrm>
          <a:prstGeom prst="straightConnector1">
            <a:avLst/>
          </a:prstGeom>
          <a:ln>
            <a:solidFill>
              <a:srgbClr val="FFB90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7" name="Straight Arrow Connector 6186">
            <a:extLst>
              <a:ext uri="{FF2B5EF4-FFF2-40B4-BE49-F238E27FC236}">
                <a16:creationId xmlns:a16="http://schemas.microsoft.com/office/drawing/2014/main" id="{C3C8B9A2-7128-54B3-B6B7-368C25CCEA2C}"/>
              </a:ext>
            </a:extLst>
          </p:cNvPr>
          <p:cNvCxnSpPr>
            <a:cxnSpLocks/>
          </p:cNvCxnSpPr>
          <p:nvPr/>
        </p:nvCxnSpPr>
        <p:spPr>
          <a:xfrm flipH="1">
            <a:off x="6373264" y="1556324"/>
            <a:ext cx="72120" cy="0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4" name="Straight Arrow Connector 6193">
            <a:extLst>
              <a:ext uri="{FF2B5EF4-FFF2-40B4-BE49-F238E27FC236}">
                <a16:creationId xmlns:a16="http://schemas.microsoft.com/office/drawing/2014/main" id="{BA7AB704-D131-9363-50A2-000DCE580177}"/>
              </a:ext>
            </a:extLst>
          </p:cNvPr>
          <p:cNvCxnSpPr>
            <a:cxnSpLocks/>
          </p:cNvCxnSpPr>
          <p:nvPr/>
        </p:nvCxnSpPr>
        <p:spPr>
          <a:xfrm flipH="1">
            <a:off x="4963740" y="2581743"/>
            <a:ext cx="7212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1" name="Connector: Elbow 6200">
            <a:extLst>
              <a:ext uri="{FF2B5EF4-FFF2-40B4-BE49-F238E27FC236}">
                <a16:creationId xmlns:a16="http://schemas.microsoft.com/office/drawing/2014/main" id="{8F794747-0ADC-BFE3-4FC0-9785EAC0D638}"/>
              </a:ext>
            </a:extLst>
          </p:cNvPr>
          <p:cNvCxnSpPr>
            <a:stCxn id="6539" idx="1"/>
            <a:endCxn id="35" idx="1"/>
          </p:cNvCxnSpPr>
          <p:nvPr/>
        </p:nvCxnSpPr>
        <p:spPr>
          <a:xfrm rot="10800000">
            <a:off x="5513271" y="2685392"/>
            <a:ext cx="50546" cy="2549780"/>
          </a:xfrm>
          <a:prstGeom prst="bentConnector3">
            <a:avLst>
              <a:gd name="adj1" fmla="val 552261"/>
            </a:avLst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3" name="Straight Arrow Connector 6182">
            <a:extLst>
              <a:ext uri="{FF2B5EF4-FFF2-40B4-BE49-F238E27FC236}">
                <a16:creationId xmlns:a16="http://schemas.microsoft.com/office/drawing/2014/main" id="{F7838DC9-2356-C561-27FA-A58A7DD61320}"/>
              </a:ext>
            </a:extLst>
          </p:cNvPr>
          <p:cNvCxnSpPr>
            <a:cxnSpLocks/>
          </p:cNvCxnSpPr>
          <p:nvPr/>
        </p:nvCxnSpPr>
        <p:spPr>
          <a:xfrm flipH="1">
            <a:off x="5332276" y="5234094"/>
            <a:ext cx="7212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2" name="Straight Arrow Connector 6201">
            <a:extLst>
              <a:ext uri="{FF2B5EF4-FFF2-40B4-BE49-F238E27FC236}">
                <a16:creationId xmlns:a16="http://schemas.microsoft.com/office/drawing/2014/main" id="{3532E550-464B-5545-55E5-E189A828AA7B}"/>
              </a:ext>
            </a:extLst>
          </p:cNvPr>
          <p:cNvCxnSpPr>
            <a:cxnSpLocks/>
          </p:cNvCxnSpPr>
          <p:nvPr/>
        </p:nvCxnSpPr>
        <p:spPr>
          <a:xfrm>
            <a:off x="5208271" y="4647690"/>
            <a:ext cx="0" cy="66449"/>
          </a:xfrm>
          <a:prstGeom prst="straightConnector1">
            <a:avLst/>
          </a:prstGeom>
          <a:ln>
            <a:solidFill>
              <a:srgbClr val="C03BC4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51B3E785-5B87-A9D2-F010-3EDE76EC2E94}"/>
              </a:ext>
            </a:extLst>
          </p:cNvPr>
          <p:cNvCxnSpPr>
            <a:stCxn id="3146" idx="2"/>
            <a:endCxn id="3174" idx="3"/>
          </p:cNvCxnSpPr>
          <p:nvPr/>
        </p:nvCxnSpPr>
        <p:spPr>
          <a:xfrm rot="5400000">
            <a:off x="1310791" y="5452203"/>
            <a:ext cx="219770" cy="527097"/>
          </a:xfrm>
          <a:prstGeom prst="bentConnector2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7" name="TextBox 2066">
            <a:extLst>
              <a:ext uri="{FF2B5EF4-FFF2-40B4-BE49-F238E27FC236}">
                <a16:creationId xmlns:a16="http://schemas.microsoft.com/office/drawing/2014/main" id="{AAAEE232-0D60-BADF-4665-40262F4BCAFA}"/>
              </a:ext>
            </a:extLst>
          </p:cNvPr>
          <p:cNvSpPr txBox="1"/>
          <p:nvPr/>
        </p:nvSpPr>
        <p:spPr>
          <a:xfrm>
            <a:off x="1499327" y="5834143"/>
            <a:ext cx="155492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it-IT" sz="1050" b="1" dirty="0">
                <a:solidFill>
                  <a:srgbClr val="EE0000"/>
                </a:solidFill>
              </a:rPr>
              <a:t>[*]</a:t>
            </a:r>
            <a:endParaRPr lang="en-US" sz="1050" b="1" dirty="0" err="1">
              <a:solidFill>
                <a:srgbClr val="EE0000"/>
              </a:solidFill>
            </a:endParaRPr>
          </a:p>
        </p:txBody>
      </p:sp>
      <p:sp>
        <p:nvSpPr>
          <p:cNvPr id="2070" name="TextBox 2069">
            <a:extLst>
              <a:ext uri="{FF2B5EF4-FFF2-40B4-BE49-F238E27FC236}">
                <a16:creationId xmlns:a16="http://schemas.microsoft.com/office/drawing/2014/main" id="{FEDC6910-66CB-33D6-DB52-F11A31E881B0}"/>
              </a:ext>
            </a:extLst>
          </p:cNvPr>
          <p:cNvSpPr txBox="1"/>
          <p:nvPr/>
        </p:nvSpPr>
        <p:spPr>
          <a:xfrm>
            <a:off x="3896057" y="4385977"/>
            <a:ext cx="155492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it-IT" sz="1050" b="1" dirty="0">
                <a:solidFill>
                  <a:srgbClr val="EE0000"/>
                </a:solidFill>
              </a:rPr>
              <a:t>[*]</a:t>
            </a:r>
            <a:endParaRPr lang="en-US" sz="1050" b="1" dirty="0" err="1">
              <a:solidFill>
                <a:srgbClr val="EE0000"/>
              </a:solidFill>
            </a:endParaRPr>
          </a:p>
        </p:txBody>
      </p:sp>
      <p:sp>
        <p:nvSpPr>
          <p:cNvPr id="2082" name="TextBox 2081">
            <a:extLst>
              <a:ext uri="{FF2B5EF4-FFF2-40B4-BE49-F238E27FC236}">
                <a16:creationId xmlns:a16="http://schemas.microsoft.com/office/drawing/2014/main" id="{F4C3C8EB-987E-341E-037C-F0F70AE45E4F}"/>
              </a:ext>
            </a:extLst>
          </p:cNvPr>
          <p:cNvSpPr txBox="1"/>
          <p:nvPr/>
        </p:nvSpPr>
        <p:spPr>
          <a:xfrm>
            <a:off x="1684224" y="6355927"/>
            <a:ext cx="2457248" cy="1615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l"/>
            <a:r>
              <a:rPr lang="en-US" sz="1050" b="1" noProof="0" dirty="0">
                <a:solidFill>
                  <a:srgbClr val="EE0000"/>
                </a:solidFill>
              </a:rPr>
              <a:t>[*]</a:t>
            </a:r>
            <a:r>
              <a:rPr lang="en-US" sz="700" b="1" noProof="0" dirty="0">
                <a:solidFill>
                  <a:srgbClr val="EE0000"/>
                </a:solidFill>
              </a:rPr>
              <a:t>: Not available today; expected to arrive in the future</a:t>
            </a:r>
          </a:p>
        </p:txBody>
      </p:sp>
      <p:grpSp>
        <p:nvGrpSpPr>
          <p:cNvPr id="2083" name="Group 2082">
            <a:extLst>
              <a:ext uri="{FF2B5EF4-FFF2-40B4-BE49-F238E27FC236}">
                <a16:creationId xmlns:a16="http://schemas.microsoft.com/office/drawing/2014/main" id="{222A9F93-7058-D853-408F-5198B25BA26B}"/>
              </a:ext>
            </a:extLst>
          </p:cNvPr>
          <p:cNvGrpSpPr/>
          <p:nvPr/>
        </p:nvGrpSpPr>
        <p:grpSpPr>
          <a:xfrm>
            <a:off x="9287476" y="792512"/>
            <a:ext cx="1160815" cy="246221"/>
            <a:chOff x="6631207" y="900018"/>
            <a:chExt cx="1160815" cy="246221"/>
          </a:xfrm>
        </p:grpSpPr>
        <p:cxnSp>
          <p:nvCxnSpPr>
            <p:cNvPr id="2084" name="Straight Connector 2083">
              <a:extLst>
                <a:ext uri="{FF2B5EF4-FFF2-40B4-BE49-F238E27FC236}">
                  <a16:creationId xmlns:a16="http://schemas.microsoft.com/office/drawing/2014/main" id="{CA4DBE19-424B-5A8A-8025-88487DE48BB2}"/>
                </a:ext>
              </a:extLst>
            </p:cNvPr>
            <p:cNvCxnSpPr>
              <a:cxnSpLocks/>
            </p:cNvCxnSpPr>
            <p:nvPr/>
          </p:nvCxnSpPr>
          <p:spPr>
            <a:xfrm>
              <a:off x="6631207" y="1027835"/>
              <a:ext cx="1160815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6" name="TextBox 2085">
              <a:extLst>
                <a:ext uri="{FF2B5EF4-FFF2-40B4-BE49-F238E27FC236}">
                  <a16:creationId xmlns:a16="http://schemas.microsoft.com/office/drawing/2014/main" id="{F7080760-1AB9-F439-FC15-9CE52E1D5F71}"/>
                </a:ext>
              </a:extLst>
            </p:cNvPr>
            <p:cNvSpPr txBox="1"/>
            <p:nvPr/>
          </p:nvSpPr>
          <p:spPr>
            <a:xfrm>
              <a:off x="6859756" y="900018"/>
              <a:ext cx="703718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Expected</a:t>
              </a:r>
            </a:p>
            <a:p>
              <a:pPr algn="ctr"/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Tool Preference</a:t>
              </a:r>
            </a:p>
          </p:txBody>
        </p:sp>
      </p:grpSp>
      <p:grpSp>
        <p:nvGrpSpPr>
          <p:cNvPr id="2088" name="Group 2087">
            <a:extLst>
              <a:ext uri="{FF2B5EF4-FFF2-40B4-BE49-F238E27FC236}">
                <a16:creationId xmlns:a16="http://schemas.microsoft.com/office/drawing/2014/main" id="{A106C358-EC1B-D805-600E-9D065C66AB8E}"/>
              </a:ext>
            </a:extLst>
          </p:cNvPr>
          <p:cNvGrpSpPr/>
          <p:nvPr/>
        </p:nvGrpSpPr>
        <p:grpSpPr>
          <a:xfrm>
            <a:off x="3580096" y="797839"/>
            <a:ext cx="1499588" cy="369332"/>
            <a:chOff x="6631207" y="907638"/>
            <a:chExt cx="1160815" cy="369332"/>
          </a:xfrm>
        </p:grpSpPr>
        <p:cxnSp>
          <p:nvCxnSpPr>
            <p:cNvPr id="2089" name="Straight Connector 2088">
              <a:extLst>
                <a:ext uri="{FF2B5EF4-FFF2-40B4-BE49-F238E27FC236}">
                  <a16:creationId xmlns:a16="http://schemas.microsoft.com/office/drawing/2014/main" id="{2AE085EF-FBBA-EBBF-AD4C-0C41639C78FD}"/>
                </a:ext>
              </a:extLst>
            </p:cNvPr>
            <p:cNvCxnSpPr>
              <a:cxnSpLocks/>
            </p:cNvCxnSpPr>
            <p:nvPr/>
          </p:nvCxnSpPr>
          <p:spPr>
            <a:xfrm>
              <a:off x="6631207" y="1027835"/>
              <a:ext cx="1160815" cy="0"/>
            </a:xfrm>
            <a:prstGeom prst="line">
              <a:avLst/>
            </a:prstGeom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1" name="TextBox 2090">
              <a:extLst>
                <a:ext uri="{FF2B5EF4-FFF2-40B4-BE49-F238E27FC236}">
                  <a16:creationId xmlns:a16="http://schemas.microsoft.com/office/drawing/2014/main" id="{F84B47F5-3903-BA77-8431-DCD820C2CF6A}"/>
                </a:ext>
              </a:extLst>
            </p:cNvPr>
            <p:cNvSpPr txBox="1"/>
            <p:nvPr/>
          </p:nvSpPr>
          <p:spPr>
            <a:xfrm>
              <a:off x="6661795" y="907638"/>
              <a:ext cx="1099660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MCP "Native" Support</a:t>
              </a:r>
            </a:p>
            <a:p>
              <a:pPr algn="ctr"/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 AI Environments</a:t>
              </a:r>
            </a:p>
            <a:p>
              <a:pPr algn="ctr"/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(Existing and Upcoming)</a:t>
              </a:r>
            </a:p>
          </p:txBody>
        </p:sp>
      </p:grpSp>
      <p:sp>
        <p:nvSpPr>
          <p:cNvPr id="6160" name="TextBox 6159">
            <a:extLst>
              <a:ext uri="{FF2B5EF4-FFF2-40B4-BE49-F238E27FC236}">
                <a16:creationId xmlns:a16="http://schemas.microsoft.com/office/drawing/2014/main" id="{E35579DF-D9C1-6170-A818-5849EFCB89F7}"/>
              </a:ext>
            </a:extLst>
          </p:cNvPr>
          <p:cNvSpPr txBox="1"/>
          <p:nvPr/>
        </p:nvSpPr>
        <p:spPr>
          <a:xfrm>
            <a:off x="3899388" y="2199497"/>
            <a:ext cx="155492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it-IT" sz="1050" b="1" dirty="0">
                <a:solidFill>
                  <a:srgbClr val="EE0000"/>
                </a:solidFill>
              </a:rPr>
              <a:t>[*]</a:t>
            </a:r>
            <a:endParaRPr lang="en-US" sz="1050" b="1" dirty="0" err="1">
              <a:solidFill>
                <a:srgbClr val="EE0000"/>
              </a:solidFill>
            </a:endParaRPr>
          </a:p>
        </p:txBody>
      </p:sp>
      <p:sp>
        <p:nvSpPr>
          <p:cNvPr id="6161" name="TextBox 6160">
            <a:extLst>
              <a:ext uri="{FF2B5EF4-FFF2-40B4-BE49-F238E27FC236}">
                <a16:creationId xmlns:a16="http://schemas.microsoft.com/office/drawing/2014/main" id="{2D0DC4AA-44EC-4BAD-C512-107DA623CB0F}"/>
              </a:ext>
            </a:extLst>
          </p:cNvPr>
          <p:cNvSpPr txBox="1"/>
          <p:nvPr/>
        </p:nvSpPr>
        <p:spPr>
          <a:xfrm>
            <a:off x="4099117" y="2130385"/>
            <a:ext cx="155492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it-IT" sz="1050" b="1" dirty="0">
                <a:solidFill>
                  <a:srgbClr val="EE0000"/>
                </a:solidFill>
              </a:rPr>
              <a:t>[*]</a:t>
            </a:r>
            <a:endParaRPr lang="en-US" sz="1050" b="1" dirty="0" err="1">
              <a:solidFill>
                <a:srgbClr val="EE0000"/>
              </a:solidFill>
            </a:endParaRPr>
          </a:p>
        </p:txBody>
      </p:sp>
      <p:sp>
        <p:nvSpPr>
          <p:cNvPr id="6162" name="TextBox 6161">
            <a:extLst>
              <a:ext uri="{FF2B5EF4-FFF2-40B4-BE49-F238E27FC236}">
                <a16:creationId xmlns:a16="http://schemas.microsoft.com/office/drawing/2014/main" id="{5BE927DE-844A-3114-E206-4FB0B4EF3661}"/>
              </a:ext>
            </a:extLst>
          </p:cNvPr>
          <p:cNvSpPr txBox="1"/>
          <p:nvPr/>
        </p:nvSpPr>
        <p:spPr>
          <a:xfrm>
            <a:off x="4287972" y="2056122"/>
            <a:ext cx="155492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it-IT" sz="1050" b="1" dirty="0">
                <a:solidFill>
                  <a:srgbClr val="EE0000"/>
                </a:solidFill>
              </a:rPr>
              <a:t>[*]</a:t>
            </a:r>
            <a:endParaRPr lang="en-US" sz="1050" b="1" dirty="0" err="1">
              <a:solidFill>
                <a:srgbClr val="EE0000"/>
              </a:solidFill>
            </a:endParaRPr>
          </a:p>
        </p:txBody>
      </p:sp>
      <p:sp>
        <p:nvSpPr>
          <p:cNvPr id="6163" name="Rectangle 6162">
            <a:extLst>
              <a:ext uri="{FF2B5EF4-FFF2-40B4-BE49-F238E27FC236}">
                <a16:creationId xmlns:a16="http://schemas.microsoft.com/office/drawing/2014/main" id="{D64DB944-4C2B-148B-BD86-347ABDB116DA}"/>
              </a:ext>
            </a:extLst>
          </p:cNvPr>
          <p:cNvSpPr/>
          <p:nvPr/>
        </p:nvSpPr>
        <p:spPr bwMode="auto">
          <a:xfrm>
            <a:off x="8614821" y="4778701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2099F98-2FCF-E2EC-B4B1-8D8BB9435160}"/>
              </a:ext>
            </a:extLst>
          </p:cNvPr>
          <p:cNvSpPr/>
          <p:nvPr/>
        </p:nvSpPr>
        <p:spPr bwMode="auto">
          <a:xfrm>
            <a:off x="8704290" y="4778701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049" name="Picture 26" descr="Microsoft defender Icons, Logos, Symbols – Free Download PNG, SVG">
            <a:extLst>
              <a:ext uri="{FF2B5EF4-FFF2-40B4-BE49-F238E27FC236}">
                <a16:creationId xmlns:a16="http://schemas.microsoft.com/office/drawing/2014/main" id="{18E0B7FF-4F1A-C5AA-9A76-40BB1AB50D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4" t="8013" r="12315" b="6865"/>
          <a:stretch>
            <a:fillRect/>
          </a:stretch>
        </p:blipFill>
        <p:spPr bwMode="auto">
          <a:xfrm>
            <a:off x="8973859" y="5177648"/>
            <a:ext cx="360000" cy="41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1" name="TextBox 2050">
            <a:extLst>
              <a:ext uri="{FF2B5EF4-FFF2-40B4-BE49-F238E27FC236}">
                <a16:creationId xmlns:a16="http://schemas.microsoft.com/office/drawing/2014/main" id="{7C09CE52-49D3-5E7F-A92E-BC2CC08E4751}"/>
              </a:ext>
            </a:extLst>
          </p:cNvPr>
          <p:cNvSpPr txBox="1"/>
          <p:nvPr/>
        </p:nvSpPr>
        <p:spPr>
          <a:xfrm>
            <a:off x="8685464" y="5572727"/>
            <a:ext cx="9701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r>
              <a:rPr lang="en-US" dirty="0"/>
              <a:t>MS Defender</a:t>
            </a:r>
          </a:p>
        </p:txBody>
      </p:sp>
      <p:cxnSp>
        <p:nvCxnSpPr>
          <p:cNvPr id="2068" name="Connector: Elbow 2067">
            <a:extLst>
              <a:ext uri="{FF2B5EF4-FFF2-40B4-BE49-F238E27FC236}">
                <a16:creationId xmlns:a16="http://schemas.microsoft.com/office/drawing/2014/main" id="{CD06DDD4-877B-F5EF-1F58-24E84DAA1F21}"/>
              </a:ext>
            </a:extLst>
          </p:cNvPr>
          <p:cNvCxnSpPr>
            <a:stCxn id="48" idx="1"/>
            <a:endCxn id="2049" idx="3"/>
          </p:cNvCxnSpPr>
          <p:nvPr/>
        </p:nvCxnSpPr>
        <p:spPr>
          <a:xfrm rot="10800000" flipV="1">
            <a:off x="9333859" y="3037556"/>
            <a:ext cx="1356900" cy="2347367"/>
          </a:xfrm>
          <a:prstGeom prst="bentConnector3">
            <a:avLst>
              <a:gd name="adj1" fmla="val 59828"/>
            </a:avLst>
          </a:prstGeom>
          <a:ln w="28575">
            <a:solidFill>
              <a:srgbClr val="0070C0"/>
            </a:solidFill>
            <a:prstDash val="sys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6E33AA7-FCDD-1E08-EBAD-9EE02870A423}"/>
              </a:ext>
            </a:extLst>
          </p:cNvPr>
          <p:cNvSpPr txBox="1"/>
          <p:nvPr/>
        </p:nvSpPr>
        <p:spPr>
          <a:xfrm>
            <a:off x="5159582" y="6704112"/>
            <a:ext cx="7032418" cy="153888"/>
          </a:xfrm>
          <a:prstGeom prst="rect">
            <a:avLst/>
          </a:prstGeom>
          <a:solidFill>
            <a:srgbClr val="EE0000"/>
          </a:solidFill>
        </p:spPr>
        <p:txBody>
          <a:bodyPr wrap="square" lIns="72000" tIns="0" rIns="72000" bIns="0" rtlCol="0" anchor="ctr" anchorCtr="0">
            <a:spAutoFit/>
          </a:bodyPr>
          <a:lstStyle/>
          <a:p>
            <a:pPr algn="r"/>
            <a:r>
              <a:rPr lang="en-US" sz="1000" b="1" noProof="0" dirty="0">
                <a:solidFill>
                  <a:schemeClr val="bg1"/>
                </a:solidFill>
              </a:rPr>
              <a:t>Up to date as of Feb. 15, 2026 – </a:t>
            </a:r>
            <a:r>
              <a:rPr lang="en-US" sz="1000" b="1" i="1" noProof="0" dirty="0">
                <a:solidFill>
                  <a:srgbClr val="FFFF00"/>
                </a:solidFill>
              </a:rPr>
              <a:t>This is not official Microsoft content: please check for accuracy and completeness!</a:t>
            </a:r>
            <a:endParaRPr lang="en-US" sz="1200" b="1" noProof="0" dirty="0">
              <a:solidFill>
                <a:schemeClr val="bg1"/>
              </a:solidFill>
            </a:endParaRP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C6740C20-38CF-2FF0-C271-06C303DA9DF9}"/>
              </a:ext>
            </a:extLst>
          </p:cNvPr>
          <p:cNvCxnSpPr>
            <a:stCxn id="2049" idx="0"/>
            <a:endCxn id="61" idx="2"/>
          </p:cNvCxnSpPr>
          <p:nvPr/>
        </p:nvCxnSpPr>
        <p:spPr>
          <a:xfrm rot="16200000" flipV="1">
            <a:off x="8838474" y="4862262"/>
            <a:ext cx="250559" cy="380213"/>
          </a:xfrm>
          <a:prstGeom prst="bentConnector3">
            <a:avLst/>
          </a:prstGeom>
          <a:ln w="28575">
            <a:solidFill>
              <a:srgbClr val="0070C0"/>
            </a:solidFill>
            <a:prstDash val="sys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300384D-8917-F636-6045-334A26B77734}"/>
              </a:ext>
            </a:extLst>
          </p:cNvPr>
          <p:cNvSpPr txBox="1"/>
          <p:nvPr/>
        </p:nvSpPr>
        <p:spPr>
          <a:xfrm>
            <a:off x="8751995" y="5056727"/>
            <a:ext cx="214802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it-IT" sz="1050" b="1" dirty="0">
                <a:solidFill>
                  <a:schemeClr val="accent1"/>
                </a:solidFill>
              </a:rPr>
              <a:t>[**]</a:t>
            </a:r>
            <a:endParaRPr lang="en-US" sz="1050" b="1" dirty="0" err="1">
              <a:solidFill>
                <a:schemeClr val="accent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C225DF-BF29-C139-6801-FCF62DABF731}"/>
              </a:ext>
            </a:extLst>
          </p:cNvPr>
          <p:cNvSpPr txBox="1"/>
          <p:nvPr/>
        </p:nvSpPr>
        <p:spPr>
          <a:xfrm>
            <a:off x="6314613" y="6556418"/>
            <a:ext cx="3379971" cy="1538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l"/>
            <a:r>
              <a:rPr lang="en-US" sz="1000" b="1" noProof="0" dirty="0">
                <a:solidFill>
                  <a:schemeClr val="accent1"/>
                </a:solidFill>
              </a:rPr>
              <a:t>[**]</a:t>
            </a:r>
            <a:r>
              <a:rPr lang="en-US" sz="600" b="1" noProof="0" dirty="0">
                <a:solidFill>
                  <a:schemeClr val="accent1"/>
                </a:solidFill>
              </a:rPr>
              <a:t>: Integration available today only for 1</a:t>
            </a:r>
            <a:r>
              <a:rPr lang="en-US" sz="600" b="1" baseline="30000" noProof="0" dirty="0">
                <a:solidFill>
                  <a:schemeClr val="accent1"/>
                </a:solidFill>
              </a:rPr>
              <a:t>st</a:t>
            </a:r>
            <a:r>
              <a:rPr lang="en-US" sz="600" b="1" noProof="0" dirty="0">
                <a:solidFill>
                  <a:schemeClr val="accent1"/>
                </a:solidFill>
              </a:rPr>
              <a:t> party and partner agents, </a:t>
            </a:r>
            <a:r>
              <a:rPr lang="en-US" sz="600" b="1" dirty="0">
                <a:solidFill>
                  <a:schemeClr val="accent1"/>
                </a:solidFill>
              </a:rPr>
              <a:t>n</a:t>
            </a:r>
            <a:r>
              <a:rPr lang="en-US" sz="600" b="1" noProof="0" dirty="0" err="1">
                <a:solidFill>
                  <a:schemeClr val="accent1"/>
                </a:solidFill>
              </a:rPr>
              <a:t>ot</a:t>
            </a:r>
            <a:r>
              <a:rPr lang="en-US" sz="600" b="1" noProof="0" dirty="0">
                <a:solidFill>
                  <a:schemeClr val="accent1"/>
                </a:solidFill>
              </a:rPr>
              <a:t> for custom agents</a:t>
            </a:r>
          </a:p>
        </p:txBody>
      </p:sp>
      <p:sp>
        <p:nvSpPr>
          <p:cNvPr id="2054" name="TextBox 2053">
            <a:extLst>
              <a:ext uri="{FF2B5EF4-FFF2-40B4-BE49-F238E27FC236}">
                <a16:creationId xmlns:a16="http://schemas.microsoft.com/office/drawing/2014/main" id="{8F35A4D8-C716-3BF2-95B3-5D2C8475FC7B}"/>
              </a:ext>
            </a:extLst>
          </p:cNvPr>
          <p:cNvSpPr txBox="1"/>
          <p:nvPr/>
        </p:nvSpPr>
        <p:spPr>
          <a:xfrm>
            <a:off x="9790210" y="5563139"/>
            <a:ext cx="9865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 b="1"/>
            </a:lvl1pPr>
          </a:lstStyle>
          <a:p>
            <a:pPr algn="ctr"/>
            <a:r>
              <a:rPr lang="en-US" sz="800" dirty="0"/>
              <a:t>MS Security Store</a:t>
            </a:r>
          </a:p>
        </p:txBody>
      </p:sp>
      <p:grpSp>
        <p:nvGrpSpPr>
          <p:cNvPr id="2063" name="Group 2062">
            <a:extLst>
              <a:ext uri="{FF2B5EF4-FFF2-40B4-BE49-F238E27FC236}">
                <a16:creationId xmlns:a16="http://schemas.microsoft.com/office/drawing/2014/main" id="{C89E0217-145B-BCA6-F34A-205128A5738F}"/>
              </a:ext>
            </a:extLst>
          </p:cNvPr>
          <p:cNvGrpSpPr/>
          <p:nvPr/>
        </p:nvGrpSpPr>
        <p:grpSpPr>
          <a:xfrm>
            <a:off x="9986329" y="5144792"/>
            <a:ext cx="637325" cy="479979"/>
            <a:chOff x="9930681" y="5144792"/>
            <a:chExt cx="637325" cy="479979"/>
          </a:xfrm>
        </p:grpSpPr>
        <p:pic>
          <p:nvPicPr>
            <p:cNvPr id="54" name="Picture 53" descr="Microsoft Store - Download apps, games &amp; more for your Windows PC">
              <a:extLst>
                <a:ext uri="{FF2B5EF4-FFF2-40B4-BE49-F238E27FC236}">
                  <a16:creationId xmlns:a16="http://schemas.microsoft.com/office/drawing/2014/main" id="{04270843-E54D-D29B-E2B2-A550D4F83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930681" y="5144792"/>
              <a:ext cx="476864" cy="476864"/>
            </a:xfrm>
            <a:prstGeom prst="rect">
              <a:avLst/>
            </a:prstGeom>
          </p:spPr>
        </p:pic>
        <p:pic>
          <p:nvPicPr>
            <p:cNvPr id="2059" name="Picture 2058" descr="YELLOW lock icon 45897711 Vector Art at Vecteezy">
              <a:extLst>
                <a:ext uri="{FF2B5EF4-FFF2-40B4-BE49-F238E27FC236}">
                  <a16:creationId xmlns:a16="http://schemas.microsoft.com/office/drawing/2014/main" id="{166112BA-94E1-2C1F-0F4B-2629BEB4A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296102" y="5274398"/>
              <a:ext cx="271904" cy="350373"/>
            </a:xfrm>
            <a:prstGeom prst="rect">
              <a:avLst/>
            </a:prstGeom>
          </p:spPr>
        </p:pic>
      </p:grpSp>
      <p:cxnSp>
        <p:nvCxnSpPr>
          <p:cNvPr id="2081" name="Connector: Elbow 2080">
            <a:extLst>
              <a:ext uri="{FF2B5EF4-FFF2-40B4-BE49-F238E27FC236}">
                <a16:creationId xmlns:a16="http://schemas.microsoft.com/office/drawing/2014/main" id="{437D78EA-02F1-18FF-85E5-F83D1FA6ADAD}"/>
              </a:ext>
            </a:extLst>
          </p:cNvPr>
          <p:cNvCxnSpPr>
            <a:stCxn id="3084" idx="1"/>
            <a:endCxn id="54" idx="0"/>
          </p:cNvCxnSpPr>
          <p:nvPr/>
        </p:nvCxnSpPr>
        <p:spPr>
          <a:xfrm rot="10800000" flipV="1">
            <a:off x="10224761" y="1752726"/>
            <a:ext cx="552028" cy="3392066"/>
          </a:xfrm>
          <a:prstGeom prst="bentConnector2">
            <a:avLst/>
          </a:prstGeom>
          <a:ln w="127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7" name="TextBox 2086">
            <a:extLst>
              <a:ext uri="{FF2B5EF4-FFF2-40B4-BE49-F238E27FC236}">
                <a16:creationId xmlns:a16="http://schemas.microsoft.com/office/drawing/2014/main" id="{C9B4ABB0-97F5-181A-9E66-257A53BDDAB6}"/>
              </a:ext>
            </a:extLst>
          </p:cNvPr>
          <p:cNvSpPr txBox="1"/>
          <p:nvPr/>
        </p:nvSpPr>
        <p:spPr>
          <a:xfrm>
            <a:off x="7823778" y="2025580"/>
            <a:ext cx="82111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00" noProof="0" dirty="0"/>
              <a:t>Develop and publish</a:t>
            </a:r>
          </a:p>
        </p:txBody>
      </p:sp>
      <p:sp>
        <p:nvSpPr>
          <p:cNvPr id="2093" name="TextBox 2092">
            <a:extLst>
              <a:ext uri="{FF2B5EF4-FFF2-40B4-BE49-F238E27FC236}">
                <a16:creationId xmlns:a16="http://schemas.microsoft.com/office/drawing/2014/main" id="{B6EA7DDA-C057-C381-277A-7201170276FB}"/>
              </a:ext>
            </a:extLst>
          </p:cNvPr>
          <p:cNvSpPr txBox="1"/>
          <p:nvPr/>
        </p:nvSpPr>
        <p:spPr>
          <a:xfrm rot="16200000">
            <a:off x="9894508" y="2119062"/>
            <a:ext cx="93828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noProof="0" dirty="0"/>
              <a:t>For Partners selling in the MS ecosystem</a:t>
            </a:r>
          </a:p>
        </p:txBody>
      </p:sp>
      <p:sp>
        <p:nvSpPr>
          <p:cNvPr id="2099" name="TextBox 2098">
            <a:extLst>
              <a:ext uri="{FF2B5EF4-FFF2-40B4-BE49-F238E27FC236}">
                <a16:creationId xmlns:a16="http://schemas.microsoft.com/office/drawing/2014/main" id="{21A61B9A-AF77-3064-56A8-BCDCE54A26FA}"/>
              </a:ext>
            </a:extLst>
          </p:cNvPr>
          <p:cNvSpPr txBox="1"/>
          <p:nvPr/>
        </p:nvSpPr>
        <p:spPr>
          <a:xfrm>
            <a:off x="9458077" y="4978598"/>
            <a:ext cx="42506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noProof="0" dirty="0"/>
              <a:t>Partner Agents</a:t>
            </a:r>
          </a:p>
        </p:txBody>
      </p:sp>
      <p:sp>
        <p:nvSpPr>
          <p:cNvPr id="2103" name="Rectangle 2102">
            <a:extLst>
              <a:ext uri="{FF2B5EF4-FFF2-40B4-BE49-F238E27FC236}">
                <a16:creationId xmlns:a16="http://schemas.microsoft.com/office/drawing/2014/main" id="{570973AE-3612-F068-8E52-119B5BA5F4D6}"/>
              </a:ext>
            </a:extLst>
          </p:cNvPr>
          <p:cNvSpPr/>
          <p:nvPr/>
        </p:nvSpPr>
        <p:spPr bwMode="auto">
          <a:xfrm>
            <a:off x="8971273" y="4720830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04" name="Rectangle 2103">
            <a:extLst>
              <a:ext uri="{FF2B5EF4-FFF2-40B4-BE49-F238E27FC236}">
                <a16:creationId xmlns:a16="http://schemas.microsoft.com/office/drawing/2014/main" id="{07227D79-C04C-7F62-3576-5D805B7181F2}"/>
              </a:ext>
            </a:extLst>
          </p:cNvPr>
          <p:cNvSpPr/>
          <p:nvPr/>
        </p:nvSpPr>
        <p:spPr bwMode="auto">
          <a:xfrm>
            <a:off x="9186864" y="5211956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05" name="Rectangle 2104">
            <a:extLst>
              <a:ext uri="{FF2B5EF4-FFF2-40B4-BE49-F238E27FC236}">
                <a16:creationId xmlns:a16="http://schemas.microsoft.com/office/drawing/2014/main" id="{5894D2C7-C204-AF02-2C48-5E5EB9DB7CDF}"/>
              </a:ext>
            </a:extLst>
          </p:cNvPr>
          <p:cNvSpPr/>
          <p:nvPr/>
        </p:nvSpPr>
        <p:spPr bwMode="auto">
          <a:xfrm>
            <a:off x="9979344" y="5150624"/>
            <a:ext cx="138712" cy="148388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158" name="Picture 6157">
            <a:extLst>
              <a:ext uri="{FF2B5EF4-FFF2-40B4-BE49-F238E27FC236}">
                <a16:creationId xmlns:a16="http://schemas.microsoft.com/office/drawing/2014/main" id="{056152AB-4FE2-6D94-7157-932144FBA8DB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33085" y="5246166"/>
            <a:ext cx="159389" cy="15416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159" name="TextBox 6158">
            <a:extLst>
              <a:ext uri="{FF2B5EF4-FFF2-40B4-BE49-F238E27FC236}">
                <a16:creationId xmlns:a16="http://schemas.microsoft.com/office/drawing/2014/main" id="{26A9310D-8759-3E21-442F-C5C290E5707A}"/>
              </a:ext>
            </a:extLst>
          </p:cNvPr>
          <p:cNvSpPr txBox="1"/>
          <p:nvPr/>
        </p:nvSpPr>
        <p:spPr>
          <a:xfrm>
            <a:off x="8781949" y="5784850"/>
            <a:ext cx="77949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/>
              <a:t>1</a:t>
            </a:r>
            <a:r>
              <a:rPr lang="en-US" sz="800" baseline="30000" dirty="0"/>
              <a:t>st</a:t>
            </a:r>
            <a:r>
              <a:rPr lang="en-US" sz="800" dirty="0"/>
              <a:t> Party and </a:t>
            </a:r>
            <a:r>
              <a:rPr lang="en-US" sz="800" noProof="0" dirty="0"/>
              <a:t>Partner Agents</a:t>
            </a:r>
          </a:p>
        </p:txBody>
      </p:sp>
      <p:pic>
        <p:nvPicPr>
          <p:cNvPr id="6165" name="Picture 6164">
            <a:extLst>
              <a:ext uri="{FF2B5EF4-FFF2-40B4-BE49-F238E27FC236}">
                <a16:creationId xmlns:a16="http://schemas.microsoft.com/office/drawing/2014/main" id="{1C939375-805C-8AA6-BAD2-20D933EF71C0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77219" y="5287057"/>
            <a:ext cx="159389" cy="15416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166" name="Picture 6165">
            <a:extLst>
              <a:ext uri="{FF2B5EF4-FFF2-40B4-BE49-F238E27FC236}">
                <a16:creationId xmlns:a16="http://schemas.microsoft.com/office/drawing/2014/main" id="{D068E07B-824E-5A2C-9F4B-46602515B6F6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20001" y="5342637"/>
            <a:ext cx="159389" cy="15416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0" name="Picture 12" descr="Class - Homepage">
            <a:extLst>
              <a:ext uri="{FF2B5EF4-FFF2-40B4-BE49-F238E27FC236}">
                <a16:creationId xmlns:a16="http://schemas.microsoft.com/office/drawing/2014/main" id="{8F2EC23B-1136-4B96-DD63-E75CF8839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804" y="972079"/>
            <a:ext cx="240930" cy="21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AD3231C-CBE6-26E8-0258-5376C58DFD7F}"/>
              </a:ext>
            </a:extLst>
          </p:cNvPr>
          <p:cNvSpPr txBox="1">
            <a:spLocks noChangeAspect="1"/>
          </p:cNvSpPr>
          <p:nvPr/>
        </p:nvSpPr>
        <p:spPr>
          <a:xfrm>
            <a:off x="2455413" y="925824"/>
            <a:ext cx="972000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Agent Creation</a:t>
            </a:r>
          </a:p>
          <a:p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Toolset</a:t>
            </a:r>
          </a:p>
        </p:txBody>
      </p:sp>
      <p:cxnSp>
        <p:nvCxnSpPr>
          <p:cNvPr id="6147" name="Connector: Elbow 6146">
            <a:extLst>
              <a:ext uri="{FF2B5EF4-FFF2-40B4-BE49-F238E27FC236}">
                <a16:creationId xmlns:a16="http://schemas.microsoft.com/office/drawing/2014/main" id="{18EC1F6D-B1D2-8D55-531F-84BABBB6ABBF}"/>
              </a:ext>
            </a:extLst>
          </p:cNvPr>
          <p:cNvCxnSpPr>
            <a:stCxn id="2058" idx="1"/>
            <a:endCxn id="39" idx="3"/>
          </p:cNvCxnSpPr>
          <p:nvPr/>
        </p:nvCxnSpPr>
        <p:spPr>
          <a:xfrm rot="10800000">
            <a:off x="3427413" y="1079714"/>
            <a:ext cx="3232654" cy="476611"/>
          </a:xfrm>
          <a:prstGeom prst="bentConnector3">
            <a:avLst>
              <a:gd name="adj1" fmla="val 93918"/>
            </a:avLst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3" name="TextBox 6152">
            <a:extLst>
              <a:ext uri="{FF2B5EF4-FFF2-40B4-BE49-F238E27FC236}">
                <a16:creationId xmlns:a16="http://schemas.microsoft.com/office/drawing/2014/main" id="{63A8DCCD-7081-9311-7AA3-1EDF28E071B0}"/>
              </a:ext>
            </a:extLst>
          </p:cNvPr>
          <p:cNvSpPr txBox="1"/>
          <p:nvPr/>
        </p:nvSpPr>
        <p:spPr>
          <a:xfrm>
            <a:off x="4078973" y="4569245"/>
            <a:ext cx="29179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it-IT" sz="1050" b="1" dirty="0">
                <a:solidFill>
                  <a:srgbClr val="00B050"/>
                </a:solidFill>
              </a:rPr>
              <a:t>[***]</a:t>
            </a:r>
            <a:endParaRPr lang="en-US" sz="1050" b="1" dirty="0" err="1">
              <a:solidFill>
                <a:srgbClr val="00B050"/>
              </a:solidFill>
            </a:endParaRPr>
          </a:p>
        </p:txBody>
      </p:sp>
      <p:sp>
        <p:nvSpPr>
          <p:cNvPr id="6154" name="TextBox 6153">
            <a:extLst>
              <a:ext uri="{FF2B5EF4-FFF2-40B4-BE49-F238E27FC236}">
                <a16:creationId xmlns:a16="http://schemas.microsoft.com/office/drawing/2014/main" id="{D0B06AE0-1AC7-D513-E4F0-A835ACE88591}"/>
              </a:ext>
            </a:extLst>
          </p:cNvPr>
          <p:cNvSpPr txBox="1"/>
          <p:nvPr/>
        </p:nvSpPr>
        <p:spPr>
          <a:xfrm>
            <a:off x="1680999" y="6652839"/>
            <a:ext cx="331812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00" b="1" noProof="0" dirty="0">
                <a:solidFill>
                  <a:srgbClr val="00B050"/>
                </a:solidFill>
              </a:rPr>
              <a:t>[***]: Not yet officially documented. Read </a:t>
            </a:r>
            <a:r>
              <a:rPr lang="en-US" sz="700" b="1" u="sng" noProof="0" dirty="0">
                <a:solidFill>
                  <a:srgbClr val="00B050"/>
                </a:solidFill>
                <a:hlinkClick r:id="rId37"/>
              </a:rPr>
              <a:t>here</a:t>
            </a:r>
            <a:r>
              <a:rPr lang="en-US" sz="700" b="1" dirty="0">
                <a:solidFill>
                  <a:srgbClr val="00B050"/>
                </a:solidFill>
              </a:rPr>
              <a:t>.</a:t>
            </a:r>
            <a:r>
              <a:rPr lang="en-US" sz="700" b="1" noProof="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6155" name="TextBox 6154">
            <a:extLst>
              <a:ext uri="{FF2B5EF4-FFF2-40B4-BE49-F238E27FC236}">
                <a16:creationId xmlns:a16="http://schemas.microsoft.com/office/drawing/2014/main" id="{5B5731F9-B356-FB8A-7A72-3D40E1566BF3}"/>
              </a:ext>
            </a:extLst>
          </p:cNvPr>
          <p:cNvSpPr txBox="1"/>
          <p:nvPr/>
        </p:nvSpPr>
        <p:spPr>
          <a:xfrm>
            <a:off x="3294178" y="1411838"/>
            <a:ext cx="155492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it-IT" sz="1050" b="1" dirty="0">
                <a:solidFill>
                  <a:srgbClr val="EE0000"/>
                </a:solidFill>
              </a:rPr>
              <a:t>[*]</a:t>
            </a:r>
            <a:endParaRPr lang="en-US" sz="1050" b="1" dirty="0" err="1">
              <a:solidFill>
                <a:srgbClr val="EE0000"/>
              </a:solidFill>
            </a:endParaRPr>
          </a:p>
        </p:txBody>
      </p:sp>
      <p:cxnSp>
        <p:nvCxnSpPr>
          <p:cNvPr id="6167" name="Connector: Elbow 6166">
            <a:extLst>
              <a:ext uri="{FF2B5EF4-FFF2-40B4-BE49-F238E27FC236}">
                <a16:creationId xmlns:a16="http://schemas.microsoft.com/office/drawing/2014/main" id="{CF6A6457-E385-17EA-49DE-97CFAB1829A7}"/>
              </a:ext>
            </a:extLst>
          </p:cNvPr>
          <p:cNvCxnSpPr>
            <a:stCxn id="6496" idx="1"/>
          </p:cNvCxnSpPr>
          <p:nvPr/>
        </p:nvCxnSpPr>
        <p:spPr>
          <a:xfrm rot="10800000" flipV="1">
            <a:off x="1826899" y="1537130"/>
            <a:ext cx="284086" cy="118882"/>
          </a:xfrm>
          <a:prstGeom prst="bentConnector3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54894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058F3-700F-51F8-4796-2417A120E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9008D732-14C6-1B65-5353-62432937ACBD}"/>
              </a:ext>
            </a:extLst>
          </p:cNvPr>
          <p:cNvGrpSpPr/>
          <p:nvPr/>
        </p:nvGrpSpPr>
        <p:grpSpPr>
          <a:xfrm>
            <a:off x="7281331" y="15641"/>
            <a:ext cx="4707801" cy="6826718"/>
            <a:chOff x="7284600" y="31282"/>
            <a:chExt cx="4707801" cy="6577727"/>
          </a:xfrm>
          <a:solidFill>
            <a:schemeClr val="bg1"/>
          </a:solidFill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F8F043F7-26D6-2796-0DA9-D91870A45582}"/>
                </a:ext>
              </a:extLst>
            </p:cNvPr>
            <p:cNvSpPr/>
            <p:nvPr/>
          </p:nvSpPr>
          <p:spPr bwMode="auto">
            <a:xfrm>
              <a:off x="7284600" y="31284"/>
              <a:ext cx="1177200" cy="6577725"/>
            </a:xfrm>
            <a:prstGeom prst="roundRect">
              <a:avLst>
                <a:gd name="adj" fmla="val 6953"/>
              </a:avLst>
            </a:prstGeom>
            <a:grpFill/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000" b="1" noProof="0" dirty="0">
                <a:solidFill>
                  <a:schemeClr val="accent1">
                    <a:lumMod val="50000"/>
                  </a:schemeClr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FBC704D7-5CD1-FE2B-9537-E1007A8F401E}"/>
                </a:ext>
              </a:extLst>
            </p:cNvPr>
            <p:cNvSpPr/>
            <p:nvPr/>
          </p:nvSpPr>
          <p:spPr bwMode="auto">
            <a:xfrm>
              <a:off x="8461467" y="31283"/>
              <a:ext cx="1177200" cy="6577725"/>
            </a:xfrm>
            <a:prstGeom prst="roundRect">
              <a:avLst>
                <a:gd name="adj" fmla="val 6953"/>
              </a:avLst>
            </a:prstGeom>
            <a:grpFill/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000" b="1" noProof="0" dirty="0">
                <a:solidFill>
                  <a:schemeClr val="accent1">
                    <a:lumMod val="50000"/>
                  </a:schemeClr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F276720D-83D2-CC22-3814-6190FD1ABE73}"/>
                </a:ext>
              </a:extLst>
            </p:cNvPr>
            <p:cNvSpPr/>
            <p:nvPr/>
          </p:nvSpPr>
          <p:spPr bwMode="auto">
            <a:xfrm>
              <a:off x="9636820" y="31283"/>
              <a:ext cx="1178714" cy="6577725"/>
            </a:xfrm>
            <a:prstGeom prst="roundRect">
              <a:avLst>
                <a:gd name="adj" fmla="val 6953"/>
              </a:avLst>
            </a:prstGeom>
            <a:grpFill/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000" b="1" noProof="0" dirty="0">
                <a:solidFill>
                  <a:schemeClr val="accent1">
                    <a:lumMod val="50000"/>
                  </a:schemeClr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CE18095B-F41E-45B6-2F31-6A5F3674535F}"/>
                </a:ext>
              </a:extLst>
            </p:cNvPr>
            <p:cNvSpPr/>
            <p:nvPr/>
          </p:nvSpPr>
          <p:spPr bwMode="auto">
            <a:xfrm>
              <a:off x="10815201" y="31282"/>
              <a:ext cx="1177200" cy="6577725"/>
            </a:xfrm>
            <a:prstGeom prst="roundRect">
              <a:avLst>
                <a:gd name="adj" fmla="val 6953"/>
              </a:avLst>
            </a:prstGeom>
            <a:grpFill/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000" b="1" noProof="0" dirty="0">
                <a:solidFill>
                  <a:schemeClr val="accent1">
                    <a:lumMod val="50000"/>
                  </a:schemeClr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B598E79-C604-F129-62C1-BA18879578B3}"/>
              </a:ext>
            </a:extLst>
          </p:cNvPr>
          <p:cNvSpPr/>
          <p:nvPr/>
        </p:nvSpPr>
        <p:spPr>
          <a:xfrm>
            <a:off x="1544345" y="5885495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Can be exported and imported between different environments.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960134B-0E88-2F16-DB0B-600D07B4FCEB}"/>
              </a:ext>
            </a:extLst>
          </p:cNvPr>
          <p:cNvSpPr/>
          <p:nvPr/>
        </p:nvSpPr>
        <p:spPr>
          <a:xfrm>
            <a:off x="1544345" y="6123095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Possibility of licensing through the purchase of per‑user licenses or specific consumption credits.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3127997-7BF6-A1E3-E5C1-783F558DD5A6}"/>
              </a:ext>
            </a:extLst>
          </p:cNvPr>
          <p:cNvSpPr/>
          <p:nvPr/>
        </p:nvSpPr>
        <p:spPr>
          <a:xfrm>
            <a:off x="1544345" y="6360695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Possibility of licensing through the use of Azure consumption credits.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59A7B7F-02B0-E36E-C39B-98C6C9585485}"/>
              </a:ext>
            </a:extLst>
          </p:cNvPr>
          <p:cNvSpPr/>
          <p:nvPr/>
        </p:nvSpPr>
        <p:spPr>
          <a:xfrm>
            <a:off x="1544345" y="6598295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Possibility to leverage the free SCUs included with Microsoft E5 for licensing purposes.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4543ABA-8DF5-DCF9-4198-920194F134C3}"/>
              </a:ext>
            </a:extLst>
          </p:cNvPr>
          <p:cNvSpPr/>
          <p:nvPr/>
        </p:nvSpPr>
        <p:spPr>
          <a:xfrm>
            <a:off x="1544344" y="5642373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Evaluate instructions and responses and suggest improvements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ACFCEEB-B8C9-B5F0-544B-4D402A3C1A2F}"/>
              </a:ext>
            </a:extLst>
          </p:cNvPr>
          <p:cNvSpPr/>
          <p:nvPr/>
        </p:nvSpPr>
        <p:spPr>
          <a:xfrm>
            <a:off x="1544345" y="13625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Open instructions: each user can modify the agent’s instructions (not only the author).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E460E7-3BB8-5765-B1EC-6AB6663ABF44}"/>
              </a:ext>
            </a:extLst>
          </p:cNvPr>
          <p:cNvSpPr/>
          <p:nvPr/>
        </p:nvSpPr>
        <p:spPr>
          <a:xfrm>
            <a:off x="1544345" y="16001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Users can directly leverage GenAI to easily and effectively modify the agent’s instructions.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B795CAB-4FB7-B40D-AD4D-F009F2652B02}"/>
              </a:ext>
            </a:extLst>
          </p:cNvPr>
          <p:cNvSpPr/>
          <p:nvPr/>
        </p:nvSpPr>
        <p:spPr>
          <a:xfrm>
            <a:off x="1544345" y="18377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Users can directly collaborate through DevOps tools, supporting continuous improvement.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358D7A6-64DB-672D-8534-C78CF09FF25D}"/>
              </a:ext>
            </a:extLst>
          </p:cNvPr>
          <p:cNvSpPr/>
          <p:nvPr/>
        </p:nvSpPr>
        <p:spPr>
          <a:xfrm>
            <a:off x="1544345" y="20753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Can connect to the Sentinel Data Lake via the Sentinel MCP Server.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AFF46E8-E5F7-6F59-A1B9-53A3B78D258A}"/>
              </a:ext>
            </a:extLst>
          </p:cNvPr>
          <p:cNvSpPr/>
          <p:nvPr/>
        </p:nvSpPr>
        <p:spPr>
          <a:xfrm>
            <a:off x="1544345" y="23129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Can connect to all existing toolsets in the Sentinel MCP Server (Sentinel and Defender).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D5D00A7-BE2F-8E99-11E5-2DC3FDCAB336}"/>
              </a:ext>
            </a:extLst>
          </p:cNvPr>
          <p:cNvSpPr/>
          <p:nvPr/>
        </p:nvSpPr>
        <p:spPr>
          <a:xfrm>
            <a:off x="1544345" y="25505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Can connect to the MCP Server for Enterprise (Microsoft Entra).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BEE6075-CF14-FD23-F501-04BB806ED7EC}"/>
              </a:ext>
            </a:extLst>
          </p:cNvPr>
          <p:cNvSpPr/>
          <p:nvPr/>
        </p:nvSpPr>
        <p:spPr>
          <a:xfrm>
            <a:off x="1544345" y="27881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Can connect to external systems directly via existing or custom Security Copilot plugins.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605F1D-7608-7BAB-5400-C41214EBAB89}"/>
              </a:ext>
            </a:extLst>
          </p:cNvPr>
          <p:cNvSpPr/>
          <p:nvPr/>
        </p:nvSpPr>
        <p:spPr>
          <a:xfrm>
            <a:off x="1544345" y="30257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lvl="0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Can connect to external systems </a:t>
            </a:r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directly </a:t>
            </a: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via Power Platform connectors.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612445-F55B-7C38-EF07-691983C9000D}"/>
              </a:ext>
            </a:extLst>
          </p:cNvPr>
          <p:cNvSpPr/>
          <p:nvPr/>
        </p:nvSpPr>
        <p:spPr>
          <a:xfrm>
            <a:off x="1544345" y="32633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lvl="0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Can connect to external systems </a:t>
            </a:r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directly </a:t>
            </a: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via Microsoft or third‑party hosted MCP Servers.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D011AF3-417E-CE46-A60D-87F1A5661445}"/>
              </a:ext>
            </a:extLst>
          </p:cNvPr>
          <p:cNvSpPr/>
          <p:nvPr/>
        </p:nvSpPr>
        <p:spPr>
          <a:xfrm>
            <a:off x="1544345" y="35009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lvl="0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Can connect to external systems via local MCP Servers and can use local tools (Python, pwsh,…).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9DC67DA-FA46-26D1-BB88-E0124D5BD808}"/>
              </a:ext>
            </a:extLst>
          </p:cNvPr>
          <p:cNvSpPr/>
          <p:nvPr/>
        </p:nvSpPr>
        <p:spPr>
          <a:xfrm>
            <a:off x="1544345" y="37385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Allow selection of the preferred GenAI model.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81B1F9B-00D4-2F56-C488-A3CFB3726C04}"/>
              </a:ext>
            </a:extLst>
          </p:cNvPr>
          <p:cNvSpPr/>
          <p:nvPr/>
        </p:nvSpPr>
        <p:spPr>
          <a:xfrm>
            <a:off x="1544345" y="39761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Offer a wide range of GenAI models to choose from, including top‑performing ones.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24D9A15-BDE8-5B52-F17C-9DA13D90C498}"/>
              </a:ext>
            </a:extLst>
          </p:cNvPr>
          <p:cNvSpPr/>
          <p:nvPr/>
        </p:nvSpPr>
        <p:spPr>
          <a:xfrm>
            <a:off x="1544345" y="42137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Enable conversational user interaction through text chat.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EC6AA47-E5A2-4D86-D418-CBDDCBADD0C7}"/>
              </a:ext>
            </a:extLst>
          </p:cNvPr>
          <p:cNvSpPr/>
          <p:nvPr/>
        </p:nvSpPr>
        <p:spPr>
          <a:xfrm>
            <a:off x="1544345" y="44513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Support multimodal inputs, including images (e.g. screenshots of evidences).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7ACCF11-8879-C860-D900-002388E6A494}"/>
              </a:ext>
            </a:extLst>
          </p:cNvPr>
          <p:cNvSpPr/>
          <p:nvPr/>
        </p:nvSpPr>
        <p:spPr>
          <a:xfrm>
            <a:off x="1544345" y="46889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Provide responses with graphical controls (geomaps, heatmaps, etc.).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D7AED0E-B40D-8227-A7E3-B30C44961CB6}"/>
              </a:ext>
            </a:extLst>
          </p:cNvPr>
          <p:cNvSpPr/>
          <p:nvPr/>
        </p:nvSpPr>
        <p:spPr>
          <a:xfrm>
            <a:off x="1544345" y="49265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Support the creation of complex solutions with multi‑agent coordination.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AF7B800-A148-2321-8FC5-24F241B9DC7B}"/>
              </a:ext>
            </a:extLst>
          </p:cNvPr>
          <p:cNvSpPr/>
          <p:nvPr/>
        </p:nvSpPr>
        <p:spPr>
          <a:xfrm>
            <a:off x="1544345" y="51641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Show a graph displaying the steps executed in each run.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E1FD778-08B2-8E25-2AD5-F2C4D83B0D4A}"/>
              </a:ext>
            </a:extLst>
          </p:cNvPr>
          <p:cNvSpPr/>
          <p:nvPr/>
        </p:nvSpPr>
        <p:spPr>
          <a:xfrm>
            <a:off x="1544345" y="540176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Offer a native mechanism to evaluate and improve instruction effectiveness.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21CD062-BE69-F04E-F7A9-8616E26EC59A}"/>
              </a:ext>
            </a:extLst>
          </p:cNvPr>
          <p:cNvSpPr/>
          <p:nvPr/>
        </p:nvSpPr>
        <p:spPr>
          <a:xfrm>
            <a:off x="1544345" y="64711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Accessible through Microsoft Security Portals (Defender, Entra, Intune, Purview).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E8CBEA9-7EF8-7709-3384-FDFB346EC28D}"/>
              </a:ext>
            </a:extLst>
          </p:cNvPr>
          <p:cNvSpPr/>
          <p:nvPr/>
        </p:nvSpPr>
        <p:spPr>
          <a:xfrm>
            <a:off x="1544345" y="88471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Can be published in Teams and Copilot Chat/Copilot 365.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F9DB732-EA53-C1CC-3CB3-846A598DCA7B}"/>
              </a:ext>
            </a:extLst>
          </p:cNvPr>
          <p:cNvSpPr/>
          <p:nvPr/>
        </p:nvSpPr>
        <p:spPr>
          <a:xfrm>
            <a:off x="1544345" y="1122318"/>
            <a:ext cx="10448056" cy="241200"/>
          </a:xfrm>
          <a:custGeom>
            <a:avLst/>
            <a:gdLst>
              <a:gd name="csX0" fmla="*/ 0 w 9482667"/>
              <a:gd name="csY0" fmla="*/ 34321 h 205920"/>
              <a:gd name="csX1" fmla="*/ 34321 w 9482667"/>
              <a:gd name="csY1" fmla="*/ 0 h 205920"/>
              <a:gd name="csX2" fmla="*/ 9448346 w 9482667"/>
              <a:gd name="csY2" fmla="*/ 0 h 205920"/>
              <a:gd name="csX3" fmla="*/ 9482667 w 9482667"/>
              <a:gd name="csY3" fmla="*/ 34321 h 205920"/>
              <a:gd name="csX4" fmla="*/ 9482667 w 9482667"/>
              <a:gd name="csY4" fmla="*/ 171599 h 205920"/>
              <a:gd name="csX5" fmla="*/ 9448346 w 9482667"/>
              <a:gd name="csY5" fmla="*/ 205920 h 205920"/>
              <a:gd name="csX6" fmla="*/ 34321 w 9482667"/>
              <a:gd name="csY6" fmla="*/ 205920 h 205920"/>
              <a:gd name="csX7" fmla="*/ 0 w 9482667"/>
              <a:gd name="csY7" fmla="*/ 171599 h 205920"/>
              <a:gd name="csX8" fmla="*/ 0 w 9482667"/>
              <a:gd name="csY8" fmla="*/ 34321 h 205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482667" h="205920">
                <a:moveTo>
                  <a:pt x="0" y="34321"/>
                </a:moveTo>
                <a:cubicBezTo>
                  <a:pt x="0" y="15366"/>
                  <a:pt x="15366" y="0"/>
                  <a:pt x="34321" y="0"/>
                </a:cubicBezTo>
                <a:lnTo>
                  <a:pt x="9448346" y="0"/>
                </a:lnTo>
                <a:cubicBezTo>
                  <a:pt x="9467301" y="0"/>
                  <a:pt x="9482667" y="15366"/>
                  <a:pt x="9482667" y="34321"/>
                </a:cubicBezTo>
                <a:lnTo>
                  <a:pt x="9482667" y="171599"/>
                </a:lnTo>
                <a:cubicBezTo>
                  <a:pt x="9482667" y="190554"/>
                  <a:pt x="9467301" y="205920"/>
                  <a:pt x="9448346" y="205920"/>
                </a:cubicBezTo>
                <a:lnTo>
                  <a:pt x="34321" y="205920"/>
                </a:lnTo>
                <a:cubicBezTo>
                  <a:pt x="15366" y="205920"/>
                  <a:pt x="0" y="190554"/>
                  <a:pt x="0" y="171599"/>
                </a:cubicBezTo>
                <a:lnTo>
                  <a:pt x="0" y="34321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72000" tIns="0" rIns="40532" bIns="0" numCol="1" spcCol="1270" anchor="ctr" anchorCtr="0">
            <a:noAutofit/>
          </a:bodyPr>
          <a:lstStyle/>
          <a:p>
            <a:pPr marL="0" lvl="0" indent="0" algn="l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000" kern="1200" noProof="0" dirty="0">
                <a:solidFill>
                  <a:schemeClr val="accent1">
                    <a:lumMod val="50000"/>
                  </a:schemeClr>
                </a:solidFill>
              </a:rPr>
              <a:t>Pre‑programmed to perform specific tasks, in an extended, optimized, and high‑performance mode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F5C4AD6-86CB-80B5-6681-22904632DF84}"/>
              </a:ext>
            </a:extLst>
          </p:cNvPr>
          <p:cNvGrpSpPr/>
          <p:nvPr/>
        </p:nvGrpSpPr>
        <p:grpSpPr>
          <a:xfrm>
            <a:off x="7284600" y="15641"/>
            <a:ext cx="4707801" cy="6826718"/>
            <a:chOff x="7284600" y="31282"/>
            <a:chExt cx="4707801" cy="6577727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8F43CEE-837C-D62C-699E-CFDC066968B4}"/>
                </a:ext>
              </a:extLst>
            </p:cNvPr>
            <p:cNvSpPr/>
            <p:nvPr/>
          </p:nvSpPr>
          <p:spPr bwMode="auto">
            <a:xfrm>
              <a:off x="7284600" y="31284"/>
              <a:ext cx="1177200" cy="6577725"/>
            </a:xfrm>
            <a:prstGeom prst="roundRect">
              <a:avLst>
                <a:gd name="adj" fmla="val 6953"/>
              </a:avLst>
            </a:prstGeom>
            <a:noFill/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noProof="0" dirty="0">
                  <a:solidFill>
                    <a:schemeClr val="accent1">
                      <a:lumMod val="50000"/>
                    </a:schemeClr>
                  </a:solidFill>
                  <a:ea typeface="Segoe UI" pitchFamily="34" charset="0"/>
                  <a:cs typeface="Segoe UI" pitchFamily="34" charset="0"/>
                </a:rPr>
                <a:t>Security Copilot – MS-Built Agents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1A7AA34-2AE1-8EF6-ACD6-DC58282953AC}"/>
                </a:ext>
              </a:extLst>
            </p:cNvPr>
            <p:cNvSpPr/>
            <p:nvPr/>
          </p:nvSpPr>
          <p:spPr bwMode="auto">
            <a:xfrm>
              <a:off x="8461467" y="31283"/>
              <a:ext cx="1177200" cy="6577725"/>
            </a:xfrm>
            <a:prstGeom prst="roundRect">
              <a:avLst>
                <a:gd name="adj" fmla="val 6953"/>
              </a:avLst>
            </a:prstGeom>
            <a:noFill/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noProof="0" dirty="0">
                  <a:solidFill>
                    <a:schemeClr val="accent1">
                      <a:lumMod val="50000"/>
                    </a:schemeClr>
                  </a:solidFill>
                  <a:ea typeface="Segoe UI" pitchFamily="34" charset="0"/>
                  <a:cs typeface="Segoe UI" pitchFamily="34" charset="0"/>
                </a:rPr>
                <a:t>Security Copilot – Custom Agents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FD3742D-1FA0-1960-7690-3C53CDBD6BE4}"/>
                </a:ext>
              </a:extLst>
            </p:cNvPr>
            <p:cNvSpPr/>
            <p:nvPr/>
          </p:nvSpPr>
          <p:spPr bwMode="auto">
            <a:xfrm>
              <a:off x="9636820" y="31283"/>
              <a:ext cx="1178714" cy="6577725"/>
            </a:xfrm>
            <a:prstGeom prst="roundRect">
              <a:avLst>
                <a:gd name="adj" fmla="val 6953"/>
              </a:avLst>
            </a:prstGeom>
            <a:noFill/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noProof="0" dirty="0">
                  <a:solidFill>
                    <a:schemeClr val="accent1">
                      <a:lumMod val="50000"/>
                    </a:schemeClr>
                  </a:solidFill>
                  <a:ea typeface="Segoe UI" pitchFamily="34" charset="0"/>
                  <a:cs typeface="Segoe UI" pitchFamily="34" charset="0"/>
                </a:rPr>
                <a:t>Copilot Studio  – Custom Agents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74EB761-3105-BCFC-7D71-941A4511DD1A}"/>
                </a:ext>
              </a:extLst>
            </p:cNvPr>
            <p:cNvSpPr/>
            <p:nvPr/>
          </p:nvSpPr>
          <p:spPr bwMode="auto">
            <a:xfrm>
              <a:off x="10815201" y="31282"/>
              <a:ext cx="1177200" cy="6577725"/>
            </a:xfrm>
            <a:prstGeom prst="roundRect">
              <a:avLst>
                <a:gd name="adj" fmla="val 6953"/>
              </a:avLst>
            </a:prstGeom>
            <a:noFill/>
            <a:ln>
              <a:solidFill>
                <a:schemeClr val="accent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noProof="0" dirty="0">
                  <a:solidFill>
                    <a:schemeClr val="accent1">
                      <a:lumMod val="50000"/>
                    </a:schemeClr>
                  </a:solidFill>
                  <a:ea typeface="Segoe UI" pitchFamily="34" charset="0"/>
                  <a:cs typeface="Segoe UI" pitchFamily="34" charset="0"/>
                </a:rPr>
                <a:t>GitHub Copilot in VS Code – </a:t>
              </a:r>
            </a:p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noProof="0" dirty="0">
                  <a:solidFill>
                    <a:schemeClr val="accent1">
                      <a:lumMod val="50000"/>
                    </a:schemeClr>
                  </a:solidFill>
                  <a:ea typeface="Segoe UI" pitchFamily="34" charset="0"/>
                  <a:cs typeface="Segoe UI" pitchFamily="34" charset="0"/>
                </a:rPr>
                <a:t>Custom Skills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1FD163D-724D-01BB-9B93-5E58FAACA1C4}"/>
              </a:ext>
            </a:extLst>
          </p:cNvPr>
          <p:cNvSpPr txBox="1"/>
          <p:nvPr/>
        </p:nvSpPr>
        <p:spPr>
          <a:xfrm>
            <a:off x="199600" y="5885495"/>
            <a:ext cx="11393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noProof="0" dirty="0"/>
              <a:t>Miscellaneous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5A7D19-5106-EE1C-5E11-986CDBA75232}"/>
              </a:ext>
            </a:extLst>
          </p:cNvPr>
          <p:cNvSpPr txBox="1"/>
          <p:nvPr/>
        </p:nvSpPr>
        <p:spPr>
          <a:xfrm>
            <a:off x="199600" y="6373573"/>
            <a:ext cx="11393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noProof="0" dirty="0"/>
              <a:t>Licensing</a:t>
            </a:r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7C241E86-32B5-0E08-6B3A-FA5A08999B82}"/>
              </a:ext>
            </a:extLst>
          </p:cNvPr>
          <p:cNvSpPr/>
          <p:nvPr/>
        </p:nvSpPr>
        <p:spPr>
          <a:xfrm>
            <a:off x="1376858" y="6123095"/>
            <a:ext cx="129600" cy="716400"/>
          </a:xfrm>
          <a:prstGeom prst="leftBrace">
            <a:avLst>
              <a:gd name="adj1" fmla="val 47546"/>
              <a:gd name="adj2" fmla="val 50000"/>
            </a:avLst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2" name="Graphic 51" descr="Checkmark with solid fill">
            <a:extLst>
              <a:ext uri="{FF2B5EF4-FFF2-40B4-BE49-F238E27FC236}">
                <a16:creationId xmlns:a16="http://schemas.microsoft.com/office/drawing/2014/main" id="{95847964-76A5-4754-01C5-E168ACAB8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5200" y="6614456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53" name="Graphic 52" descr="Checkmark with solid fill">
            <a:extLst>
              <a:ext uri="{FF2B5EF4-FFF2-40B4-BE49-F238E27FC236}">
                <a16:creationId xmlns:a16="http://schemas.microsoft.com/office/drawing/2014/main" id="{D633F793-7CAF-B7ED-457E-3CB023EF1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6614456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317" name="Graphic 316" descr="Checkmark with solid fill">
            <a:extLst>
              <a:ext uri="{FF2B5EF4-FFF2-40B4-BE49-F238E27FC236}">
                <a16:creationId xmlns:a16="http://schemas.microsoft.com/office/drawing/2014/main" id="{5663F14F-F107-1549-3250-C20F1DF5A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5898698"/>
            <a:ext cx="216000" cy="216000"/>
          </a:xfrm>
          <a:prstGeom prst="rect">
            <a:avLst/>
          </a:prstGeom>
        </p:spPr>
      </p:pic>
      <p:pic>
        <p:nvPicPr>
          <p:cNvPr id="318" name="Graphic 317" descr="Checkmark with solid fill">
            <a:extLst>
              <a:ext uri="{FF2B5EF4-FFF2-40B4-BE49-F238E27FC236}">
                <a16:creationId xmlns:a16="http://schemas.microsoft.com/office/drawing/2014/main" id="{4BD8A24A-514D-1C00-1049-9A070DBE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5894389"/>
            <a:ext cx="216000" cy="216000"/>
          </a:xfrm>
          <a:prstGeom prst="rect">
            <a:avLst/>
          </a:prstGeom>
        </p:spPr>
      </p:pic>
      <p:pic>
        <p:nvPicPr>
          <p:cNvPr id="319" name="Graphic 318" descr="Checkmark with solid fill">
            <a:extLst>
              <a:ext uri="{FF2B5EF4-FFF2-40B4-BE49-F238E27FC236}">
                <a16:creationId xmlns:a16="http://schemas.microsoft.com/office/drawing/2014/main" id="{6586D31D-6787-6729-365A-F60AB0207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5894388"/>
            <a:ext cx="216000" cy="216000"/>
          </a:xfrm>
          <a:prstGeom prst="rect">
            <a:avLst/>
          </a:prstGeom>
        </p:spPr>
      </p:pic>
      <p:pic>
        <p:nvPicPr>
          <p:cNvPr id="322" name="Graphic 321" descr="Checkmark with solid fill">
            <a:extLst>
              <a:ext uri="{FF2B5EF4-FFF2-40B4-BE49-F238E27FC236}">
                <a16:creationId xmlns:a16="http://schemas.microsoft.com/office/drawing/2014/main" id="{A42BBD05-DEF8-A648-8719-3591050F9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6128317"/>
            <a:ext cx="216000" cy="216000"/>
          </a:xfrm>
          <a:prstGeom prst="rect">
            <a:avLst/>
          </a:prstGeom>
        </p:spPr>
      </p:pic>
      <p:pic>
        <p:nvPicPr>
          <p:cNvPr id="323" name="Graphic 322" descr="Checkmark with solid fill">
            <a:extLst>
              <a:ext uri="{FF2B5EF4-FFF2-40B4-BE49-F238E27FC236}">
                <a16:creationId xmlns:a16="http://schemas.microsoft.com/office/drawing/2014/main" id="{E36B92B4-419D-6220-5833-3B967DF44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6128316"/>
            <a:ext cx="216000" cy="216000"/>
          </a:xfrm>
          <a:prstGeom prst="rect">
            <a:avLst/>
          </a:prstGeom>
        </p:spPr>
      </p:pic>
      <p:pic>
        <p:nvPicPr>
          <p:cNvPr id="324" name="Graphic 323" descr="Checkmark with solid fill">
            <a:extLst>
              <a:ext uri="{FF2B5EF4-FFF2-40B4-BE49-F238E27FC236}">
                <a16:creationId xmlns:a16="http://schemas.microsoft.com/office/drawing/2014/main" id="{EF121622-E0F1-0ED7-65F8-9FCE9DCBC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5200" y="6368386"/>
            <a:ext cx="216000" cy="216000"/>
          </a:xfrm>
          <a:prstGeom prst="rect">
            <a:avLst/>
          </a:prstGeom>
        </p:spPr>
      </p:pic>
      <p:pic>
        <p:nvPicPr>
          <p:cNvPr id="325" name="Graphic 324" descr="Checkmark with solid fill">
            <a:extLst>
              <a:ext uri="{FF2B5EF4-FFF2-40B4-BE49-F238E27FC236}">
                <a16:creationId xmlns:a16="http://schemas.microsoft.com/office/drawing/2014/main" id="{F1A5D19C-9AF2-F876-8599-F8EE970BA6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6375728"/>
            <a:ext cx="216000" cy="216000"/>
          </a:xfrm>
          <a:prstGeom prst="rect">
            <a:avLst/>
          </a:prstGeom>
        </p:spPr>
      </p:pic>
      <p:pic>
        <p:nvPicPr>
          <p:cNvPr id="326" name="Graphic 325" descr="Checkmark with solid fill">
            <a:extLst>
              <a:ext uri="{FF2B5EF4-FFF2-40B4-BE49-F238E27FC236}">
                <a16:creationId xmlns:a16="http://schemas.microsoft.com/office/drawing/2014/main" id="{A04844C4-5ECE-AB6E-EC71-593E675B2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6371419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327" name="Graphic 326" descr="Checkmark with solid fill">
            <a:extLst>
              <a:ext uri="{FF2B5EF4-FFF2-40B4-BE49-F238E27FC236}">
                <a16:creationId xmlns:a16="http://schemas.microsoft.com/office/drawing/2014/main" id="{C1EE434F-250E-B3D2-5C76-43259111F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6371418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45" name="Graphic 44" descr="Checkmark with solid fill">
            <a:extLst>
              <a:ext uri="{FF2B5EF4-FFF2-40B4-BE49-F238E27FC236}">
                <a16:creationId xmlns:a16="http://schemas.microsoft.com/office/drawing/2014/main" id="{F571123D-D0DA-D2A7-56FB-816B24760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6" y="5650173"/>
            <a:ext cx="216000" cy="216000"/>
          </a:xfrm>
          <a:prstGeom prst="rect">
            <a:avLst/>
          </a:prstGeom>
        </p:spPr>
      </p:pic>
      <p:pic>
        <p:nvPicPr>
          <p:cNvPr id="46" name="Graphic 45" descr="Checkmark with solid fill">
            <a:extLst>
              <a:ext uri="{FF2B5EF4-FFF2-40B4-BE49-F238E27FC236}">
                <a16:creationId xmlns:a16="http://schemas.microsoft.com/office/drawing/2014/main" id="{BC155963-6338-2F66-280C-89D07EF4CB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3" y="5645864"/>
            <a:ext cx="216000" cy="216000"/>
          </a:xfrm>
          <a:prstGeom prst="rect">
            <a:avLst/>
          </a:prstGeom>
        </p:spPr>
      </p:pic>
      <p:pic>
        <p:nvPicPr>
          <p:cNvPr id="47" name="Graphic 46" descr="Checkmark with solid fill">
            <a:extLst>
              <a:ext uri="{FF2B5EF4-FFF2-40B4-BE49-F238E27FC236}">
                <a16:creationId xmlns:a16="http://schemas.microsoft.com/office/drawing/2014/main" id="{897A3EEB-9DB5-A56F-2F05-C7286FDEC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0" y="5645863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B7421B0-39E3-928D-B770-0BEA95681052}"/>
              </a:ext>
            </a:extLst>
          </p:cNvPr>
          <p:cNvSpPr txBox="1"/>
          <p:nvPr/>
        </p:nvSpPr>
        <p:spPr>
          <a:xfrm>
            <a:off x="177829" y="1384725"/>
            <a:ext cx="113937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noProof="0" dirty="0"/>
              <a:t>Instructions Model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F17DF9-E5F7-6771-C9A4-E7ABD61EAE44}"/>
              </a:ext>
            </a:extLst>
          </p:cNvPr>
          <p:cNvSpPr txBox="1"/>
          <p:nvPr/>
        </p:nvSpPr>
        <p:spPr>
          <a:xfrm>
            <a:off x="199600" y="2794713"/>
            <a:ext cx="11393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noProof="0" dirty="0"/>
              <a:t>Connectivity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CA2857-24BD-110C-CE68-06A527AA62AA}"/>
              </a:ext>
            </a:extLst>
          </p:cNvPr>
          <p:cNvSpPr txBox="1"/>
          <p:nvPr/>
        </p:nvSpPr>
        <p:spPr>
          <a:xfrm>
            <a:off x="199600" y="4601034"/>
            <a:ext cx="113937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400" noProof="0" dirty="0"/>
              <a:t>GenAI Capabilities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CFEB1356-49E0-3AF9-39F1-F3E15200522F}"/>
              </a:ext>
            </a:extLst>
          </p:cNvPr>
          <p:cNvSpPr/>
          <p:nvPr/>
        </p:nvSpPr>
        <p:spPr>
          <a:xfrm>
            <a:off x="1376858" y="1124968"/>
            <a:ext cx="129600" cy="950400"/>
          </a:xfrm>
          <a:prstGeom prst="leftBrace">
            <a:avLst>
              <a:gd name="adj1" fmla="val 47546"/>
              <a:gd name="adj2" fmla="val 50000"/>
            </a:avLst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88B98DD6-0BC4-B241-E606-3FBF1EEBBE8C}"/>
              </a:ext>
            </a:extLst>
          </p:cNvPr>
          <p:cNvSpPr/>
          <p:nvPr/>
        </p:nvSpPr>
        <p:spPr>
          <a:xfrm>
            <a:off x="1376858" y="2066304"/>
            <a:ext cx="129600" cy="1672263"/>
          </a:xfrm>
          <a:prstGeom prst="leftBrace">
            <a:avLst>
              <a:gd name="adj1" fmla="val 47546"/>
              <a:gd name="adj2" fmla="val 50000"/>
            </a:avLst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Left Brace 42">
            <a:extLst>
              <a:ext uri="{FF2B5EF4-FFF2-40B4-BE49-F238E27FC236}">
                <a16:creationId xmlns:a16="http://schemas.microsoft.com/office/drawing/2014/main" id="{1BABF3E7-B557-B306-2A1D-2D256C3C284C}"/>
              </a:ext>
            </a:extLst>
          </p:cNvPr>
          <p:cNvSpPr/>
          <p:nvPr/>
        </p:nvSpPr>
        <p:spPr>
          <a:xfrm>
            <a:off x="1376858" y="3738567"/>
            <a:ext cx="129600" cy="2155821"/>
          </a:xfrm>
          <a:prstGeom prst="leftBrace">
            <a:avLst>
              <a:gd name="adj1" fmla="val 47546"/>
              <a:gd name="adj2" fmla="val 50000"/>
            </a:avLst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7" name="Graphic 56" descr="Checkmark with solid fill">
            <a:extLst>
              <a:ext uri="{FF2B5EF4-FFF2-40B4-BE49-F238E27FC236}">
                <a16:creationId xmlns:a16="http://schemas.microsoft.com/office/drawing/2014/main" id="{4E45BE8D-B745-9105-D647-DE42C0D07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1374900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00" name="Graphic 99" descr="Checkmark with solid fill">
            <a:extLst>
              <a:ext uri="{FF2B5EF4-FFF2-40B4-BE49-F238E27FC236}">
                <a16:creationId xmlns:a16="http://schemas.microsoft.com/office/drawing/2014/main" id="{661EFF11-BDFE-FA8C-FF16-753381C08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1604803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01" name="Graphic 100" descr="Checkmark with solid fill">
            <a:extLst>
              <a:ext uri="{FF2B5EF4-FFF2-40B4-BE49-F238E27FC236}">
                <a16:creationId xmlns:a16="http://schemas.microsoft.com/office/drawing/2014/main" id="{48903F90-7838-C0BF-D456-4ADA07D15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1857530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02" name="Graphic 101" descr="Checkmark with solid fill">
            <a:extLst>
              <a:ext uri="{FF2B5EF4-FFF2-40B4-BE49-F238E27FC236}">
                <a16:creationId xmlns:a16="http://schemas.microsoft.com/office/drawing/2014/main" id="{3259B0BA-77FA-4A78-57A2-B7C2EB7BF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5200" y="2069928"/>
            <a:ext cx="216000" cy="216000"/>
          </a:xfrm>
          <a:prstGeom prst="rect">
            <a:avLst/>
          </a:prstGeom>
        </p:spPr>
      </p:pic>
      <p:pic>
        <p:nvPicPr>
          <p:cNvPr id="103" name="Graphic 102" descr="Checkmark with solid fill">
            <a:extLst>
              <a:ext uri="{FF2B5EF4-FFF2-40B4-BE49-F238E27FC236}">
                <a16:creationId xmlns:a16="http://schemas.microsoft.com/office/drawing/2014/main" id="{CECE44C2-1669-CBE8-76EE-39374BAB7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2077270"/>
            <a:ext cx="216000" cy="216000"/>
          </a:xfrm>
          <a:prstGeom prst="rect">
            <a:avLst/>
          </a:prstGeom>
        </p:spPr>
      </p:pic>
      <p:pic>
        <p:nvPicPr>
          <p:cNvPr id="104" name="Graphic 103" descr="Checkmark with solid fill">
            <a:extLst>
              <a:ext uri="{FF2B5EF4-FFF2-40B4-BE49-F238E27FC236}">
                <a16:creationId xmlns:a16="http://schemas.microsoft.com/office/drawing/2014/main" id="{5D9265FA-D22E-228F-9663-67C82E5C2F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2072961"/>
            <a:ext cx="216000" cy="216000"/>
          </a:xfrm>
          <a:prstGeom prst="rect">
            <a:avLst/>
          </a:prstGeom>
        </p:spPr>
      </p:pic>
      <p:pic>
        <p:nvPicPr>
          <p:cNvPr id="105" name="Graphic 104" descr="Checkmark with solid fill">
            <a:extLst>
              <a:ext uri="{FF2B5EF4-FFF2-40B4-BE49-F238E27FC236}">
                <a16:creationId xmlns:a16="http://schemas.microsoft.com/office/drawing/2014/main" id="{0EC04480-3E8D-2B04-F252-941838C7C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2072960"/>
            <a:ext cx="216000" cy="216000"/>
          </a:xfrm>
          <a:prstGeom prst="rect">
            <a:avLst/>
          </a:prstGeom>
        </p:spPr>
      </p:pic>
      <p:pic>
        <p:nvPicPr>
          <p:cNvPr id="149" name="Graphic 148" descr="Checkmark with solid fill">
            <a:extLst>
              <a:ext uri="{FF2B5EF4-FFF2-40B4-BE49-F238E27FC236}">
                <a16:creationId xmlns:a16="http://schemas.microsoft.com/office/drawing/2014/main" id="{673C0ED9-6B65-EE29-E5AE-774B6B7903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2326855"/>
            <a:ext cx="216000" cy="216000"/>
          </a:xfrm>
          <a:prstGeom prst="rect">
            <a:avLst/>
          </a:prstGeom>
        </p:spPr>
      </p:pic>
      <p:pic>
        <p:nvPicPr>
          <p:cNvPr id="150" name="Graphic 149" descr="Checkmark with solid fill">
            <a:extLst>
              <a:ext uri="{FF2B5EF4-FFF2-40B4-BE49-F238E27FC236}">
                <a16:creationId xmlns:a16="http://schemas.microsoft.com/office/drawing/2014/main" id="{D49D98F7-85FF-643E-16E7-9A94DF8D9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2548729"/>
            <a:ext cx="216000" cy="216000"/>
          </a:xfrm>
          <a:prstGeom prst="rect">
            <a:avLst/>
          </a:prstGeom>
        </p:spPr>
      </p:pic>
      <p:pic>
        <p:nvPicPr>
          <p:cNvPr id="151" name="Graphic 150" descr="Checkmark with solid fill">
            <a:extLst>
              <a:ext uri="{FF2B5EF4-FFF2-40B4-BE49-F238E27FC236}">
                <a16:creationId xmlns:a16="http://schemas.microsoft.com/office/drawing/2014/main" id="{5FA4F690-7D6C-5043-35BA-C62D40466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2557729"/>
            <a:ext cx="216000" cy="216000"/>
          </a:xfrm>
          <a:prstGeom prst="rect">
            <a:avLst/>
          </a:prstGeom>
        </p:spPr>
      </p:pic>
      <p:pic>
        <p:nvPicPr>
          <p:cNvPr id="152" name="Graphic 151" descr="Checkmark with solid fill">
            <a:extLst>
              <a:ext uri="{FF2B5EF4-FFF2-40B4-BE49-F238E27FC236}">
                <a16:creationId xmlns:a16="http://schemas.microsoft.com/office/drawing/2014/main" id="{A72E9B12-C839-0A06-092A-C48561184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2800729"/>
            <a:ext cx="216000" cy="216000"/>
          </a:xfrm>
          <a:prstGeom prst="rect">
            <a:avLst/>
          </a:prstGeom>
        </p:spPr>
      </p:pic>
      <p:pic>
        <p:nvPicPr>
          <p:cNvPr id="153" name="Graphic 152" descr="Checkmark with solid fill">
            <a:extLst>
              <a:ext uri="{FF2B5EF4-FFF2-40B4-BE49-F238E27FC236}">
                <a16:creationId xmlns:a16="http://schemas.microsoft.com/office/drawing/2014/main" id="{2B27E6FF-9163-3F8F-3159-CC89AF064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3032929"/>
            <a:ext cx="216000" cy="216000"/>
          </a:xfrm>
          <a:prstGeom prst="rect">
            <a:avLst/>
          </a:prstGeom>
        </p:spPr>
      </p:pic>
      <p:pic>
        <p:nvPicPr>
          <p:cNvPr id="196" name="Graphic 195" descr="Checkmark with solid fill">
            <a:extLst>
              <a:ext uri="{FF2B5EF4-FFF2-40B4-BE49-F238E27FC236}">
                <a16:creationId xmlns:a16="http://schemas.microsoft.com/office/drawing/2014/main" id="{98F5B82F-DC03-B17D-06C6-A874E185E8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3265129"/>
            <a:ext cx="216000" cy="216000"/>
          </a:xfrm>
          <a:prstGeom prst="rect">
            <a:avLst/>
          </a:prstGeom>
        </p:spPr>
      </p:pic>
      <p:pic>
        <p:nvPicPr>
          <p:cNvPr id="197" name="Graphic 196" descr="Checkmark with solid fill">
            <a:extLst>
              <a:ext uri="{FF2B5EF4-FFF2-40B4-BE49-F238E27FC236}">
                <a16:creationId xmlns:a16="http://schemas.microsoft.com/office/drawing/2014/main" id="{F0CE06BB-F54C-135F-4A7C-00467F152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3272329"/>
            <a:ext cx="216000" cy="216000"/>
          </a:xfrm>
          <a:prstGeom prst="rect">
            <a:avLst/>
          </a:prstGeom>
        </p:spPr>
      </p:pic>
      <p:pic>
        <p:nvPicPr>
          <p:cNvPr id="198" name="Graphic 197" descr="Checkmark with solid fill">
            <a:extLst>
              <a:ext uri="{FF2B5EF4-FFF2-40B4-BE49-F238E27FC236}">
                <a16:creationId xmlns:a16="http://schemas.microsoft.com/office/drawing/2014/main" id="{E6038695-AE65-6D18-B60C-E2294B7CEC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3272329"/>
            <a:ext cx="216000" cy="216000"/>
          </a:xfrm>
          <a:prstGeom prst="rect">
            <a:avLst/>
          </a:prstGeom>
        </p:spPr>
      </p:pic>
      <p:pic>
        <p:nvPicPr>
          <p:cNvPr id="242" name="Graphic 241" descr="Checkmark with solid fill">
            <a:extLst>
              <a:ext uri="{FF2B5EF4-FFF2-40B4-BE49-F238E27FC236}">
                <a16:creationId xmlns:a16="http://schemas.microsoft.com/office/drawing/2014/main" id="{5EDBC553-AD80-20D7-6FCF-C2A88EFA0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3509929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243" name="Graphic 242" descr="Checkmark with solid fill">
            <a:extLst>
              <a:ext uri="{FF2B5EF4-FFF2-40B4-BE49-F238E27FC236}">
                <a16:creationId xmlns:a16="http://schemas.microsoft.com/office/drawing/2014/main" id="{05A3B4A1-4AE3-F215-C792-F8A29A9527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3751129"/>
            <a:ext cx="216000" cy="216000"/>
          </a:xfrm>
          <a:prstGeom prst="rect">
            <a:avLst/>
          </a:prstGeom>
        </p:spPr>
      </p:pic>
      <p:pic>
        <p:nvPicPr>
          <p:cNvPr id="244" name="Graphic 243" descr="Checkmark with solid fill">
            <a:extLst>
              <a:ext uri="{FF2B5EF4-FFF2-40B4-BE49-F238E27FC236}">
                <a16:creationId xmlns:a16="http://schemas.microsoft.com/office/drawing/2014/main" id="{60B66D54-D560-1916-F716-71CBA8DC2A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3743929"/>
            <a:ext cx="216000" cy="216000"/>
          </a:xfrm>
          <a:prstGeom prst="rect">
            <a:avLst/>
          </a:prstGeom>
        </p:spPr>
      </p:pic>
      <p:pic>
        <p:nvPicPr>
          <p:cNvPr id="287" name="Graphic 286" descr="Checkmark with solid fill">
            <a:extLst>
              <a:ext uri="{FF2B5EF4-FFF2-40B4-BE49-F238E27FC236}">
                <a16:creationId xmlns:a16="http://schemas.microsoft.com/office/drawing/2014/main" id="{64DF2F2E-BD54-7EC9-3553-7AA407AFB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3974329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288" name="Graphic 287" descr="Checkmark with solid fill">
            <a:extLst>
              <a:ext uri="{FF2B5EF4-FFF2-40B4-BE49-F238E27FC236}">
                <a16:creationId xmlns:a16="http://schemas.microsoft.com/office/drawing/2014/main" id="{D89EF475-4CE5-DAAC-BDBC-29B2E2DDE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5200" y="4214226"/>
            <a:ext cx="216000" cy="216000"/>
          </a:xfrm>
          <a:prstGeom prst="rect">
            <a:avLst/>
          </a:prstGeom>
        </p:spPr>
      </p:pic>
      <p:pic>
        <p:nvPicPr>
          <p:cNvPr id="289" name="Graphic 288" descr="Checkmark with solid fill">
            <a:extLst>
              <a:ext uri="{FF2B5EF4-FFF2-40B4-BE49-F238E27FC236}">
                <a16:creationId xmlns:a16="http://schemas.microsoft.com/office/drawing/2014/main" id="{4F4F9C37-AB11-8055-8538-4A905F0340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4221568"/>
            <a:ext cx="216000" cy="216000"/>
          </a:xfrm>
          <a:prstGeom prst="rect">
            <a:avLst/>
          </a:prstGeom>
        </p:spPr>
      </p:pic>
      <p:pic>
        <p:nvPicPr>
          <p:cNvPr id="290" name="Graphic 289" descr="Checkmark with solid fill">
            <a:extLst>
              <a:ext uri="{FF2B5EF4-FFF2-40B4-BE49-F238E27FC236}">
                <a16:creationId xmlns:a16="http://schemas.microsoft.com/office/drawing/2014/main" id="{949220C5-04F5-0C59-D516-3E89E2495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4217259"/>
            <a:ext cx="216000" cy="216000"/>
          </a:xfrm>
          <a:prstGeom prst="rect">
            <a:avLst/>
          </a:prstGeom>
        </p:spPr>
      </p:pic>
      <p:pic>
        <p:nvPicPr>
          <p:cNvPr id="291" name="Graphic 290" descr="Checkmark with solid fill">
            <a:extLst>
              <a:ext uri="{FF2B5EF4-FFF2-40B4-BE49-F238E27FC236}">
                <a16:creationId xmlns:a16="http://schemas.microsoft.com/office/drawing/2014/main" id="{BAACC895-3EF6-1766-CC3B-21678913DA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4217258"/>
            <a:ext cx="216000" cy="216000"/>
          </a:xfrm>
          <a:prstGeom prst="rect">
            <a:avLst/>
          </a:prstGeom>
        </p:spPr>
      </p:pic>
      <p:pic>
        <p:nvPicPr>
          <p:cNvPr id="295" name="Graphic 294" descr="Checkmark with solid fill">
            <a:extLst>
              <a:ext uri="{FF2B5EF4-FFF2-40B4-BE49-F238E27FC236}">
                <a16:creationId xmlns:a16="http://schemas.microsoft.com/office/drawing/2014/main" id="{B800BCBA-3E38-6ECC-E5B2-4209FEA81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4455568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299" name="Graphic 298" descr="Checkmark with solid fill">
            <a:extLst>
              <a:ext uri="{FF2B5EF4-FFF2-40B4-BE49-F238E27FC236}">
                <a16:creationId xmlns:a16="http://schemas.microsoft.com/office/drawing/2014/main" id="{5EFD271A-FB15-06AB-24AD-49A6D83DE9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4704419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301" name="Graphic 300" descr="Checkmark with solid fill">
            <a:extLst>
              <a:ext uri="{FF2B5EF4-FFF2-40B4-BE49-F238E27FC236}">
                <a16:creationId xmlns:a16="http://schemas.microsoft.com/office/drawing/2014/main" id="{F80D5BB4-9DE6-4D01-0BBA-D3BA5AAB7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4946613"/>
            <a:ext cx="216000" cy="216000"/>
          </a:xfrm>
          <a:prstGeom prst="rect">
            <a:avLst/>
          </a:prstGeom>
        </p:spPr>
      </p:pic>
      <p:pic>
        <p:nvPicPr>
          <p:cNvPr id="302" name="Graphic 301" descr="Checkmark with solid fill">
            <a:extLst>
              <a:ext uri="{FF2B5EF4-FFF2-40B4-BE49-F238E27FC236}">
                <a16:creationId xmlns:a16="http://schemas.microsoft.com/office/drawing/2014/main" id="{D37C21CB-05A4-2A93-CF1B-E1473B55D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4942304"/>
            <a:ext cx="216000" cy="216000"/>
          </a:xfrm>
          <a:prstGeom prst="rect">
            <a:avLst/>
          </a:prstGeom>
        </p:spPr>
      </p:pic>
      <p:pic>
        <p:nvPicPr>
          <p:cNvPr id="303" name="Graphic 302" descr="Checkmark with solid fill">
            <a:extLst>
              <a:ext uri="{FF2B5EF4-FFF2-40B4-BE49-F238E27FC236}">
                <a16:creationId xmlns:a16="http://schemas.microsoft.com/office/drawing/2014/main" id="{5F973872-72FA-016C-C8B8-9B19C90F5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95801" y="4942303"/>
            <a:ext cx="216000" cy="216000"/>
          </a:xfrm>
          <a:prstGeom prst="rect">
            <a:avLst/>
          </a:prstGeom>
        </p:spPr>
      </p:pic>
      <p:pic>
        <p:nvPicPr>
          <p:cNvPr id="308" name="Graphic 307" descr="Checkmark with solid fill">
            <a:extLst>
              <a:ext uri="{FF2B5EF4-FFF2-40B4-BE49-F238E27FC236}">
                <a16:creationId xmlns:a16="http://schemas.microsoft.com/office/drawing/2014/main" id="{24EEA27E-9201-6125-65E8-542A6015A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5200" y="5173128"/>
            <a:ext cx="216000" cy="216000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309" name="Graphic 308" descr="Checkmark with solid fill">
            <a:extLst>
              <a:ext uri="{FF2B5EF4-FFF2-40B4-BE49-F238E27FC236}">
                <a16:creationId xmlns:a16="http://schemas.microsoft.com/office/drawing/2014/main" id="{DE094AC7-099D-C633-F616-5DE9A3AB0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5180470"/>
            <a:ext cx="216000" cy="216000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313" name="Graphic 312" descr="Checkmark with solid fill">
            <a:extLst>
              <a:ext uri="{FF2B5EF4-FFF2-40B4-BE49-F238E27FC236}">
                <a16:creationId xmlns:a16="http://schemas.microsoft.com/office/drawing/2014/main" id="{CF604A4A-D612-23B9-CC25-D44827198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2067" y="5413170"/>
            <a:ext cx="216000" cy="216000"/>
          </a:xfrm>
          <a:prstGeom prst="rect">
            <a:avLst/>
          </a:prstGeom>
        </p:spPr>
      </p:pic>
      <p:pic>
        <p:nvPicPr>
          <p:cNvPr id="314" name="Graphic 313" descr="Checkmark with solid fill">
            <a:extLst>
              <a:ext uri="{FF2B5EF4-FFF2-40B4-BE49-F238E27FC236}">
                <a16:creationId xmlns:a16="http://schemas.microsoft.com/office/drawing/2014/main" id="{6134341D-4E72-A051-CD6A-FE970CA75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5408861"/>
            <a:ext cx="216000" cy="216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E6EB7B9-FC9A-21AF-7AC1-6DFDF17C6F38}"/>
              </a:ext>
            </a:extLst>
          </p:cNvPr>
          <p:cNvSpPr txBox="1"/>
          <p:nvPr/>
        </p:nvSpPr>
        <p:spPr>
          <a:xfrm>
            <a:off x="199600" y="789874"/>
            <a:ext cx="9810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noProof="0" dirty="0"/>
              <a:t>Accessibility</a:t>
            </a:r>
          </a:p>
        </p:txBody>
      </p:sp>
      <p:sp>
        <p:nvSpPr>
          <p:cNvPr id="40" name="Left Brace 39">
            <a:extLst>
              <a:ext uri="{FF2B5EF4-FFF2-40B4-BE49-F238E27FC236}">
                <a16:creationId xmlns:a16="http://schemas.microsoft.com/office/drawing/2014/main" id="{A03091AF-CB3B-3C1E-E2FF-3FCFE8E4BB25}"/>
              </a:ext>
            </a:extLst>
          </p:cNvPr>
          <p:cNvSpPr/>
          <p:nvPr/>
        </p:nvSpPr>
        <p:spPr>
          <a:xfrm>
            <a:off x="1376858" y="647118"/>
            <a:ext cx="129600" cy="475200"/>
          </a:xfrm>
          <a:prstGeom prst="leftBrace">
            <a:avLst>
              <a:gd name="adj1" fmla="val 47546"/>
              <a:gd name="adj2" fmla="val 50000"/>
            </a:avLst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48" name="Graphic 47" descr="Checkmark with solid fill">
            <a:extLst>
              <a:ext uri="{FF2B5EF4-FFF2-40B4-BE49-F238E27FC236}">
                <a16:creationId xmlns:a16="http://schemas.microsoft.com/office/drawing/2014/main" id="{395D4252-AB05-4A0E-71B0-5139B2BD6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5200" y="663279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50" name="Graphic 49" descr="Checkmark with solid fill">
            <a:extLst>
              <a:ext uri="{FF2B5EF4-FFF2-40B4-BE49-F238E27FC236}">
                <a16:creationId xmlns:a16="http://schemas.microsoft.com/office/drawing/2014/main" id="{2478CDC9-0EA9-53BC-3398-FE48476EF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8934" y="900879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51" name="Graphic 50" descr="Checkmark with solid fill">
            <a:extLst>
              <a:ext uri="{FF2B5EF4-FFF2-40B4-BE49-F238E27FC236}">
                <a16:creationId xmlns:a16="http://schemas.microsoft.com/office/drawing/2014/main" id="{73F6D7E2-A58B-22F7-F722-05A7E26EF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5200" y="1138479"/>
            <a:ext cx="216000" cy="2160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C18FBE9-4EF1-5FA4-524A-71492301FF69}"/>
              </a:ext>
            </a:extLst>
          </p:cNvPr>
          <p:cNvSpPr txBox="1"/>
          <p:nvPr/>
        </p:nvSpPr>
        <p:spPr>
          <a:xfrm>
            <a:off x="0" y="-2723"/>
            <a:ext cx="7032418" cy="153888"/>
          </a:xfrm>
          <a:prstGeom prst="rect">
            <a:avLst/>
          </a:prstGeom>
          <a:solidFill>
            <a:srgbClr val="EE0000"/>
          </a:solidFill>
        </p:spPr>
        <p:txBody>
          <a:bodyPr wrap="square" lIns="72000" tIns="0" rIns="72000" bIns="0" rtlCol="0" anchor="ctr" anchorCtr="0">
            <a:spAutoFit/>
          </a:bodyPr>
          <a:lstStyle/>
          <a:p>
            <a:r>
              <a:rPr lang="en-US" sz="1000" b="1" noProof="0" dirty="0">
                <a:solidFill>
                  <a:schemeClr val="bg1"/>
                </a:solidFill>
              </a:rPr>
              <a:t>Up to date as of Feb. </a:t>
            </a:r>
            <a:r>
              <a:rPr lang="en-US" sz="1000" b="1" noProof="0">
                <a:solidFill>
                  <a:schemeClr val="bg1"/>
                </a:solidFill>
              </a:rPr>
              <a:t>16, </a:t>
            </a:r>
            <a:r>
              <a:rPr lang="en-US" sz="1000" b="1" noProof="0" dirty="0">
                <a:solidFill>
                  <a:schemeClr val="bg1"/>
                </a:solidFill>
              </a:rPr>
              <a:t>2026 – </a:t>
            </a:r>
            <a:r>
              <a:rPr lang="en-US" sz="1000" b="1" i="1" noProof="0" dirty="0">
                <a:solidFill>
                  <a:srgbClr val="FFFF00"/>
                </a:solidFill>
              </a:rPr>
              <a:t>This is not official Microsoft content: please check for accuracy and completeness!</a:t>
            </a:r>
            <a:endParaRPr lang="en-US" sz="1200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8543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icrosoft Security Light">
  <a:themeElements>
    <a:clrScheme name="Microsoft Security Light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Custom 2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-Security-PowerPoint-Template-Light-ZUMFinal.potx" id="{FF8D482B-CE5A-47E5-AB94-DE302AB9E0F0}" vid="{819E6DBF-6959-410D-BF54-D696783977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28AAAB670A5849AFE3F44B9A09B8DE" ma:contentTypeVersion="17" ma:contentTypeDescription="Create a new document." ma:contentTypeScope="" ma:versionID="1b47af5d748b1f5e83ea2842b2dc4140">
  <xsd:schema xmlns:xsd="http://www.w3.org/2001/XMLSchema" xmlns:xs="http://www.w3.org/2001/XMLSchema" xmlns:p="http://schemas.microsoft.com/office/2006/metadata/properties" xmlns:ns1="http://schemas.microsoft.com/sharepoint/v3" xmlns:ns2="f242f587-4628-446f-8bc7-ea15812ffb91" xmlns:ns3="695d5325-33a2-4b42-b3d3-b02ffbc12b05" targetNamespace="http://schemas.microsoft.com/office/2006/metadata/properties" ma:root="true" ma:fieldsID="9f1847667fc8ccfae4b19d98c9d2222f" ns1:_="" ns2:_="" ns3:_="">
    <xsd:import namespace="http://schemas.microsoft.com/sharepoint/v3"/>
    <xsd:import namespace="f242f587-4628-446f-8bc7-ea15812ffb91"/>
    <xsd:import namespace="695d5325-33a2-4b42-b3d3-b02ffbc12b05"/>
    <xsd:element name="properties">
      <xsd:complexType>
        <xsd:sequence>
          <xsd:element name="documentManagement">
            <xsd:complexType>
              <xsd:all>
                <xsd:element ref="ns2:ContentCategory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2f587-4628-446f-8bc7-ea15812ffb91" elementFormDefault="qualified">
    <xsd:import namespace="http://schemas.microsoft.com/office/2006/documentManagement/types"/>
    <xsd:import namespace="http://schemas.microsoft.com/office/infopath/2007/PartnerControls"/>
    <xsd:element name="ContentCategory" ma:index="8" nillable="true" ma:displayName="Content Category" ma:format="Dropdown" ma:internalName="ContentCategory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udit"/>
                    <xsd:enumeration value="Award"/>
                    <xsd:enumeration value="3D asset"/>
                    <xsd:enumeration value="B-roll"/>
                    <xsd:enumeration value="Banner Ads"/>
                    <xsd:enumeration value="Banners"/>
                    <xsd:enumeration value="Brand Development"/>
                    <xsd:enumeration value="Creative Direction"/>
                    <xsd:enumeration value="E-book"/>
                    <xsd:enumeration value="E-book template"/>
                    <xsd:enumeration value="Email"/>
                    <xsd:enumeration value="Event"/>
                    <xsd:enumeration value="Flagship"/>
                    <xsd:enumeration value="Guidelines"/>
                    <xsd:enumeration value="Illustration Elements"/>
                    <xsd:enumeration value="Images"/>
                    <xsd:enumeration value="Infographic"/>
                    <xsd:enumeration value="Key Art"/>
                    <xsd:enumeration value="Master Toolkit"/>
                    <xsd:enumeration value="Miscellaneous"/>
                    <xsd:enumeration value="Motion Toolkit"/>
                    <xsd:enumeration value="Photography"/>
                    <xsd:enumeration value="Photography – Lifestyle"/>
                    <xsd:enumeration value="Photography – Portrait"/>
                    <xsd:enumeration value="Photography - Post"/>
                    <xsd:enumeration value="Photoshoot"/>
                    <xsd:enumeration value="Presentation"/>
                    <xsd:enumeration value="Proposal"/>
                    <xsd:enumeration value="PPT Template"/>
                    <xsd:enumeration value="Reel"/>
                    <xsd:enumeration value="Social"/>
                    <xsd:enumeration value="Study"/>
                    <xsd:enumeration value="Teams Background"/>
                    <xsd:enumeration value="Training Video"/>
                    <xsd:enumeration value="Update"/>
                    <xsd:enumeration value="Visual Expression"/>
                    <xsd:enumeration value="Operations"/>
                    <xsd:enumeration value="Motion"/>
                  </xsd:restriction>
                </xsd:simpleType>
              </xsd:element>
            </xsd:sequence>
          </xsd:extension>
        </xsd:complexContent>
      </xsd:complex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5d5325-33a2-4b42-b3d3-b02ffbc12b05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c042251d-66b4-4312-a1a7-45d0bef28e68}" ma:internalName="TaxCatchAll" ma:showField="CatchAllData" ma:web="695d5325-33a2-4b42-b3d3-b02ffbc12b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42f587-4628-446f-8bc7-ea15812ffb91">
      <Terms xmlns="http://schemas.microsoft.com/office/infopath/2007/PartnerControls"/>
    </lcf76f155ced4ddcb4097134ff3c332f>
    <TaxCatchAll xmlns="695d5325-33a2-4b42-b3d3-b02ffbc12b05" xsi:nil="true"/>
    <_ip_UnifiedCompliancePolicyUIAction xmlns="http://schemas.microsoft.com/sharepoint/v3" xsi:nil="true"/>
    <ContentCategory xmlns="f242f587-4628-446f-8bc7-ea15812ffb91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6E2D4DC9-ADEB-4FAF-BF34-41AF3CCBBBF3}">
  <ds:schemaRefs>
    <ds:schemaRef ds:uri="695d5325-33a2-4b42-b3d3-b02ffbc12b05"/>
    <ds:schemaRef ds:uri="f242f587-4628-446f-8bc7-ea15812ffb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695d5325-33a2-4b42-b3d3-b02ffbc12b05"/>
    <ds:schemaRef ds:uri="f242f587-4628-446f-8bc7-ea15812ffb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Microsoft-Security-PowerPoint-Template-Light</Template>
  <TotalTime>687</TotalTime>
  <Words>716</Words>
  <Application>Microsoft Office PowerPoint</Application>
  <PresentationFormat>Widescreen</PresentationFormat>
  <Paragraphs>145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Consolas</vt:lpstr>
      <vt:lpstr>Segoe Sans Display</vt:lpstr>
      <vt:lpstr>Segoe Sans Display Semibold</vt:lpstr>
      <vt:lpstr>Segoe UI</vt:lpstr>
      <vt:lpstr>Wingdings</vt:lpstr>
      <vt:lpstr>Microsoft Security Light</vt:lpstr>
      <vt:lpstr>Custom Agents Enabling Different SOC Personas to Access AI‑Ready Microsoft Security Tools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Stefano Pescosolido</dc:creator>
  <cp:keywords/>
  <dc:description>Template by ZUM (contact@zumcom.com)</dc:description>
  <cp:lastModifiedBy>Stefano Pescosolido</cp:lastModifiedBy>
  <cp:revision>8</cp:revision>
  <cp:lastPrinted>2023-02-15T20:48:24Z</cp:lastPrinted>
  <dcterms:created xsi:type="dcterms:W3CDTF">2026-01-10T15:52:52Z</dcterms:created>
  <dcterms:modified xsi:type="dcterms:W3CDTF">2026-02-16T14:45:04Z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0x0101007B28AAAB670A5849AFE3F44B9A09B8DE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  <property fmtid="{D5CDD505-2E9C-101B-9397-08002B2CF9AE}" pid="18" name="j7ed6b1749d644c580569ee38d7710d7">
    <vt:lpwstr/>
  </property>
  <property fmtid="{D5CDD505-2E9C-101B-9397-08002B2CF9AE}" pid="19" name="e93e2550f0ac4199ae3cf1406d72085e">
    <vt:lpwstr/>
  </property>
  <property fmtid="{D5CDD505-2E9C-101B-9397-08002B2CF9AE}" pid="20" name="o92d4232daec467abb08246282070aa9">
    <vt:lpwstr/>
  </property>
  <property fmtid="{D5CDD505-2E9C-101B-9397-08002B2CF9AE}" pid="21" name="bc8cca776fa8455c8c00307ee3c527ad">
    <vt:lpwstr/>
  </property>
  <property fmtid="{D5CDD505-2E9C-101B-9397-08002B2CF9AE}" pid="22" name="_dlc_DocIdItemGuid">
    <vt:lpwstr>f5d5f091-2d86-4c58-9970-04c552d617f8</vt:lpwstr>
  </property>
  <property fmtid="{D5CDD505-2E9C-101B-9397-08002B2CF9AE}" pid="23" name="o1dbacbd0e564fc293d11b6c4775302e">
    <vt:lpwstr/>
  </property>
  <property fmtid="{D5CDD505-2E9C-101B-9397-08002B2CF9AE}" pid="24" name="MediaServiceImageTags">
    <vt:lpwstr/>
  </property>
  <property fmtid="{D5CDD505-2E9C-101B-9397-08002B2CF9AE}" pid="25" name="epPlatforms">
    <vt:lpwstr/>
  </property>
</Properties>
</file>